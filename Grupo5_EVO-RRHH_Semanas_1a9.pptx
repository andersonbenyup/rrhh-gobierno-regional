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ción" id="{1322a668-216b-d172-26e5-fdf1387ad7b2}">
          <p14:sldIdLst>
            <p14:sldId id="256"/>
            <p14:sldId id="257"/>
            <p14:sldId id="258"/>
          </p14:sldIdLst>
        </p14:section>
        <p14:section name="Semanas 1 a 3" id="{da022f92-69db-d1eb-cc13-0f4ebba3dae6}">
          <p14:sldIdLst>
            <p14:sldId id="259"/>
            <p14:sldId id="260"/>
            <p14:sldId id="261"/>
            <p14:sldId id="262"/>
          </p14:sldIdLst>
        </p14:section>
        <p14:section name="Semanas 4 a 6" id="{f29f793c-0b1b-dccb-0bdc-b4360730b5e4}">
          <p14:sldIdLst>
            <p14:sldId id="263"/>
            <p14:sldId id="264"/>
            <p14:sldId id="265"/>
          </p14:sldIdLst>
        </p14:section>
        <p14:section name="Semanas 7 a 9" id="{7376b0e9-ffe7-e813-932e-c89584449e7e}">
          <p14:sldIdLst>
            <p14:sldId id="266"/>
            <p14:sldId id="267"/>
            <p14:sldId id="268"/>
            <p14:sldId id="269"/>
          </p14:sldIdLst>
        </p14:section>
        <p14:section name="Cierre" id="{85f20ecd-f4e1-97c2-0272-a0ac1233d7c3}">
          <p14:sldIdLst>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F3D3E"/>
                </a:solidFill>
                <a:latin typeface="+mn-lt"/>
              </a:defRPr>
            </a:pPr>
            <a:r>
              <a:rPr sz="1200" b="0" i="0" u="none" strike="noStrike">
                <a:solidFill>
                  <a:srgbClr val="0F3D3E"/>
                </a:solidFill>
                <a:latin typeface="+mn-lt"/>
              </a:rPr>
              <a:t>Métodos de prueba por archivo</a:t>
            </a:r>
          </a:p>
        </c:rich>
      </c:tx>
      <c:layout/>
      <c:overlay val="0"/>
    </c:title>
    <c:autoTitleDeleted val="0"/>
    <c:plotArea>
      <c:layout/>
      <c:barChart>
        <c:barDir val="bar"/>
        <c:grouping val="clustered"/>
        <c:varyColors val="0"/>
        <c:ser>
          <c:idx val="0"/>
          <c:order val="0"/>
          <c:tx>
            <c:strRef>
              <c:f>Sheet1!$B$1</c:f>
              <c:strCache>
                <c:ptCount val="1"/>
                <c:pt idx="0">
                  <c:v>Métodos de prueba</c:v>
                </c:pt>
              </c:strCache>
            </c:strRef>
          </c:tx>
          <c:spPr>
            <a:solidFill>
              <a:srgbClr val="1F7A70"/>
            </a:solidFill>
            <a:effectLst/>
          </c:spPr>
          <c:invertIfNegative val="0"/>
          <c:dLbls>
            <c:numFmt formatCode="#,##0" sourceLinked="0"/>
            <c:txPr>
              <a:bodyPr/>
              <a:lstStyle/>
              <a:p>
                <a:pPr>
                  <a:defRPr b="0" i="0" strike="noStrike" sz="1100" u="none">
                    <a:solidFill>
                      <a:srgbClr val="1E2A2A"/>
                    </a:solidFill>
                    <a:latin typeface="+mn-lt"/>
                  </a:defRPr>
                </a:pPr>
              </a:p>
            </c:txPr>
            <c:showLegendKey val="0"/>
            <c:showVal val="1"/>
            <c:showCatName val="0"/>
            <c:showSerName val="0"/>
            <c:showPercent val="0"/>
            <c:showBubbleSize val="0"/>
            <c:showLeaderLines val="0"/>
          </c:dLbls>
          <c:cat>
            <c:multiLvlStrRef>
              <c:f>Sheet1!$A$2:$A$6</c:f>
              <c:multiLvlStrCache>
                <c:ptCount val="5"/>
                <c:lvl>
                  <c:pt idx="0">
                    <c:v>Numeración</c:v>
                  </c:pt>
                  <c:pt idx="1">
                    <c:v>Arquitectura</c:v>
                  </c:pt>
                  <c:pt idx="2">
                    <c:v>EmpleadoServicio</c:v>
                  </c:pt>
                  <c:pt idx="3">
                    <c:v>Exportación</c:v>
                  </c:pt>
                  <c:pt idx="4">
                    <c:v>RegistroCapas</c:v>
                  </c:pt>
                </c:lvl>
              </c:multiLvlStrCache>
            </c:multiLvlStrRef>
          </c:cat>
          <c:val>
            <c:numRef>
              <c:f>Sheet1!$B$2:$B$6</c:f>
              <c:numCache>
                <c:formatCode>General</c:formatCode>
                <c:ptCount val="5"/>
                <c:pt idx="0">
                  <c:v>8</c:v>
                </c:pt>
                <c:pt idx="1">
                  <c:v>4</c:v>
                </c:pt>
                <c:pt idx="2">
                  <c:v>4</c:v>
                </c:pt>
                <c:pt idx="3">
                  <c:v>4</c:v>
                </c:pt>
                <c:pt idx="4">
                  <c:v>2</c:v>
                </c:pt>
              </c:numCache>
            </c:numRef>
          </c:val>
        </c:ser>
        <c:dLbls>
          <c:numFmt formatCode="#,##0" sourceLinked="0"/>
          <c:txPr>
            <a:bodyPr/>
            <a:lstStyle/>
            <a:p>
              <a:pPr>
                <a:defRPr b="0" i="0" strike="noStrike" sz="1100" u="none">
                  <a:solidFill>
                    <a:srgbClr val="1E2A2A"/>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E2A2A"/>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Buenos días, profesor y compañeros. Somos el Grupo 5 y hoy les vamos a mostrar cómo evolucionamos EVO-RRHH, el sistema de Recursos Humanos heredado que se nos entregó al inicio del curso.
La idea de esta exposición es sencilla: para cada semana del curso, de la 1 a la 9, les vamos a decir qué tema vimos, cómo estaba el sistema antes, qué aplicamos y en qué parte exacta del proyecto se puede verificar. Todo lo que mencionemos está en el repositorio y en la base de datos, no es teoría suelta.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Primero, el punto de partida. Lo que recibimos en la carpeta "Insumos base" fue un sistema de escritorio hecho en Visual Basic .NET con Windows Forms. No venía con código fuente: solo el ejecutable RecursosHumanos.exe y sus DLL.
Al revisarlo encontramos cuatro problemas grandes. Uno: la configuración todavía tenía el año 2013 y mezclaba tres versiones distintas de DevExpress, la 7.3, la 9.1 y la 11.2. Dos: la base de datos CMI tenía 76 tablas, con varias que ni siquiera cumplían la primera forma normal. Tres: el SQL se armaba concatenando texto, por ejemplo "where pers_dni='" más lo que escribía el usuario, lo que abre la puerta a la inyección SQL. Y cuatro: el usuario y la contraseña de la base de datos estaban en texto plano en el archivo de configuración. Además, no había ninguna prueba automatizada.
Sobre esa base trabajamos todo 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 esto es lo que tenemos hoy. EVO-RRHH es una aplicación web en ASP.NET Core MVC sobre .NET 10, organizada en cuatro proyectos.
Arriba está la presentación: los 17 controllers y sus vistas. Debajo, la Capa Lógica, con las reglas de negocio. En el centro, la Capa Entidades, que tiene las clases del dominio y los contratos, es decir, las interfaces. Y a la derecha, la Capa Datos, con Entity Framework Core y los 77 repositorios.
Lo importante es el sentido de las flechas: todo apunta hacia Capa Entidades. La lógica no conoce la base de datos. Por eso, cuando migramos a la base normalizada RRHH_Normalizado, solo tocamos Capa Datos y la cadena de conexión. Y esta regla no depende de la buena voluntad: hay pruebas, ArquitecturaTests, que fallan si alguna capa vuelve a depender de la base de datos.
Las siguientes diapositivas explican cómo llegamos a esto, semana por semana.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Semana 1: introducción a la evolución del software. La idea central es que un software que se sigue usando tiene que evolucionar; si no, pierde valor, se vuelve caro de mantener y termina reemplazado.
Antes: una aplicación de escritorio que solo corría en Windows, instalada por ClickOnce, con DLL sueltas, componentes de 2013 y conectada a una base local llamada CMI.
Lo que aplicamos: en lugar de tirar el sistema y empezar de cero, lo evolucionamos. Conservamos el dominio y los datos de RR.HH. y los llevamos a una aplicación web en ASP.NET Core MVC sobre .NET 10, con una interfaz nueva en Tailwind CSS y la base de datos migrada a RRHH_Normalizado. Los mismos módulos del sistema original, como empleados, asistencia, permisos o ficha social, siguen existiendo; lo que cambió es cómo están construidos.
Lo pueden ver en la carpeta Proyecto-Evo-RRLL, en el Program.cs y en los scripts de la carpeta Scripts.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Semana 2: mantenimiento del software. Vimos que hay cuatro tipos y aplicamos los cuatro.
Correctivo: en Familia y Salud, el alta de beneficiarios guardaba siempre con número cero, así que el segundo beneficiario fallaba; ahora la Capa Datos numera por empleado. También el formulario de Permiso daba error 500 al abrirse, por unos checkbox mal enlazados.
Adaptativo: la clave del administrador ya no está escrita en el código; se lee de la configuración y, en producción, de la variable de entorno Seguridad__AdminClave.
Perfectivo: agregamos la bitácora de actividad, la exportación a CSV y el dashboard de inicio.
Preventivo: las pruebas ArquitecturaTests, que evitan que el diseño se degrade en el futuro.
Y algo que también vimos en la semana 2: la deuda técnica. No la escondimos; la tenemos registrada. Por ejemplo, algunas pantallas cargan tablas completas en memoria, y eso ya está como solicitud de cambio SC-005.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Semana 3: ingeniería inversa. Es analizar un sistema existente para recuperar su diseño cuando no tenemos documentación.
Ese era exactamente nuestro caso: no había código fuente. Así que analizamos los binarios. Del ejecutable sacamos los 158 nombres de formularios y eventos, como FrmPermiso o FrmFichaSocial, que nos dijeron qué módulos tenía el sistema. De ClassRRHH.dll extrajimos las consultas SQL embebidas, y del DataSet las llamadas a procedimientos almacenados como spRRHH_Ficha_DatosPersonales. Y del archivo de configuración, la cadena de conexión.
Con eso reconstruimos la matriz de módulos contra tablas que ven a la derecha. Por ejemplo, el módulo de Permisos usa Permiso y Motivo_Perm; el de Asistencia usa Asistencia, Marcacion y Horario. Esa matriz es la que nos guió para crear cada controller del sistema nuevo. Está completa en docs/TEMAS-DEL-CURSO.md.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ingeniería inversa también la aplicamos a la base de datos, que es donde hicimos el trabajo más profundo.
Analizamos tabla por tabla las claves y las dependencias funcionales. El veredicto fue que varias tablas no llegaban ni a la primera forma normal. Algunos ejemplos de la tabla: Empleado tenía grupos repetidos de resolución y fecha, y además datos personales que dependían de la persona y no del empleado. Familiar violaba la segunda forma normal porque el sexo o el estado civil dependían solo de una parte de la clave. Marcacion guardaba dos datos en una sola celda, como "1N". Y SistemaOpcion guardaba contraseñas en texto plano.
El resultado es la base RRHH_Normalizado, con todas las tablas en forma normal de Boyce-Codd y las tablas de relación en cuarta y quinta forma normal. Consolidamos 4,106 personas en una sola tabla Persona, y las 488 discrepancias que aparecieron en la migración quedaron auditadas en la tabla mig.Incidencia, sin perder ningún dato original.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Semana 4: refactorización con el Principio de Única Responsabilidad y DRY, "no te repitas". Refactorizar es mejorar la estructura del código sin cambiar lo que hace.
Encontramos mucha duplicación. Primero: 77 clases de acceso a datos, una por tabla, y cada una repetía el mismo CRUD. Creamos la clase base genérica RepositorioBase&lt;T&gt;; ahora el CRUD está escrito una sola vez y las 77 clases heredan de ella. Lo mismo hicimos con LogicaBase&lt;T&gt; para la capa lógica.
Segundo: el cálculo de "máximo más uno" para generar códigos estaba copiado en 27 lugares de 14 controllers. Ahora vive en una sola clase, Numeracion, que además lo hace dentro de una transacción para que dos usuarios no obtengan el mismo número.
Tercero: el nombre completo de una persona se armaba a mano en 10 lugares; ahora es un solo método, NombreCompleto.
Y por el lado de SRP: el FamiliaSaludController abría transacciones y copiaba campos. Esa regla pasó a FichaSocialLogica, y el controller solo atiende la petición HTTP.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Semana 5: el Principio Abierto-Cerrado. El código debe estar abierto a la extensión y cerrado a la modificación: agregar algo nuevo no debería obligarnos a tocar lo que ya funciona.
En el sistema legado, la exportación dependía directamente de la librería Interop de Excel, que venía entre las DLL del sistema. Si querías otro formato, había que modificar el código que ya existía.
Nosotros creamos la interfaz IExportadorTabla. Hoy la implementa ExportadorCsv, y ExportadorTablas elige cuál usar según el formato pedido. Los controllers de Empleado y Catálogo solo conocen ese selector. Si mañana queremos Excel o PDF, creamos una clase nueva, ExportadorExcel, y agregamos una línea de registro. Ningún controller cambia. Y lo comprobamos con una prueba que registra un formato ficticio, TSV, y funciona sin tocar nada más.
Aplicamos la misma idea al registro de dependencias: una tabla nueva solo agrega su clase Data y su clase Logica, y se registran solas.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Semana 6: Clean Code, o código limpio. Es escribir código que otra persona pueda leer y cambiar sin adivinar qué hace.
Antes teníamos valores mágicos regados por el código: la letra "A" para empleado activo, el código "0500000" del sistema, el número 25 de filas por página. Ahora tienen nombre: EstadosEmpleado.Activo, ConstantesSeguridad.SistemaRRHH y Paginacion.TamanoPagina. Se entienden al leerlos y se cambian en un solo lugar.
También usamos un solo verbo por concepto en todo el proyecto: Listar, Obtener, Crear, Actualizar y Eliminar. Eliminamos 26 dependencias que se inyectaban en los controllers y nunca se usaban. Y renombramos campos que se llamaban _xxxData pero en realidad eran de tipo Logica, porque un nombre que miente es peor que no tener nombre.
Y lo más importante para la seguridad: el SQL concatenado del sistema legado desapareció; ahora todas las consultas pasan por Entity Framework, que las parametriza.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Semana 7: Inversión de Control. La idea es que una clase no cree sus propias dependencias con new, sino que las reciba desde afuera, y que dependa de interfaces y no de clases concretas.
En el legado, cada formulario creaba su TableAdapter y su conexión directamente. Todo estaba amarrado a SQL Server y no había forma de probar nada sin la base de datos.
Ahora, a la izquierda ven PermisoLogica: recibe por constructor un IRepositorio de Permiso y un IUnidadDeTrabajo. No sabe si detrás hay SQL Server, SQLite o una clase falsa. Quien decide eso es el contenedor de ASP.NET Core, y la decisión se toma en un solo lugar, la raíz de composición en Program.cs, con AgregarCapaDatos y AgregarServiciosDeAplicacion.
El beneficio se ve en las pruebas: EmpleadoServicio depende de IEmpleadoData e IPersonaData, así que en EmpleadoServicioTests le pasamos clases falsas y lo probamos sin base de datos.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Semana 8: gestión de la configuración. Es saber exactamente qué elementos forman el sistema, controlar sus versiones y dejar registro de cada cambio.
El legado no tenía nada de eso: se distribuía como un instalador con DLL sueltas, sin control de versiones, y con la contraseña de la base dentro del archivo de configuración.
Nosotros identificamos los elementos de configuración: el código de las cuatro capas, las pruebas, los scripts de la base, la configuración y la documentación. Usamos Git y GitHub con tres niveles de ramas: main para lo estable, dev_branch para integrar, y una rama por persona o por tarea, como refactor/srp-dry. Los commits llevan un prefijo según el tipo de cambio: Fix, refactor, Doc. Y en el .gitignore dejamos fuera lo que no se debe versionar: los compilados, la carpeta publish, y los scripts de datos de más de 100 megas, que van comprimidos. Las credenciales tampoco se versionan.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Dentro de la gestión de la configuración también vimos las pruebas, porque una línea base solo es confiable si se puede verificar.
Creamos el proyecto Capa Logica.Tests con xUnit. Usa SQLite en memoria, así que cualquiera del equipo lo ejecuta con dotnet test sin instalar SQL Server. Hoy son 41 pruebas y todas pasan.
En el gráfico ven cuántos métodos de prueba tiene cada archivo. Las de Numeración son las más numerosas, porque es donde un error duplicaría códigos. Aplicamos los tres tipos que vimos: caja blanca con xUnit, caja negra con las pruebas funcionales manuales por módulo, y caja gris con RegistroCapasTests, que comprueba que cada controller se pueda construir con el contenedor real. Y en seguridad: las contraseñas se guardan con PasswordHasher y las pantallas de administración se protegen por 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Semana 9: gestión del cambio. Ningún cambio entra al sistema sin ser solicitado, evaluado y aprobado.
Definimos este flujo de ocho pasos: solicitud, análisis, evaluación de impacto, aprobación por el comité de control de cambios, planificación, implementación en una rama con pull request, verificación con las pruebas, y registro y cierre.
Para que no se quede en papel, lo llevamos a GitHub: hay una plantilla de solicitud de cambio en .github/ISSUE_TEMPLATE y una plantilla de pull request que obliga a marcar que dotnet test está en verde y que no se suben credenciales.
A la derecha ven parte de nuestra matriz de cambios. Cada solicitud tiene código, tipo y estado. Por ejemplo, SC-006, la arquitectura en capas que les mostramos, ya está implementada; SC-001, validar las fechas de los permisos, está aprobada; y SC-004 está diferida. La matriz completa, con el análisis de impacto por capa, está en docs/GESTION-DEL-CAMBIO.md.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cerrar, este cuadro resume todo en una sola vista: semana, tema y dónde está la evidencia en el proyecto.
Si lo leen de arriba hacia abajo, cuenta la historia completa: primero entendimos el sistema sin documentación, después ordenamos el código quitando duplicación y responsabilidades mezcladas, luego lo abrimos a la extensión y lo desacoplamos con contratos, y al final pusimos el proceso alrededor: control de versiones, pruebas y gestión del cambio.
Cualquiera de estas evidencias se puede abrir ahora mismo en el repositorio si el profesor lo desea.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Nos quedamos con tres ideas.
Primera: no reescribimos el sistema desde cero; lo evolucionamos, conservando su dominio y sus datos, que es lo que tiene valor para la organización.
Segunda: cada principio del curso resolvió un problema concreto que encontramos en el legado. DRY y SRP resolvieron la duplicación, OCP e Inversión de Control resolvieron el acoplamiento, y la normalización resolvió la base de datos.
Y tercera: el sistema no solo quedó mejor hoy, quedó preparado para seguir cambiando, porque tiene pruebas, control de versiones y un proceso de gestión del cambio.
Muchas gracias. Quedamos atentos a sus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8046720" cy="1371600"/>
          </a:xfrm>
          <a:prstGeom prst="rect">
            <a:avLst/>
          </a:prstGeom>
          <a:noFill/>
          <a:ln/>
        </p:spPr>
        <p:txBody>
          <a:bodyPr wrap="square" rtlCol="0"/>
          <a:lstStyle>
            <a:lvl1pPr algn="l" indent="0" marL="0">
              <a:buNone/>
              <a:defRPr lang="en-US" sz="38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800" dirty="0"/>
          </a:p>
        </p:txBody>
      </p:sp>
      <p:sp>
        <p:nvSpPr>
          <p:cNvPr id="3" name="Text 0"/>
          <p:cNvSpPr/>
          <p:nvPr>
            <p:ph idx="101" type="body" hasCustomPrompt="1"/>
          </p:nvPr>
        </p:nvSpPr>
        <p:spPr>
          <a:xfrm>
            <a:off x="548640" y="2971800"/>
            <a:ext cx="8046720" cy="1097280"/>
          </a:xfrm>
          <a:prstGeom prst="rect">
            <a:avLst/>
          </a:prstGeom>
          <a:noFill/>
          <a:ln/>
        </p:spPr>
        <p:txBody>
          <a:bodyPr wrap="square" rtlCol="0"/>
          <a:lstStyle>
            <a:lvl1pPr indent="0" marL="0">
              <a:buNone/>
              <a:defRPr lang="en-US" sz="1600" dirty="0">
                <a:solidFill>
                  <a:schemeClr val="accent6"/>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rtlCol="0"/>
          <a:lstStyle>
            <a:lvl1pPr algn="l" indent="0" marL="0">
              <a:buNone/>
              <a:defRPr lang="en-US" sz="28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3" name="Text 0"/>
          <p:cNvSpPr/>
          <p:nvPr/>
        </p:nvSpPr>
        <p:spPr>
          <a:xfrm>
            <a:off x="457200" y="4773168"/>
            <a:ext cx="3657600" cy="228600"/>
          </a:xfrm>
          <a:prstGeom prst="rect">
            <a:avLst/>
          </a:prstGeom>
          <a:noFill/>
          <a:ln/>
        </p:spPr>
        <p:txBody>
          <a:bodyPr wrap="square" lIns="0" tIns="0" rIns="0" bIns="0" rtlCol="0" anchor="ctr"/>
          <a:lstStyle/>
          <a:p>
            <a:pPr indent="0" marL="0">
              <a:buNone/>
            </a:pPr>
            <a:r>
              <a:rPr lang="en-US" sz="1000" dirty="0">
                <a:solidFill>
                  <a:schemeClr val="accent5"/>
                </a:solidFill>
              </a:rPr>
              <a:t>EVO-RRHH · Grupo 5</a:t>
            </a:r>
            <a:endParaRPr lang="en-US" sz="10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MANA">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1188720" y="256032"/>
            <a:ext cx="7498080" cy="566928"/>
          </a:xfrm>
          <a:prstGeom prst="rect">
            <a:avLst/>
          </a:prstGeom>
          <a:noFill/>
          <a:ln/>
        </p:spPr>
        <p:txBody>
          <a:bodyPr wrap="square" rtlCol="0"/>
          <a:lstStyle>
            <a:lvl1pPr algn="l" indent="0" marL="0">
              <a:buNone/>
              <a:defRPr lang="en-US" sz="28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3" name="Text 0"/>
          <p:cNvSpPr/>
          <p:nvPr/>
        </p:nvSpPr>
        <p:spPr>
          <a:xfrm>
            <a:off x="457200" y="4773168"/>
            <a:ext cx="3657600" cy="228600"/>
          </a:xfrm>
          <a:prstGeom prst="rect">
            <a:avLst/>
          </a:prstGeom>
          <a:noFill/>
          <a:ln/>
        </p:spPr>
        <p:txBody>
          <a:bodyPr wrap="square" lIns="0" tIns="0" rIns="0" bIns="0" rtlCol="0" anchor="ctr"/>
          <a:lstStyle/>
          <a:p>
            <a:pPr indent="0" marL="0">
              <a:buNone/>
            </a:pPr>
            <a:r>
              <a:rPr lang="en-US" sz="1000" dirty="0">
                <a:solidFill>
                  <a:schemeClr val="accent5"/>
                </a:solidFill>
              </a:rPr>
              <a:t>EVO-RRHH · Grupo 5</a:t>
            </a:r>
            <a:endParaRPr lang="en-US" sz="10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ph idx="100" type="title" hasCustomPrompt="1"/>
          </p:nvPr>
        </p:nvSpPr>
        <p:spPr>
          <a:xfrm>
            <a:off x="548640" y="1417320"/>
            <a:ext cx="8046720" cy="1371600"/>
          </a:xfrm>
          <a:prstGeom prst="rect">
            <a:avLst/>
          </a:prstGeom>
          <a:noFill/>
          <a:ln/>
        </p:spPr>
        <p:txBody>
          <a:bodyPr wrap="square" lIns="0" tIns="0" rIns="0" bIns="0" rtlCol="0" anchor="b"/>
          <a:lstStyle/>
          <a:p>
            <a:pPr algn="l" indent="0" marL="0">
              <a:buNone/>
            </a:pPr>
            <a:r>
              <a:rPr lang="en-US" sz="3800" b="1" dirty="0">
                <a:solidFill>
                  <a:schemeClr val="bg1"/>
                </a:solidFill>
                <a:latin typeface="Cambria" pitchFamily="34" charset="0"/>
                <a:ea typeface="Cambria" pitchFamily="34" charset="-122"/>
                <a:cs typeface="Cambria" pitchFamily="34" charset="-120"/>
              </a:rPr>
              <a:t>EVO-RRHH: del sistema legado a un software mantenible</a:t>
            </a:r>
            <a:endParaRPr lang="en-US" sz="3800" dirty="0"/>
          </a:p>
        </p:txBody>
      </p:sp>
      <p:sp>
        <p:nvSpPr>
          <p:cNvPr id="4" name="Text 0"/>
          <p:cNvSpPr/>
          <p:nvPr>
            <p:ph idx="101" type="body" hasCustomPrompt="1"/>
          </p:nvPr>
        </p:nvSpPr>
        <p:spPr>
          <a:xfrm>
            <a:off x="548640" y="2971800"/>
            <a:ext cx="8046720" cy="1097280"/>
          </a:xfrm>
          <a:prstGeom prst="rect">
            <a:avLst/>
          </a:prstGeom>
          <a:noFill/>
          <a:ln/>
        </p:spPr>
        <p:txBody>
          <a:bodyPr wrap="square" lIns="0" tIns="0" rIns="0" bIns="0" rtlCol="0" anchor="t"/>
          <a:lstStyle/>
          <a:p>
            <a:pPr indent="0" marL="0">
              <a:buNone/>
            </a:pPr>
            <a:r>
              <a:rPr lang="en-US" sz="1600" dirty="0">
                <a:solidFill>
                  <a:schemeClr val="accent6"/>
                </a:solidFill>
              </a:rPr>
              <a:t>Conceptos de las semanas 1 a 9 aplicados al proyecto</a:t>
            </a:r>
            <a:endParaRPr lang="en-US" sz="1600" dirty="0"/>
          </a:p>
          <a:p>
            <a:pPr indent="0" marL="0">
              <a:buNone/>
            </a:pPr>
            <a:r>
              <a:rPr lang="en-US" sz="1600" dirty="0">
                <a:solidFill>
                  <a:schemeClr val="accent6"/>
                </a:solidFill>
              </a:rPr>
              <a:t>Evolución y Configuración de Software · Grupo 5</a:t>
            </a:r>
            <a:endParaRPr lang="en-US" sz="1600" dirty="0"/>
          </a:p>
        </p:txBody>
      </p:sp>
      <p:sp>
        <p:nvSpPr>
          <p:cNvPr id="5" name="Semana S1"/>
          <p:cNvSpPr/>
          <p:nvPr/>
        </p:nvSpPr>
        <p:spPr>
          <a:xfrm>
            <a:off x="548640" y="548640"/>
            <a:ext cx="365760" cy="365760"/>
          </a:xfrm>
          <a:prstGeom prst="ellipse">
            <a:avLst/>
          </a:prstGeom>
          <a:solidFill>
            <a:schemeClr val="accent2"/>
          </a:solidFill>
          <a:ln/>
        </p:spPr>
      </p:sp>
      <p:sp>
        <p:nvSpPr>
          <p:cNvPr id="6" name="Text 3"/>
          <p:cNvSpPr txBox="1"/>
          <p:nvPr/>
        </p:nvSpPr>
        <p:spPr>
          <a:xfrm>
            <a:off x="548640" y="548640"/>
            <a:ext cx="365760" cy="365760"/>
          </a:xfrm>
          <a:prstGeom prst="rect">
            <a:avLst/>
          </a:prstGeom>
          <a:noFill/>
          <a:ln/>
        </p:spPr>
        <p:txBody>
          <a:bodyPr wrap="square" lIns="0" tIns="0" rIns="0" bIns="0" rtlCol="0" anchor="ctr"/>
          <a:lstStyle/>
          <a:p>
            <a:pPr algn="ctr" indent="0" marL="0">
              <a:buNone/>
            </a:pPr>
            <a:r>
              <a:rPr lang="en-US" sz="1000" b="1" dirty="0">
                <a:solidFill>
                  <a:schemeClr val="tx2"/>
                </a:solidFill>
              </a:rPr>
              <a:t>S1</a:t>
            </a:r>
            <a:endParaRPr lang="en-US" sz="1000" dirty="0"/>
          </a:p>
        </p:txBody>
      </p:sp>
      <p:sp>
        <p:nvSpPr>
          <p:cNvPr id="7" name="Semana S2"/>
          <p:cNvSpPr/>
          <p:nvPr/>
        </p:nvSpPr>
        <p:spPr>
          <a:xfrm>
            <a:off x="1005840" y="548640"/>
            <a:ext cx="365760" cy="365760"/>
          </a:xfrm>
          <a:prstGeom prst="ellipse">
            <a:avLst/>
          </a:prstGeom>
          <a:solidFill>
            <a:schemeClr val="accent2"/>
          </a:solidFill>
          <a:ln/>
        </p:spPr>
      </p:sp>
      <p:sp>
        <p:nvSpPr>
          <p:cNvPr id="8" name="Text 5"/>
          <p:cNvSpPr txBox="1"/>
          <p:nvPr/>
        </p:nvSpPr>
        <p:spPr>
          <a:xfrm>
            <a:off x="1005840" y="548640"/>
            <a:ext cx="365760" cy="365760"/>
          </a:xfrm>
          <a:prstGeom prst="rect">
            <a:avLst/>
          </a:prstGeom>
          <a:noFill/>
          <a:ln/>
        </p:spPr>
        <p:txBody>
          <a:bodyPr wrap="square" lIns="0" tIns="0" rIns="0" bIns="0" rtlCol="0" anchor="ctr"/>
          <a:lstStyle/>
          <a:p>
            <a:pPr algn="ctr" indent="0" marL="0">
              <a:buNone/>
            </a:pPr>
            <a:r>
              <a:rPr lang="en-US" sz="1000" b="1" dirty="0">
                <a:solidFill>
                  <a:schemeClr val="tx2"/>
                </a:solidFill>
              </a:rPr>
              <a:t>S2</a:t>
            </a:r>
            <a:endParaRPr lang="en-US" sz="1000" dirty="0"/>
          </a:p>
        </p:txBody>
      </p:sp>
      <p:sp>
        <p:nvSpPr>
          <p:cNvPr id="9" name="Semana S3"/>
          <p:cNvSpPr/>
          <p:nvPr/>
        </p:nvSpPr>
        <p:spPr>
          <a:xfrm>
            <a:off x="1463040" y="548640"/>
            <a:ext cx="365760" cy="365760"/>
          </a:xfrm>
          <a:prstGeom prst="ellipse">
            <a:avLst/>
          </a:prstGeom>
          <a:solidFill>
            <a:schemeClr val="accent2"/>
          </a:solidFill>
          <a:ln/>
        </p:spPr>
      </p:sp>
      <p:sp>
        <p:nvSpPr>
          <p:cNvPr id="10" name="Text 7"/>
          <p:cNvSpPr txBox="1"/>
          <p:nvPr/>
        </p:nvSpPr>
        <p:spPr>
          <a:xfrm>
            <a:off x="1463040" y="548640"/>
            <a:ext cx="365760" cy="365760"/>
          </a:xfrm>
          <a:prstGeom prst="rect">
            <a:avLst/>
          </a:prstGeom>
          <a:noFill/>
          <a:ln/>
        </p:spPr>
        <p:txBody>
          <a:bodyPr wrap="square" lIns="0" tIns="0" rIns="0" bIns="0" rtlCol="0" anchor="ctr"/>
          <a:lstStyle/>
          <a:p>
            <a:pPr algn="ctr" indent="0" marL="0">
              <a:buNone/>
            </a:pPr>
            <a:r>
              <a:rPr lang="en-US" sz="1000" b="1" dirty="0">
                <a:solidFill>
                  <a:schemeClr val="tx2"/>
                </a:solidFill>
              </a:rPr>
              <a:t>S3</a:t>
            </a:r>
            <a:endParaRPr lang="en-US" sz="1000" dirty="0"/>
          </a:p>
        </p:txBody>
      </p:sp>
      <p:sp>
        <p:nvSpPr>
          <p:cNvPr id="11" name="Semana S4"/>
          <p:cNvSpPr/>
          <p:nvPr/>
        </p:nvSpPr>
        <p:spPr>
          <a:xfrm>
            <a:off x="1920240" y="548640"/>
            <a:ext cx="365760" cy="365760"/>
          </a:xfrm>
          <a:prstGeom prst="ellipse">
            <a:avLst/>
          </a:prstGeom>
          <a:solidFill>
            <a:schemeClr val="accent2"/>
          </a:solidFill>
          <a:ln/>
        </p:spPr>
      </p:sp>
      <p:sp>
        <p:nvSpPr>
          <p:cNvPr id="12" name="Text 9"/>
          <p:cNvSpPr txBox="1"/>
          <p:nvPr/>
        </p:nvSpPr>
        <p:spPr>
          <a:xfrm>
            <a:off x="1920240" y="548640"/>
            <a:ext cx="365760" cy="365760"/>
          </a:xfrm>
          <a:prstGeom prst="rect">
            <a:avLst/>
          </a:prstGeom>
          <a:noFill/>
          <a:ln/>
        </p:spPr>
        <p:txBody>
          <a:bodyPr wrap="square" lIns="0" tIns="0" rIns="0" bIns="0" rtlCol="0" anchor="ctr"/>
          <a:lstStyle/>
          <a:p>
            <a:pPr algn="ctr" indent="0" marL="0">
              <a:buNone/>
            </a:pPr>
            <a:r>
              <a:rPr lang="en-US" sz="1000" b="1" dirty="0">
                <a:solidFill>
                  <a:schemeClr val="tx2"/>
                </a:solidFill>
              </a:rPr>
              <a:t>S4</a:t>
            </a:r>
            <a:endParaRPr lang="en-US" sz="1000" dirty="0"/>
          </a:p>
        </p:txBody>
      </p:sp>
      <p:sp>
        <p:nvSpPr>
          <p:cNvPr id="13" name="Semana S5"/>
          <p:cNvSpPr/>
          <p:nvPr/>
        </p:nvSpPr>
        <p:spPr>
          <a:xfrm>
            <a:off x="2377440" y="548640"/>
            <a:ext cx="365760" cy="365760"/>
          </a:xfrm>
          <a:prstGeom prst="ellipse">
            <a:avLst/>
          </a:prstGeom>
          <a:solidFill>
            <a:schemeClr val="accent2"/>
          </a:solidFill>
          <a:ln/>
        </p:spPr>
      </p:sp>
      <p:sp>
        <p:nvSpPr>
          <p:cNvPr id="14" name="Text 11"/>
          <p:cNvSpPr txBox="1"/>
          <p:nvPr/>
        </p:nvSpPr>
        <p:spPr>
          <a:xfrm>
            <a:off x="2377440" y="548640"/>
            <a:ext cx="365760" cy="365760"/>
          </a:xfrm>
          <a:prstGeom prst="rect">
            <a:avLst/>
          </a:prstGeom>
          <a:noFill/>
          <a:ln/>
        </p:spPr>
        <p:txBody>
          <a:bodyPr wrap="square" lIns="0" tIns="0" rIns="0" bIns="0" rtlCol="0" anchor="ctr"/>
          <a:lstStyle/>
          <a:p>
            <a:pPr algn="ctr" indent="0" marL="0">
              <a:buNone/>
            </a:pPr>
            <a:r>
              <a:rPr lang="en-US" sz="1000" b="1" dirty="0">
                <a:solidFill>
                  <a:schemeClr val="tx2"/>
                </a:solidFill>
              </a:rPr>
              <a:t>S5</a:t>
            </a:r>
            <a:endParaRPr lang="en-US" sz="1000" dirty="0"/>
          </a:p>
        </p:txBody>
      </p:sp>
      <p:sp>
        <p:nvSpPr>
          <p:cNvPr id="15" name="Semana S6"/>
          <p:cNvSpPr/>
          <p:nvPr/>
        </p:nvSpPr>
        <p:spPr>
          <a:xfrm>
            <a:off x="2834640" y="548640"/>
            <a:ext cx="365760" cy="365760"/>
          </a:xfrm>
          <a:prstGeom prst="ellipse">
            <a:avLst/>
          </a:prstGeom>
          <a:solidFill>
            <a:schemeClr val="accent2"/>
          </a:solidFill>
          <a:ln/>
        </p:spPr>
      </p:sp>
      <p:sp>
        <p:nvSpPr>
          <p:cNvPr id="16" name="Text 13"/>
          <p:cNvSpPr txBox="1"/>
          <p:nvPr/>
        </p:nvSpPr>
        <p:spPr>
          <a:xfrm>
            <a:off x="2834640" y="548640"/>
            <a:ext cx="365760" cy="365760"/>
          </a:xfrm>
          <a:prstGeom prst="rect">
            <a:avLst/>
          </a:prstGeom>
          <a:noFill/>
          <a:ln/>
        </p:spPr>
        <p:txBody>
          <a:bodyPr wrap="square" lIns="0" tIns="0" rIns="0" bIns="0" rtlCol="0" anchor="ctr"/>
          <a:lstStyle/>
          <a:p>
            <a:pPr algn="ctr" indent="0" marL="0">
              <a:buNone/>
            </a:pPr>
            <a:r>
              <a:rPr lang="en-US" sz="1000" b="1" dirty="0">
                <a:solidFill>
                  <a:schemeClr val="tx2"/>
                </a:solidFill>
              </a:rPr>
              <a:t>S6</a:t>
            </a:r>
            <a:endParaRPr lang="en-US" sz="1000" dirty="0"/>
          </a:p>
        </p:txBody>
      </p:sp>
      <p:sp>
        <p:nvSpPr>
          <p:cNvPr id="17" name="Semana S7"/>
          <p:cNvSpPr/>
          <p:nvPr/>
        </p:nvSpPr>
        <p:spPr>
          <a:xfrm>
            <a:off x="3291840" y="548640"/>
            <a:ext cx="365760" cy="365760"/>
          </a:xfrm>
          <a:prstGeom prst="ellipse">
            <a:avLst/>
          </a:prstGeom>
          <a:solidFill>
            <a:schemeClr val="accent2"/>
          </a:solidFill>
          <a:ln/>
        </p:spPr>
      </p:sp>
      <p:sp>
        <p:nvSpPr>
          <p:cNvPr id="18" name="Text 15"/>
          <p:cNvSpPr txBox="1"/>
          <p:nvPr/>
        </p:nvSpPr>
        <p:spPr>
          <a:xfrm>
            <a:off x="3291840" y="548640"/>
            <a:ext cx="365760" cy="365760"/>
          </a:xfrm>
          <a:prstGeom prst="rect">
            <a:avLst/>
          </a:prstGeom>
          <a:noFill/>
          <a:ln/>
        </p:spPr>
        <p:txBody>
          <a:bodyPr wrap="square" lIns="0" tIns="0" rIns="0" bIns="0" rtlCol="0" anchor="ctr"/>
          <a:lstStyle/>
          <a:p>
            <a:pPr algn="ctr" indent="0" marL="0">
              <a:buNone/>
            </a:pPr>
            <a:r>
              <a:rPr lang="en-US" sz="1000" b="1" dirty="0">
                <a:solidFill>
                  <a:schemeClr val="tx2"/>
                </a:solidFill>
              </a:rPr>
              <a:t>S7</a:t>
            </a:r>
            <a:endParaRPr lang="en-US" sz="1000" dirty="0"/>
          </a:p>
        </p:txBody>
      </p:sp>
      <p:sp>
        <p:nvSpPr>
          <p:cNvPr id="19" name="Semana S8"/>
          <p:cNvSpPr/>
          <p:nvPr/>
        </p:nvSpPr>
        <p:spPr>
          <a:xfrm>
            <a:off x="3749040" y="548640"/>
            <a:ext cx="365760" cy="365760"/>
          </a:xfrm>
          <a:prstGeom prst="ellipse">
            <a:avLst/>
          </a:prstGeom>
          <a:solidFill>
            <a:schemeClr val="accent2"/>
          </a:solidFill>
          <a:ln/>
        </p:spPr>
      </p:sp>
      <p:sp>
        <p:nvSpPr>
          <p:cNvPr id="20" name="Text 17"/>
          <p:cNvSpPr txBox="1"/>
          <p:nvPr/>
        </p:nvSpPr>
        <p:spPr>
          <a:xfrm>
            <a:off x="3749040" y="548640"/>
            <a:ext cx="365760" cy="365760"/>
          </a:xfrm>
          <a:prstGeom prst="rect">
            <a:avLst/>
          </a:prstGeom>
          <a:noFill/>
          <a:ln/>
        </p:spPr>
        <p:txBody>
          <a:bodyPr wrap="square" lIns="0" tIns="0" rIns="0" bIns="0" rtlCol="0" anchor="ctr"/>
          <a:lstStyle/>
          <a:p>
            <a:pPr algn="ctr" indent="0" marL="0">
              <a:buNone/>
            </a:pPr>
            <a:r>
              <a:rPr lang="en-US" sz="1000" b="1" dirty="0">
                <a:solidFill>
                  <a:schemeClr val="tx2"/>
                </a:solidFill>
              </a:rPr>
              <a:t>S8</a:t>
            </a:r>
            <a:endParaRPr lang="en-US" sz="1000" dirty="0"/>
          </a:p>
        </p:txBody>
      </p:sp>
      <p:sp>
        <p:nvSpPr>
          <p:cNvPr id="21" name="Semana S9"/>
          <p:cNvSpPr/>
          <p:nvPr/>
        </p:nvSpPr>
        <p:spPr>
          <a:xfrm>
            <a:off x="4206240" y="548640"/>
            <a:ext cx="365760" cy="365760"/>
          </a:xfrm>
          <a:prstGeom prst="ellipse">
            <a:avLst/>
          </a:prstGeom>
          <a:solidFill>
            <a:schemeClr val="accent2"/>
          </a:solidFill>
          <a:ln/>
        </p:spPr>
      </p:sp>
      <p:sp>
        <p:nvSpPr>
          <p:cNvPr id="22" name="Text 19"/>
          <p:cNvSpPr txBox="1"/>
          <p:nvPr/>
        </p:nvSpPr>
        <p:spPr>
          <a:xfrm>
            <a:off x="4206240" y="548640"/>
            <a:ext cx="365760" cy="365760"/>
          </a:xfrm>
          <a:prstGeom prst="rect">
            <a:avLst/>
          </a:prstGeom>
          <a:noFill/>
          <a:ln/>
        </p:spPr>
        <p:txBody>
          <a:bodyPr wrap="square" lIns="0" tIns="0" rIns="0" bIns="0" rtlCol="0" anchor="ctr"/>
          <a:lstStyle/>
          <a:p>
            <a:pPr algn="ctr" indent="0" marL="0">
              <a:buNone/>
            </a:pPr>
            <a:r>
              <a:rPr lang="en-US" sz="1000" b="1" dirty="0">
                <a:solidFill>
                  <a:schemeClr val="tx2"/>
                </a:solidFill>
              </a:rPr>
              <a:t>S9</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Punto de partida: el sistema legado</a:t>
            </a:r>
            <a:endParaRPr lang="en-US" sz="2800" dirty="0"/>
          </a:p>
        </p:txBody>
      </p:sp>
      <p:sp>
        <p:nvSpPr>
          <p:cNvPr id="4" name="Dato 2013"/>
          <p:cNvSpPr/>
          <p:nvPr/>
        </p:nvSpPr>
        <p:spPr>
          <a:xfrm>
            <a:off x="457200" y="1051560"/>
            <a:ext cx="1920240" cy="1600200"/>
          </a:xfrm>
          <a:prstGeom prst="roundRect">
            <a:avLst>
              <a:gd name="adj" fmla="val 4571"/>
            </a:avLst>
          </a:prstGeom>
          <a:solidFill>
            <a:schemeClr val="accent3">
              <a:alpha val="12000"/>
            </a:schemeClr>
          </a:solidFill>
          <a:ln/>
        </p:spPr>
      </p:sp>
      <p:sp>
        <p:nvSpPr>
          <p:cNvPr id="5" name="Text 2"/>
          <p:cNvSpPr txBox="1"/>
          <p:nvPr/>
        </p:nvSpPr>
        <p:spPr>
          <a:xfrm>
            <a:off x="457200" y="1143000"/>
            <a:ext cx="1920240" cy="731520"/>
          </a:xfrm>
          <a:prstGeom prst="rect">
            <a:avLst/>
          </a:prstGeom>
          <a:noFill/>
          <a:ln/>
        </p:spPr>
        <p:txBody>
          <a:bodyPr wrap="square" lIns="0" tIns="0" rIns="0" bIns="0" rtlCol="0" anchor="ctr"/>
          <a:lstStyle/>
          <a:p>
            <a:pPr algn="ctr" indent="0" marL="0">
              <a:buNone/>
            </a:pPr>
            <a:r>
              <a:rPr lang="en-US" sz="4000" b="1" dirty="0">
                <a:solidFill>
                  <a:schemeClr val="accent3"/>
                </a:solidFill>
                <a:latin typeface="Cambria" pitchFamily="34" charset="0"/>
                <a:ea typeface="Cambria" pitchFamily="34" charset="-122"/>
                <a:cs typeface="Cambria" pitchFamily="34" charset="-120"/>
              </a:rPr>
              <a:t>2013</a:t>
            </a:r>
            <a:endParaRPr lang="en-US" sz="4000" dirty="0"/>
          </a:p>
        </p:txBody>
      </p:sp>
      <p:sp>
        <p:nvSpPr>
          <p:cNvPr id="6" name="Text 3"/>
          <p:cNvSpPr txBox="1"/>
          <p:nvPr/>
        </p:nvSpPr>
        <p:spPr>
          <a:xfrm>
            <a:off x="594360" y="1874520"/>
            <a:ext cx="1645920" cy="685800"/>
          </a:xfrm>
          <a:prstGeom prst="rect">
            <a:avLst/>
          </a:prstGeom>
          <a:noFill/>
          <a:ln/>
        </p:spPr>
        <p:txBody>
          <a:bodyPr wrap="square" lIns="0" tIns="0" rIns="0" bIns="0" rtlCol="0" anchor="t"/>
          <a:lstStyle/>
          <a:p>
            <a:pPr algn="ctr" indent="0" marL="0">
              <a:buNone/>
            </a:pPr>
            <a:r>
              <a:rPr lang="en-US" sz="1200" dirty="0">
                <a:solidFill>
                  <a:schemeClr val="tx1"/>
                </a:solidFill>
              </a:rPr>
              <a:t>año configurado en la app (VB.NET + WinForms)</a:t>
            </a:r>
            <a:endParaRPr lang="en-US" sz="1200" dirty="0"/>
          </a:p>
        </p:txBody>
      </p:sp>
      <p:sp>
        <p:nvSpPr>
          <p:cNvPr id="7" name="Dato 3"/>
          <p:cNvSpPr/>
          <p:nvPr/>
        </p:nvSpPr>
        <p:spPr>
          <a:xfrm>
            <a:off x="2560320" y="1051560"/>
            <a:ext cx="1920240" cy="1600200"/>
          </a:xfrm>
          <a:prstGeom prst="roundRect">
            <a:avLst>
              <a:gd name="adj" fmla="val 4571"/>
            </a:avLst>
          </a:prstGeom>
          <a:solidFill>
            <a:schemeClr val="accent3">
              <a:alpha val="12000"/>
            </a:schemeClr>
          </a:solidFill>
          <a:ln/>
        </p:spPr>
      </p:sp>
      <p:sp>
        <p:nvSpPr>
          <p:cNvPr id="8" name="Text 5"/>
          <p:cNvSpPr txBox="1"/>
          <p:nvPr/>
        </p:nvSpPr>
        <p:spPr>
          <a:xfrm>
            <a:off x="2560320" y="1143000"/>
            <a:ext cx="1920240" cy="731520"/>
          </a:xfrm>
          <a:prstGeom prst="rect">
            <a:avLst/>
          </a:prstGeom>
          <a:noFill/>
          <a:ln/>
        </p:spPr>
        <p:txBody>
          <a:bodyPr wrap="square" lIns="0" tIns="0" rIns="0" bIns="0" rtlCol="0" anchor="ctr"/>
          <a:lstStyle/>
          <a:p>
            <a:pPr algn="ctr" indent="0" marL="0">
              <a:buNone/>
            </a:pPr>
            <a:r>
              <a:rPr lang="en-US" sz="4000" b="1" dirty="0">
                <a:solidFill>
                  <a:schemeClr val="accent3"/>
                </a:solidFill>
                <a:latin typeface="Cambria" pitchFamily="34" charset="0"/>
                <a:ea typeface="Cambria" pitchFamily="34" charset="-122"/>
                <a:cs typeface="Cambria" pitchFamily="34" charset="-120"/>
              </a:rPr>
              <a:t>3</a:t>
            </a:r>
            <a:endParaRPr lang="en-US" sz="4000" dirty="0"/>
          </a:p>
        </p:txBody>
      </p:sp>
      <p:sp>
        <p:nvSpPr>
          <p:cNvPr id="9" name="Text 6"/>
          <p:cNvSpPr txBox="1"/>
          <p:nvPr/>
        </p:nvSpPr>
        <p:spPr>
          <a:xfrm>
            <a:off x="2697480" y="1874520"/>
            <a:ext cx="1645920" cy="685800"/>
          </a:xfrm>
          <a:prstGeom prst="rect">
            <a:avLst/>
          </a:prstGeom>
          <a:noFill/>
          <a:ln/>
        </p:spPr>
        <p:txBody>
          <a:bodyPr wrap="square" lIns="0" tIns="0" rIns="0" bIns="0" rtlCol="0" anchor="t"/>
          <a:lstStyle/>
          <a:p>
            <a:pPr algn="ctr" indent="0" marL="0">
              <a:buNone/>
            </a:pPr>
            <a:r>
              <a:rPr lang="en-US" sz="1200" dirty="0">
                <a:solidFill>
                  <a:schemeClr val="tx1"/>
                </a:solidFill>
              </a:rPr>
              <a:t>versiones de DevExpress mezcladas (7.3, 9.1 y 11.2)</a:t>
            </a:r>
            <a:endParaRPr lang="en-US" sz="1200" dirty="0"/>
          </a:p>
        </p:txBody>
      </p:sp>
      <p:sp>
        <p:nvSpPr>
          <p:cNvPr id="10" name="Dato 76"/>
          <p:cNvSpPr/>
          <p:nvPr/>
        </p:nvSpPr>
        <p:spPr>
          <a:xfrm>
            <a:off x="4663440" y="1051560"/>
            <a:ext cx="1920240" cy="1600200"/>
          </a:xfrm>
          <a:prstGeom prst="roundRect">
            <a:avLst>
              <a:gd name="adj" fmla="val 4571"/>
            </a:avLst>
          </a:prstGeom>
          <a:solidFill>
            <a:schemeClr val="accent3">
              <a:alpha val="12000"/>
            </a:schemeClr>
          </a:solidFill>
          <a:ln/>
        </p:spPr>
      </p:sp>
      <p:sp>
        <p:nvSpPr>
          <p:cNvPr id="11" name="Text 8"/>
          <p:cNvSpPr txBox="1"/>
          <p:nvPr/>
        </p:nvSpPr>
        <p:spPr>
          <a:xfrm>
            <a:off x="4663440" y="1143000"/>
            <a:ext cx="1920240" cy="731520"/>
          </a:xfrm>
          <a:prstGeom prst="rect">
            <a:avLst/>
          </a:prstGeom>
          <a:noFill/>
          <a:ln/>
        </p:spPr>
        <p:txBody>
          <a:bodyPr wrap="square" lIns="0" tIns="0" rIns="0" bIns="0" rtlCol="0" anchor="ctr"/>
          <a:lstStyle/>
          <a:p>
            <a:pPr algn="ctr" indent="0" marL="0">
              <a:buNone/>
            </a:pPr>
            <a:r>
              <a:rPr lang="en-US" sz="4000" b="1" dirty="0">
                <a:solidFill>
                  <a:schemeClr val="accent3"/>
                </a:solidFill>
                <a:latin typeface="Cambria" pitchFamily="34" charset="0"/>
                <a:ea typeface="Cambria" pitchFamily="34" charset="-122"/>
                <a:cs typeface="Cambria" pitchFamily="34" charset="-120"/>
              </a:rPr>
              <a:t>76</a:t>
            </a:r>
            <a:endParaRPr lang="en-US" sz="4000" dirty="0"/>
          </a:p>
        </p:txBody>
      </p:sp>
      <p:sp>
        <p:nvSpPr>
          <p:cNvPr id="12" name="Text 9"/>
          <p:cNvSpPr txBox="1"/>
          <p:nvPr/>
        </p:nvSpPr>
        <p:spPr>
          <a:xfrm>
            <a:off x="4800600" y="1874520"/>
            <a:ext cx="1645920" cy="685800"/>
          </a:xfrm>
          <a:prstGeom prst="rect">
            <a:avLst/>
          </a:prstGeom>
          <a:noFill/>
          <a:ln/>
        </p:spPr>
        <p:txBody>
          <a:bodyPr wrap="square" lIns="0" tIns="0" rIns="0" bIns="0" rtlCol="0" anchor="t"/>
          <a:lstStyle/>
          <a:p>
            <a:pPr algn="ctr" indent="0" marL="0">
              <a:buNone/>
            </a:pPr>
            <a:r>
              <a:rPr lang="en-US" sz="1200" dirty="0">
                <a:solidFill>
                  <a:schemeClr val="tx1"/>
                </a:solidFill>
              </a:rPr>
              <a:t>tablas en la BD CMI, varias sin 1FN</a:t>
            </a:r>
            <a:endParaRPr lang="en-US" sz="1200" dirty="0"/>
          </a:p>
        </p:txBody>
      </p:sp>
      <p:sp>
        <p:nvSpPr>
          <p:cNvPr id="13" name="Dato 0"/>
          <p:cNvSpPr/>
          <p:nvPr/>
        </p:nvSpPr>
        <p:spPr>
          <a:xfrm>
            <a:off x="6766560" y="1051560"/>
            <a:ext cx="1920240" cy="1600200"/>
          </a:xfrm>
          <a:prstGeom prst="roundRect">
            <a:avLst>
              <a:gd name="adj" fmla="val 4571"/>
            </a:avLst>
          </a:prstGeom>
          <a:solidFill>
            <a:schemeClr val="accent3">
              <a:alpha val="12000"/>
            </a:schemeClr>
          </a:solidFill>
          <a:ln/>
        </p:spPr>
      </p:sp>
      <p:sp>
        <p:nvSpPr>
          <p:cNvPr id="14" name="Text 11"/>
          <p:cNvSpPr txBox="1"/>
          <p:nvPr/>
        </p:nvSpPr>
        <p:spPr>
          <a:xfrm>
            <a:off x="6766560" y="1143000"/>
            <a:ext cx="1920240" cy="731520"/>
          </a:xfrm>
          <a:prstGeom prst="rect">
            <a:avLst/>
          </a:prstGeom>
          <a:noFill/>
          <a:ln/>
        </p:spPr>
        <p:txBody>
          <a:bodyPr wrap="square" lIns="0" tIns="0" rIns="0" bIns="0" rtlCol="0" anchor="ctr"/>
          <a:lstStyle/>
          <a:p>
            <a:pPr algn="ctr" indent="0" marL="0">
              <a:buNone/>
            </a:pPr>
            <a:r>
              <a:rPr lang="en-US" sz="4000" b="1" dirty="0">
                <a:solidFill>
                  <a:schemeClr val="accent3"/>
                </a:solidFill>
                <a:latin typeface="Cambria" pitchFamily="34" charset="0"/>
                <a:ea typeface="Cambria" pitchFamily="34" charset="-122"/>
                <a:cs typeface="Cambria" pitchFamily="34" charset="-120"/>
              </a:rPr>
              <a:t>0</a:t>
            </a:r>
            <a:endParaRPr lang="en-US" sz="4000" dirty="0"/>
          </a:p>
        </p:txBody>
      </p:sp>
      <p:sp>
        <p:nvSpPr>
          <p:cNvPr id="15" name="Text 12"/>
          <p:cNvSpPr txBox="1"/>
          <p:nvPr/>
        </p:nvSpPr>
        <p:spPr>
          <a:xfrm>
            <a:off x="6903720" y="1874520"/>
            <a:ext cx="1645920" cy="685800"/>
          </a:xfrm>
          <a:prstGeom prst="rect">
            <a:avLst/>
          </a:prstGeom>
          <a:noFill/>
          <a:ln/>
        </p:spPr>
        <p:txBody>
          <a:bodyPr wrap="square" lIns="0" tIns="0" rIns="0" bIns="0" rtlCol="0" anchor="t"/>
          <a:lstStyle/>
          <a:p>
            <a:pPr algn="ctr" indent="0" marL="0">
              <a:buNone/>
            </a:pPr>
            <a:r>
              <a:rPr lang="en-US" sz="1200" dirty="0">
                <a:solidFill>
                  <a:schemeClr val="tx1"/>
                </a:solidFill>
              </a:rPr>
              <a:t>pruebas automatizadas</a:t>
            </a:r>
            <a:endParaRPr lang="en-US" sz="1200" dirty="0"/>
          </a:p>
        </p:txBody>
      </p:sp>
      <p:sp>
        <p:nvSpPr>
          <p:cNvPr id="16" name="Hallado en ClassRRHH.dll y RecursosHumanos.exe.config"/>
          <p:cNvSpPr/>
          <p:nvPr/>
        </p:nvSpPr>
        <p:spPr>
          <a:xfrm>
            <a:off x="457200" y="2880360"/>
            <a:ext cx="4937760" cy="1691640"/>
          </a:xfrm>
          <a:prstGeom prst="roundRect">
            <a:avLst>
              <a:gd name="adj" fmla="val 3243"/>
            </a:avLst>
          </a:prstGeom>
          <a:solidFill>
            <a:schemeClr val="tx1"/>
          </a:solidFill>
          <a:ln/>
        </p:spPr>
      </p:sp>
      <p:sp>
        <p:nvSpPr>
          <p:cNvPr id="17" name="Text 14"/>
          <p:cNvSpPr txBox="1"/>
          <p:nvPr/>
        </p:nvSpPr>
        <p:spPr>
          <a:xfrm>
            <a:off x="640080" y="2971800"/>
            <a:ext cx="4572000" cy="256032"/>
          </a:xfrm>
          <a:prstGeom prst="rect">
            <a:avLst/>
          </a:prstGeom>
          <a:noFill/>
          <a:ln/>
        </p:spPr>
        <p:txBody>
          <a:bodyPr wrap="square" lIns="0" tIns="0" rIns="0" bIns="0" rtlCol="0" anchor="ctr"/>
          <a:lstStyle/>
          <a:p>
            <a:pPr indent="0" marL="0">
              <a:buNone/>
            </a:pPr>
            <a:r>
              <a:rPr lang="en-US" sz="1100" b="1" dirty="0">
                <a:solidFill>
                  <a:schemeClr val="accent2"/>
                </a:solidFill>
              </a:rPr>
              <a:t>Hallado en ClassRRHH.dll y RecursosHumanos.exe.config</a:t>
            </a:r>
            <a:endParaRPr lang="en-US" sz="1100" dirty="0"/>
          </a:p>
        </p:txBody>
      </p:sp>
      <p:sp>
        <p:nvSpPr>
          <p:cNvPr id="18" name="Text 15"/>
          <p:cNvSpPr txBox="1"/>
          <p:nvPr/>
        </p:nvSpPr>
        <p:spPr>
          <a:xfrm>
            <a:off x="640080" y="3291840"/>
            <a:ext cx="4572000" cy="1188720"/>
          </a:xfrm>
          <a:prstGeom prst="rect">
            <a:avLst/>
          </a:prstGeom>
          <a:noFill/>
          <a:ln/>
        </p:spPr>
        <p:txBody>
          <a:bodyPr wrap="square" lIns="0" tIns="0" rIns="0" bIns="0" rtlCol="0" anchor="t"/>
          <a:lstStyle/>
          <a:p>
            <a:pPr indent="0" marL="0">
              <a:buNone/>
            </a:pPr>
            <a:r>
              <a:rPr lang="en-US" sz="1050" dirty="0">
                <a:solidFill>
                  <a:schemeClr val="bg2"/>
                </a:solidFill>
                <a:latin typeface="Courier New" pitchFamily="34" charset="0"/>
                <a:ea typeface="Courier New" pitchFamily="34" charset="-122"/>
                <a:cs typeface="Courier New" pitchFamily="34" charset="-120"/>
              </a:rPr>
              <a:t>"SELECT pers_cod from empleado</a:t>
            </a:r>
            <a:endParaRPr lang="en-US" sz="1050" dirty="0"/>
          </a:p>
          <a:p>
            <a:pPr indent="0" marL="0">
              <a:buNone/>
            </a:pPr>
            <a:r>
              <a:rPr lang="en-US" sz="1050" dirty="0">
                <a:solidFill>
                  <a:schemeClr val="bg2"/>
                </a:solidFill>
                <a:latin typeface="Courier New" pitchFamily="34" charset="0"/>
                <a:ea typeface="Courier New" pitchFamily="34" charset="-122"/>
                <a:cs typeface="Courier New" pitchFamily="34" charset="-120"/>
              </a:rPr>
              <a:t>   where pers_dni='" &amp; dni &amp; "'"</a:t>
            </a:r>
            <a:endParaRPr lang="en-US" sz="1050" dirty="0"/>
          </a:p>
          <a:p>
            <a:pPr indent="0" marL="0">
              <a:buNone/>
            </a:pPr>
            <a:endParaRPr lang="en-US" sz="1050" dirty="0"/>
          </a:p>
          <a:p>
            <a:pPr indent="0" marL="0">
              <a:buNone/>
            </a:pPr>
            <a:r>
              <a:rPr lang="en-US" sz="1050" dirty="0">
                <a:solidFill>
                  <a:schemeClr val="bg2"/>
                </a:solidFill>
                <a:latin typeface="Courier New" pitchFamily="34" charset="0"/>
                <a:ea typeface="Courier New" pitchFamily="34" charset="-122"/>
                <a:cs typeface="Courier New" pitchFamily="34" charset="-120"/>
              </a:rPr>
              <a:t>User ID=user_1;</a:t>
            </a:r>
            <a:endParaRPr lang="en-US" sz="1050" dirty="0"/>
          </a:p>
          <a:p>
            <a:pPr indent="0" marL="0">
              <a:buNone/>
            </a:pPr>
            <a:r>
              <a:rPr lang="en-US" sz="1050" dirty="0">
                <a:solidFill>
                  <a:schemeClr val="bg2"/>
                </a:solidFill>
                <a:latin typeface="Courier New" pitchFamily="34" charset="0"/>
                <a:ea typeface="Courier New" pitchFamily="34" charset="-122"/>
                <a:cs typeface="Courier New" pitchFamily="34" charset="-120"/>
              </a:rPr>
              <a:t>Password=Usuario_Qa_2024</a:t>
            </a:r>
            <a:endParaRPr lang="en-US" sz="1050" dirty="0"/>
          </a:p>
        </p:txBody>
      </p:sp>
      <p:sp>
        <p:nvSpPr>
          <p:cNvPr id="19" name="Text 16"/>
          <p:cNvSpPr txBox="1"/>
          <p:nvPr/>
        </p:nvSpPr>
        <p:spPr>
          <a:xfrm>
            <a:off x="5623560" y="2880360"/>
            <a:ext cx="3063240" cy="1691640"/>
          </a:xfrm>
          <a:prstGeom prst="rect">
            <a:avLst/>
          </a:prstGeom>
          <a:noFill/>
          <a:ln/>
        </p:spPr>
        <p:txBody>
          <a:bodyPr wrap="square" lIns="0" tIns="0" rIns="0" bIns="0" rtlCol="0" anchor="ctr"/>
          <a:lstStyle/>
          <a:p>
            <a:pPr marL="177800" indent="-177800">
              <a:spcAft>
                <a:spcPts val="500"/>
              </a:spcAft>
              <a:buSzPct val="100000"/>
              <a:buChar char="•"/>
            </a:pPr>
            <a:r>
              <a:rPr lang="en-US" sz="1400" dirty="0">
                <a:solidFill>
                  <a:schemeClr val="tx1"/>
                </a:solidFill>
              </a:rPr>
              <a:t>SQL armado concatenando texto: riesgo de inyección</a:t>
            </a:r>
            <a:endParaRPr lang="en-US" sz="1400" dirty="0"/>
          </a:p>
          <a:p>
            <a:pPr marL="177800" indent="-177800">
              <a:spcAft>
                <a:spcPts val="500"/>
              </a:spcAft>
              <a:buSzPct val="100000"/>
              <a:buChar char="•"/>
            </a:pPr>
            <a:r>
              <a:rPr lang="en-US" sz="1400" dirty="0">
                <a:solidFill>
                  <a:schemeClr val="tx1"/>
                </a:solidFill>
              </a:rPr>
              <a:t>Credenciales de la BD en texto plano</a:t>
            </a:r>
            <a:endParaRPr lang="en-US" sz="1400" dirty="0"/>
          </a:p>
          <a:p>
            <a:pPr marL="177800" indent="-177800">
              <a:spcAft>
                <a:spcPts val="500"/>
              </a:spcAft>
              <a:buSzPct val="100000"/>
              <a:buChar char="•"/>
            </a:pPr>
            <a:r>
              <a:rPr lang="en-US" sz="1400" dirty="0">
                <a:solidFill>
                  <a:schemeClr val="tx1"/>
                </a:solidFill>
              </a:rPr>
              <a:t>Sin código fuente ni documentación: solo .exe y .dll</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Hoy: arquitectura por capas</a:t>
            </a:r>
            <a:endParaRPr lang="en-US" sz="2800" dirty="0"/>
          </a:p>
        </p:txBody>
      </p:sp>
      <p:sp>
        <p:nvSpPr>
          <p:cNvPr id="4" name="Presentación"/>
          <p:cNvSpPr/>
          <p:nvPr/>
        </p:nvSpPr>
        <p:spPr>
          <a:xfrm>
            <a:off x="457200" y="1143000"/>
            <a:ext cx="2377440" cy="914400"/>
          </a:xfrm>
          <a:prstGeom prst="roundRect">
            <a:avLst>
              <a:gd name="adj" fmla="val 8000"/>
            </a:avLst>
          </a:prstGeom>
          <a:solidFill>
            <a:schemeClr val="tx2"/>
          </a:solidFill>
          <a:ln/>
        </p:spPr>
      </p:sp>
      <p:sp>
        <p:nvSpPr>
          <p:cNvPr id="5" name="Text 2"/>
          <p:cNvSpPr txBox="1"/>
          <p:nvPr/>
        </p:nvSpPr>
        <p:spPr>
          <a:xfrm>
            <a:off x="548640" y="1143000"/>
            <a:ext cx="2194560" cy="914400"/>
          </a:xfrm>
          <a:prstGeom prst="rect">
            <a:avLst/>
          </a:prstGeom>
          <a:noFill/>
          <a:ln/>
        </p:spPr>
        <p:txBody>
          <a:bodyPr wrap="square" lIns="0" tIns="0" rIns="0" bIns="0" rtlCol="0" anchor="ctr"/>
          <a:lstStyle/>
          <a:p>
            <a:pPr algn="ctr" indent="0" marL="0">
              <a:buNone/>
            </a:pPr>
            <a:r>
              <a:rPr lang="en-US" sz="1400" b="1" dirty="0">
                <a:solidFill>
                  <a:schemeClr val="bg1"/>
                </a:solidFill>
              </a:rPr>
              <a:t>Presentación</a:t>
            </a:r>
            <a:endParaRPr lang="en-US" sz="1400" dirty="0"/>
          </a:p>
          <a:p>
            <a:pPr algn="ctr" indent="0" marL="0">
              <a:buNone/>
            </a:pPr>
            <a:r>
              <a:rPr lang="en-US" sz="1100" dirty="0">
                <a:solidFill>
                  <a:schemeClr val="accent6"/>
                </a:solidFill>
              </a:rPr>
              <a:t>ASP.NET Core MVC · 17 controllers</a:t>
            </a:r>
            <a:endParaRPr lang="en-US" sz="1400" dirty="0"/>
          </a:p>
        </p:txBody>
      </p:sp>
      <p:sp>
        <p:nvSpPr>
          <p:cNvPr id="6" name="Capa Lógica"/>
          <p:cNvSpPr/>
          <p:nvPr/>
        </p:nvSpPr>
        <p:spPr>
          <a:xfrm>
            <a:off x="457200" y="2697480"/>
            <a:ext cx="2377440" cy="914400"/>
          </a:xfrm>
          <a:prstGeom prst="roundRect">
            <a:avLst>
              <a:gd name="adj" fmla="val 8000"/>
            </a:avLst>
          </a:prstGeom>
          <a:solidFill>
            <a:schemeClr val="accent1"/>
          </a:solidFill>
          <a:ln/>
        </p:spPr>
      </p:sp>
      <p:sp>
        <p:nvSpPr>
          <p:cNvPr id="7" name="Text 4"/>
          <p:cNvSpPr txBox="1"/>
          <p:nvPr/>
        </p:nvSpPr>
        <p:spPr>
          <a:xfrm>
            <a:off x="548640" y="2697480"/>
            <a:ext cx="2194560" cy="914400"/>
          </a:xfrm>
          <a:prstGeom prst="rect">
            <a:avLst/>
          </a:prstGeom>
          <a:noFill/>
          <a:ln/>
        </p:spPr>
        <p:txBody>
          <a:bodyPr wrap="square" lIns="0" tIns="0" rIns="0" bIns="0" rtlCol="0" anchor="ctr"/>
          <a:lstStyle/>
          <a:p>
            <a:pPr algn="ctr" indent="0" marL="0">
              <a:buNone/>
            </a:pPr>
            <a:r>
              <a:rPr lang="en-US" sz="1400" b="1" dirty="0">
                <a:solidFill>
                  <a:schemeClr val="bg1"/>
                </a:solidFill>
              </a:rPr>
              <a:t>Capa Lógica</a:t>
            </a:r>
            <a:endParaRPr lang="en-US" sz="1400" dirty="0"/>
          </a:p>
          <a:p>
            <a:pPr algn="ctr" indent="0" marL="0">
              <a:buNone/>
            </a:pPr>
            <a:r>
              <a:rPr lang="en-US" sz="1100" dirty="0">
                <a:solidFill>
                  <a:schemeClr val="accent6"/>
                </a:solidFill>
              </a:rPr>
              <a:t>reglas de negocio</a:t>
            </a:r>
            <a:endParaRPr lang="en-US" sz="1400" dirty="0"/>
          </a:p>
        </p:txBody>
      </p:sp>
      <p:sp>
        <p:nvSpPr>
          <p:cNvPr id="8" name="Capa Entidades"/>
          <p:cNvSpPr/>
          <p:nvPr/>
        </p:nvSpPr>
        <p:spPr>
          <a:xfrm>
            <a:off x="3383280" y="2697480"/>
            <a:ext cx="2377440" cy="914400"/>
          </a:xfrm>
          <a:prstGeom prst="roundRect">
            <a:avLst>
              <a:gd name="adj" fmla="val 8000"/>
            </a:avLst>
          </a:prstGeom>
          <a:solidFill>
            <a:schemeClr val="accent2"/>
          </a:solidFill>
          <a:ln/>
        </p:spPr>
      </p:sp>
      <p:sp>
        <p:nvSpPr>
          <p:cNvPr id="9" name="Text 6"/>
          <p:cNvSpPr txBox="1"/>
          <p:nvPr/>
        </p:nvSpPr>
        <p:spPr>
          <a:xfrm>
            <a:off x="3474720" y="2697480"/>
            <a:ext cx="2194560" cy="914400"/>
          </a:xfrm>
          <a:prstGeom prst="rect">
            <a:avLst/>
          </a:prstGeom>
          <a:noFill/>
          <a:ln/>
        </p:spPr>
        <p:txBody>
          <a:bodyPr wrap="square" lIns="0" tIns="0" rIns="0" bIns="0" rtlCol="0" anchor="ctr"/>
          <a:lstStyle/>
          <a:p>
            <a:pPr algn="ctr" indent="0" marL="0">
              <a:buNone/>
            </a:pPr>
            <a:r>
              <a:rPr lang="en-US" sz="1400" b="1" dirty="0">
                <a:solidFill>
                  <a:schemeClr val="tx2"/>
                </a:solidFill>
              </a:rPr>
              <a:t>Capa Entidades</a:t>
            </a:r>
            <a:endParaRPr lang="en-US" sz="1400" dirty="0"/>
          </a:p>
          <a:p>
            <a:pPr algn="ctr" indent="0" marL="0">
              <a:buNone/>
            </a:pPr>
            <a:r>
              <a:rPr lang="en-US" sz="1100" dirty="0">
                <a:solidFill>
                  <a:schemeClr val="tx2"/>
                </a:solidFill>
              </a:rPr>
              <a:t>entidades + contratos</a:t>
            </a:r>
            <a:endParaRPr lang="en-US" sz="1400" dirty="0"/>
          </a:p>
        </p:txBody>
      </p:sp>
      <p:sp>
        <p:nvSpPr>
          <p:cNvPr id="10" name="Capa Datos"/>
          <p:cNvSpPr/>
          <p:nvPr/>
        </p:nvSpPr>
        <p:spPr>
          <a:xfrm>
            <a:off x="6309360" y="2697480"/>
            <a:ext cx="2377440" cy="914400"/>
          </a:xfrm>
          <a:prstGeom prst="roundRect">
            <a:avLst>
              <a:gd name="adj" fmla="val 8000"/>
            </a:avLst>
          </a:prstGeom>
          <a:solidFill>
            <a:schemeClr val="accent5"/>
          </a:solidFill>
          <a:ln/>
        </p:spPr>
      </p:sp>
      <p:sp>
        <p:nvSpPr>
          <p:cNvPr id="11" name="Text 8"/>
          <p:cNvSpPr txBox="1"/>
          <p:nvPr/>
        </p:nvSpPr>
        <p:spPr>
          <a:xfrm>
            <a:off x="6400800" y="2697480"/>
            <a:ext cx="2194560" cy="914400"/>
          </a:xfrm>
          <a:prstGeom prst="rect">
            <a:avLst/>
          </a:prstGeom>
          <a:noFill/>
          <a:ln/>
        </p:spPr>
        <p:txBody>
          <a:bodyPr wrap="square" lIns="0" tIns="0" rIns="0" bIns="0" rtlCol="0" anchor="ctr"/>
          <a:lstStyle/>
          <a:p>
            <a:pPr algn="ctr" indent="0" marL="0">
              <a:buNone/>
            </a:pPr>
            <a:r>
              <a:rPr lang="en-US" sz="1400" b="1" dirty="0">
                <a:solidFill>
                  <a:schemeClr val="bg1"/>
                </a:solidFill>
              </a:rPr>
              <a:t>Capa Datos</a:t>
            </a:r>
            <a:endParaRPr lang="en-US" sz="1400" dirty="0"/>
          </a:p>
          <a:p>
            <a:pPr algn="ctr" indent="0" marL="0">
              <a:buNone/>
            </a:pPr>
            <a:r>
              <a:rPr lang="en-US" sz="1100" dirty="0">
                <a:solidFill>
                  <a:schemeClr val="accent6"/>
                </a:solidFill>
              </a:rPr>
              <a:t>EF Core · 77 repositorios</a:t>
            </a:r>
            <a:endParaRPr lang="en-US" sz="1400" dirty="0"/>
          </a:p>
        </p:txBody>
      </p:sp>
      <p:sp>
        <p:nvSpPr>
          <p:cNvPr id="12" name="Shape 9"/>
          <p:cNvSpPr/>
          <p:nvPr/>
        </p:nvSpPr>
        <p:spPr>
          <a:xfrm>
            <a:off x="1645920" y="2057400"/>
            <a:ext cx="0" cy="640080"/>
          </a:xfrm>
          <a:prstGeom prst="line">
            <a:avLst/>
          </a:prstGeom>
          <a:noFill/>
          <a:ln w="19050">
            <a:solidFill>
              <a:schemeClr val="accent5"/>
            </a:solidFill>
            <a:prstDash val="solid"/>
            <a:tailEnd type="triangle"/>
          </a:ln>
        </p:spPr>
      </p:sp>
      <p:sp>
        <p:nvSpPr>
          <p:cNvPr id="13" name="Shape 10"/>
          <p:cNvSpPr/>
          <p:nvPr/>
        </p:nvSpPr>
        <p:spPr>
          <a:xfrm>
            <a:off x="2834640" y="3154680"/>
            <a:ext cx="548640" cy="0"/>
          </a:xfrm>
          <a:prstGeom prst="line">
            <a:avLst/>
          </a:prstGeom>
          <a:noFill/>
          <a:ln w="19050">
            <a:solidFill>
              <a:schemeClr val="accent5"/>
            </a:solidFill>
            <a:prstDash val="solid"/>
            <a:tailEnd type="triangle"/>
          </a:ln>
        </p:spPr>
      </p:sp>
      <p:sp>
        <p:nvSpPr>
          <p:cNvPr id="14" name="Shape 11"/>
          <p:cNvSpPr/>
          <p:nvPr/>
        </p:nvSpPr>
        <p:spPr>
          <a:xfrm flipH="1">
            <a:off x="5760720" y="3154680"/>
            <a:ext cx="548640" cy="0"/>
          </a:xfrm>
          <a:prstGeom prst="line">
            <a:avLst/>
          </a:prstGeom>
          <a:noFill/>
          <a:ln w="19050">
            <a:solidFill>
              <a:schemeClr val="accent5"/>
            </a:solidFill>
            <a:prstDash val="solid"/>
            <a:tailEnd type="triangle"/>
          </a:ln>
        </p:spPr>
      </p:sp>
      <p:sp>
        <p:nvSpPr>
          <p:cNvPr id="15" name="Text 12"/>
          <p:cNvSpPr txBox="1"/>
          <p:nvPr/>
        </p:nvSpPr>
        <p:spPr>
          <a:xfrm>
            <a:off x="5806440" y="2377440"/>
            <a:ext cx="2377440" cy="274320"/>
          </a:xfrm>
          <a:prstGeom prst="rect">
            <a:avLst/>
          </a:prstGeom>
          <a:noFill/>
          <a:ln/>
        </p:spPr>
        <p:txBody>
          <a:bodyPr wrap="square" lIns="0" tIns="0" rIns="0" bIns="0" rtlCol="0" anchor="ctr"/>
          <a:lstStyle/>
          <a:p>
            <a:pPr indent="0" marL="0">
              <a:buNone/>
            </a:pPr>
            <a:r>
              <a:rPr lang="en-US" sz="1100" i="1" dirty="0">
                <a:solidFill>
                  <a:schemeClr val="accent5"/>
                </a:solidFill>
              </a:rPr>
              <a:t>implementa los contratos</a:t>
            </a:r>
            <a:endParaRPr lang="en-US" sz="1100" dirty="0"/>
          </a:p>
        </p:txBody>
      </p:sp>
      <p:sp>
        <p:nvSpPr>
          <p:cNvPr id="16" name="Text 13"/>
          <p:cNvSpPr txBox="1"/>
          <p:nvPr/>
        </p:nvSpPr>
        <p:spPr>
          <a:xfrm>
            <a:off x="3383280" y="1143000"/>
            <a:ext cx="5303520" cy="914400"/>
          </a:xfrm>
          <a:prstGeom prst="rect">
            <a:avLst/>
          </a:prstGeom>
          <a:noFill/>
          <a:ln/>
        </p:spPr>
        <p:txBody>
          <a:bodyPr wrap="square" lIns="0" tIns="0" rIns="0" bIns="0" rtlCol="0" anchor="ctr"/>
          <a:lstStyle/>
          <a:p>
            <a:pPr indent="0" marL="0">
              <a:buNone/>
            </a:pPr>
            <a:r>
              <a:rPr lang="en-US" sz="1400" b="1" dirty="0">
                <a:solidFill>
                  <a:schemeClr val="accent1"/>
                </a:solidFill>
              </a:rPr>
              <a:t>Regla de dependencia: </a:t>
            </a:r>
            <a:pPr indent="0" marL="0">
              <a:buNone/>
            </a:pPr>
            <a:r>
              <a:rPr lang="en-US" sz="1400" dirty="0">
                <a:solidFill>
                  <a:schemeClr val="tx1"/>
                </a:solidFill>
              </a:rPr>
              <a:t>todo apunta a Capa Entidades. Cambiar de BD solo toca Capa Datos y lo verifica ArquitecturaTests en cada dotnet test.</a:t>
            </a:r>
            <a:endParaRPr lang="en-US" sz="1400" dirty="0"/>
          </a:p>
        </p:txBody>
      </p:sp>
      <p:sp>
        <p:nvSpPr>
          <p:cNvPr id="17" name="Text 14"/>
          <p:cNvSpPr txBox="1"/>
          <p:nvPr/>
        </p:nvSpPr>
        <p:spPr>
          <a:xfrm>
            <a:off x="457200" y="3931920"/>
            <a:ext cx="8229600" cy="320040"/>
          </a:xfrm>
          <a:prstGeom prst="rect">
            <a:avLst/>
          </a:prstGeom>
          <a:noFill/>
          <a:ln/>
        </p:spPr>
        <p:txBody>
          <a:bodyPr wrap="square" lIns="0" tIns="0" rIns="0" bIns="0" rtlCol="0" anchor="ctr"/>
          <a:lstStyle/>
          <a:p>
            <a:pPr indent="0" marL="0">
              <a:buNone/>
            </a:pPr>
            <a:r>
              <a:rPr lang="en-US" sz="1200" dirty="0">
                <a:solidFill>
                  <a:schemeClr val="accent5"/>
                </a:solidFill>
              </a:rPr>
              <a:t>BD: RRHH_Normalizado (SQL Server) · Pruebas: Capa Logica.Tests (41 en verde)</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Insignia semana"/>
          <p:cNvSpPr/>
          <p:nvPr/>
        </p:nvSpPr>
        <p:spPr>
          <a:xfrm>
            <a:off x="457200" y="265176"/>
            <a:ext cx="548640" cy="548640"/>
          </a:xfrm>
          <a:prstGeom prst="ellipse">
            <a:avLst/>
          </a:prstGeom>
          <a:solidFill>
            <a:schemeClr val="accent2"/>
          </a:solidFill>
          <a:ln/>
        </p:spPr>
      </p:sp>
      <p:sp>
        <p:nvSpPr>
          <p:cNvPr id="4" name="Text 1"/>
          <p:cNvSpPr txBox="1"/>
          <p:nvPr/>
        </p:nvSpPr>
        <p:spPr>
          <a:xfrm>
            <a:off x="457200" y="265176"/>
            <a:ext cx="548640" cy="548640"/>
          </a:xfrm>
          <a:prstGeom prst="rect">
            <a:avLst/>
          </a:prstGeom>
          <a:noFill/>
          <a:ln/>
        </p:spPr>
        <p:txBody>
          <a:bodyPr wrap="square" lIns="0" tIns="0" rIns="0" bIns="0" rtlCol="0" anchor="ctr"/>
          <a:lstStyle/>
          <a:p>
            <a:pPr algn="ctr" indent="0" marL="0">
              <a:buNone/>
            </a:pPr>
            <a:r>
              <a:rPr lang="en-US" sz="1600" b="1" dirty="0">
                <a:solidFill>
                  <a:schemeClr val="tx2"/>
                </a:solidFill>
              </a:rPr>
              <a:t>S1</a:t>
            </a:r>
            <a:endParaRPr lang="en-US" sz="1600" dirty="0"/>
          </a:p>
        </p:txBody>
      </p:sp>
      <p:sp>
        <p:nvSpPr>
          <p:cNvPr id="5" name="Text 0"/>
          <p:cNvSpPr/>
          <p:nvPr>
            <p:ph idx="100" type="title" hasCustomPrompt="1"/>
          </p:nvPr>
        </p:nvSpPr>
        <p:spPr>
          <a:xfrm>
            <a:off x="1188720" y="256032"/>
            <a:ext cx="7498080" cy="566928"/>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Evolución del software</a:t>
            </a:r>
            <a:endParaRPr lang="en-US" sz="2800" dirty="0"/>
          </a:p>
        </p:txBody>
      </p:sp>
      <p:sp>
        <p:nvSpPr>
          <p:cNvPr id="6" name="Text 3"/>
          <p:cNvSpPr txBox="1"/>
          <p:nvPr/>
        </p:nvSpPr>
        <p:spPr>
          <a:xfrm>
            <a:off x="457200" y="914400"/>
            <a:ext cx="8229600" cy="411480"/>
          </a:xfrm>
          <a:prstGeom prst="rect">
            <a:avLst/>
          </a:prstGeom>
          <a:noFill/>
          <a:ln/>
        </p:spPr>
        <p:txBody>
          <a:bodyPr wrap="square" lIns="0" tIns="0" rIns="0" bIns="0" rtlCol="0" anchor="ctr"/>
          <a:lstStyle/>
          <a:p>
            <a:pPr indent="0" marL="0">
              <a:buNone/>
            </a:pPr>
            <a:r>
              <a:rPr lang="en-US" sz="1400" b="1" dirty="0">
                <a:solidFill>
                  <a:schemeClr val="accent1"/>
                </a:solidFill>
              </a:rPr>
              <a:t>Concepto: </a:t>
            </a:r>
            <a:pPr indent="0" marL="0">
              <a:buNone/>
            </a:pPr>
            <a:r>
              <a:rPr lang="en-US" sz="1400" i="1" dirty="0">
                <a:solidFill>
                  <a:schemeClr val="tx1"/>
                </a:solidFill>
              </a:rPr>
              <a:t>un sistema en uso debe evolucionar o pierde valor; se evoluciona sin perder el dominio ni los datos.</a:t>
            </a:r>
            <a:endParaRPr lang="en-US" sz="1400" dirty="0"/>
          </a:p>
        </p:txBody>
      </p:sp>
      <p:sp>
        <p:nvSpPr>
          <p:cNvPr id="7" name="ANTES · SISTEMA LEGADO"/>
          <p:cNvSpPr/>
          <p:nvPr/>
        </p:nvSpPr>
        <p:spPr>
          <a:xfrm>
            <a:off x="457200" y="1463040"/>
            <a:ext cx="3977640" cy="2743200"/>
          </a:xfrm>
          <a:prstGeom prst="roundRect">
            <a:avLst>
              <a:gd name="adj" fmla="val 2667"/>
            </a:avLst>
          </a:prstGeom>
          <a:solidFill>
            <a:schemeClr val="accent3">
              <a:alpha val="12000"/>
            </a:schemeClr>
          </a:solidFill>
          <a:ln/>
        </p:spPr>
      </p:sp>
      <p:sp>
        <p:nvSpPr>
          <p:cNvPr id="8" name="Text 5"/>
          <p:cNvSpPr txBox="1"/>
          <p:nvPr/>
        </p:nvSpPr>
        <p:spPr>
          <a:xfrm>
            <a:off x="640080" y="1572768"/>
            <a:ext cx="3611880" cy="274320"/>
          </a:xfrm>
          <a:prstGeom prst="rect">
            <a:avLst/>
          </a:prstGeom>
          <a:noFill/>
          <a:ln/>
        </p:spPr>
        <p:txBody>
          <a:bodyPr wrap="square" lIns="0" tIns="0" rIns="0" bIns="0" rtlCol="0" anchor="ctr"/>
          <a:lstStyle/>
          <a:p>
            <a:pPr indent="0" marL="0">
              <a:buNone/>
            </a:pPr>
            <a:r>
              <a:rPr lang="en-US" sz="1200" b="1" spc="100" kern="0" dirty="0">
                <a:solidFill>
                  <a:schemeClr val="accent3"/>
                </a:solidFill>
              </a:rPr>
              <a:t>ANTES · SISTEMA LEGADO</a:t>
            </a:r>
            <a:endParaRPr lang="en-US" sz="1200" dirty="0"/>
          </a:p>
        </p:txBody>
      </p:sp>
      <p:sp>
        <p:nvSpPr>
          <p:cNvPr id="9" name="Text 6"/>
          <p:cNvSpPr txBox="1"/>
          <p:nvPr/>
        </p:nvSpPr>
        <p:spPr>
          <a:xfrm>
            <a:off x="640080" y="1920240"/>
            <a:ext cx="3611880" cy="2176272"/>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Escritorio VB.NET + WinForms, solo Windows</a:t>
            </a:r>
            <a:endParaRPr lang="en-US" sz="1400" dirty="0"/>
          </a:p>
          <a:p>
            <a:pPr marL="177800" indent="-177800">
              <a:spcAft>
                <a:spcPts val="500"/>
              </a:spcAft>
              <a:buSzPct val="100000"/>
              <a:buChar char="•"/>
            </a:pPr>
            <a:r>
              <a:rPr lang="en-US" sz="1400" dirty="0">
                <a:solidFill>
                  <a:schemeClr val="tx1"/>
                </a:solidFill>
              </a:rPr>
              <a:t>Instalación ClickOnce con DLL sueltas</a:t>
            </a:r>
            <a:endParaRPr lang="en-US" sz="1400" dirty="0"/>
          </a:p>
          <a:p>
            <a:pPr marL="177800" indent="-177800">
              <a:spcAft>
                <a:spcPts val="500"/>
              </a:spcAft>
              <a:buSzPct val="100000"/>
              <a:buChar char="•"/>
            </a:pPr>
            <a:r>
              <a:rPr lang="en-US" sz="1400" dirty="0">
                <a:solidFill>
                  <a:schemeClr val="tx1"/>
                </a:solidFill>
              </a:rPr>
              <a:t>Componentes de 2013 (DevExpress v7–v11)</a:t>
            </a:r>
            <a:endParaRPr lang="en-US" sz="1400" dirty="0"/>
          </a:p>
          <a:p>
            <a:pPr marL="177800" indent="-177800">
              <a:spcAft>
                <a:spcPts val="500"/>
              </a:spcAft>
              <a:buSzPct val="100000"/>
              <a:buChar char="•"/>
            </a:pPr>
            <a:r>
              <a:rPr lang="en-US" sz="1400" dirty="0">
                <a:solidFill>
                  <a:schemeClr val="tx1"/>
                </a:solidFill>
              </a:rPr>
              <a:t>BD local CMI con login SQL fijo</a:t>
            </a:r>
            <a:endParaRPr lang="en-US" sz="1400" dirty="0"/>
          </a:p>
        </p:txBody>
      </p:sp>
      <p:sp>
        <p:nvSpPr>
          <p:cNvPr id="10" name="APLICADO EN EVO-RRHH"/>
          <p:cNvSpPr/>
          <p:nvPr/>
        </p:nvSpPr>
        <p:spPr>
          <a:xfrm>
            <a:off x="4709160" y="1463040"/>
            <a:ext cx="3977640" cy="2743200"/>
          </a:xfrm>
          <a:prstGeom prst="roundRect">
            <a:avLst>
              <a:gd name="adj" fmla="val 2667"/>
            </a:avLst>
          </a:prstGeom>
          <a:solidFill>
            <a:schemeClr val="accent1">
              <a:alpha val="12000"/>
            </a:schemeClr>
          </a:solidFill>
          <a:ln/>
        </p:spPr>
      </p:sp>
      <p:sp>
        <p:nvSpPr>
          <p:cNvPr id="11" name="Text 8"/>
          <p:cNvSpPr txBox="1"/>
          <p:nvPr/>
        </p:nvSpPr>
        <p:spPr>
          <a:xfrm>
            <a:off x="4892040" y="1572768"/>
            <a:ext cx="3611880"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APLICADO EN EVO-RRHH</a:t>
            </a:r>
            <a:endParaRPr lang="en-US" sz="1200" dirty="0"/>
          </a:p>
        </p:txBody>
      </p:sp>
      <p:sp>
        <p:nvSpPr>
          <p:cNvPr id="12" name="Text 9"/>
          <p:cNvSpPr txBox="1"/>
          <p:nvPr/>
        </p:nvSpPr>
        <p:spPr>
          <a:xfrm>
            <a:off x="4892040" y="1920240"/>
            <a:ext cx="3611880" cy="2176272"/>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Web: ASP.NET Core MVC sobre .NET 10</a:t>
            </a:r>
            <a:endParaRPr lang="en-US" sz="1400" dirty="0"/>
          </a:p>
          <a:p>
            <a:pPr marL="177800" indent="-177800">
              <a:spcAft>
                <a:spcPts val="500"/>
              </a:spcAft>
              <a:buSzPct val="100000"/>
              <a:buChar char="•"/>
            </a:pPr>
            <a:r>
              <a:rPr lang="en-US" sz="1400" dirty="0">
                <a:solidFill>
                  <a:schemeClr val="tx1"/>
                </a:solidFill>
              </a:rPr>
              <a:t>Mismos módulos de RR.HH. (empleados, asistencia, permisos, ficha social…)</a:t>
            </a:r>
            <a:endParaRPr lang="en-US" sz="1400" dirty="0"/>
          </a:p>
          <a:p>
            <a:pPr marL="177800" indent="-177800">
              <a:spcAft>
                <a:spcPts val="500"/>
              </a:spcAft>
              <a:buSzPct val="100000"/>
              <a:buChar char="•"/>
            </a:pPr>
            <a:r>
              <a:rPr lang="en-US" sz="1400" dirty="0">
                <a:solidFill>
                  <a:schemeClr val="tx1"/>
                </a:solidFill>
              </a:rPr>
              <a:t>Interfaz nueva con Tailwind CSS</a:t>
            </a:r>
            <a:endParaRPr lang="en-US" sz="1400" dirty="0"/>
          </a:p>
          <a:p>
            <a:pPr marL="177800" indent="-177800">
              <a:spcAft>
                <a:spcPts val="500"/>
              </a:spcAft>
              <a:buSzPct val="100000"/>
              <a:buChar char="•"/>
            </a:pPr>
            <a:r>
              <a:rPr lang="en-US" sz="1400" dirty="0">
                <a:solidFill>
                  <a:schemeClr val="tx1"/>
                </a:solidFill>
              </a:rPr>
              <a:t>Datos migrados a RRHH_Normalizado</a:t>
            </a:r>
            <a:endParaRPr lang="en-US" sz="1400" dirty="0"/>
          </a:p>
        </p:txBody>
      </p:sp>
      <p:sp>
        <p:nvSpPr>
          <p:cNvPr id="13" name="Text 10"/>
          <p:cNvSpPr txBox="1"/>
          <p:nvPr/>
        </p:nvSpPr>
        <p:spPr>
          <a:xfrm>
            <a:off x="457200" y="4343400"/>
            <a:ext cx="8229600" cy="320040"/>
          </a:xfrm>
          <a:prstGeom prst="rect">
            <a:avLst/>
          </a:prstGeom>
          <a:noFill/>
          <a:ln/>
        </p:spPr>
        <p:txBody>
          <a:bodyPr wrap="square" lIns="0" tIns="0" rIns="0" bIns="0" rtlCol="0" anchor="ctr"/>
          <a:lstStyle/>
          <a:p>
            <a:pPr indent="0" marL="0">
              <a:buNone/>
            </a:pPr>
            <a:r>
              <a:rPr lang="en-US" sz="1100" b="1" dirty="0">
                <a:solidFill>
                  <a:schemeClr val="accent1"/>
                </a:solidFill>
                <a:latin typeface="Calibri" pitchFamily="34" charset="0"/>
                <a:ea typeface="Calibri" pitchFamily="34" charset="-122"/>
                <a:cs typeface="Calibri" pitchFamily="34" charset="-120"/>
              </a:rPr>
              <a:t>Dónde: </a:t>
            </a:r>
            <a:pPr indent="0" marL="0">
              <a:buNone/>
            </a:pPr>
            <a:r>
              <a:rPr lang="en-US" sz="1100" dirty="0">
                <a:solidFill>
                  <a:schemeClr val="tx1"/>
                </a:solidFill>
                <a:latin typeface="Courier New" pitchFamily="34" charset="0"/>
                <a:ea typeface="Courier New" pitchFamily="34" charset="-122"/>
                <a:cs typeface="Courier New" pitchFamily="34" charset="-120"/>
              </a:rPr>
              <a:t>Proyecto-Evo-RRLL/  ·  Program.cs  ·  Scripts/bd-Normalizada/</a:t>
            </a:r>
            <a:endParaRPr lang="en-US" sz="11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Insignia semana"/>
          <p:cNvSpPr/>
          <p:nvPr/>
        </p:nvSpPr>
        <p:spPr>
          <a:xfrm>
            <a:off x="457200" y="265176"/>
            <a:ext cx="548640" cy="548640"/>
          </a:xfrm>
          <a:prstGeom prst="ellipse">
            <a:avLst/>
          </a:prstGeom>
          <a:solidFill>
            <a:schemeClr val="accent2"/>
          </a:solidFill>
          <a:ln/>
        </p:spPr>
      </p:sp>
      <p:sp>
        <p:nvSpPr>
          <p:cNvPr id="4" name="Text 1"/>
          <p:cNvSpPr txBox="1"/>
          <p:nvPr/>
        </p:nvSpPr>
        <p:spPr>
          <a:xfrm>
            <a:off x="457200" y="265176"/>
            <a:ext cx="548640" cy="548640"/>
          </a:xfrm>
          <a:prstGeom prst="rect">
            <a:avLst/>
          </a:prstGeom>
          <a:noFill/>
          <a:ln/>
        </p:spPr>
        <p:txBody>
          <a:bodyPr wrap="square" lIns="0" tIns="0" rIns="0" bIns="0" rtlCol="0" anchor="ctr"/>
          <a:lstStyle/>
          <a:p>
            <a:pPr algn="ctr" indent="0" marL="0">
              <a:buNone/>
            </a:pPr>
            <a:r>
              <a:rPr lang="en-US" sz="1600" b="1" dirty="0">
                <a:solidFill>
                  <a:schemeClr val="tx2"/>
                </a:solidFill>
              </a:rPr>
              <a:t>S2</a:t>
            </a:r>
            <a:endParaRPr lang="en-US" sz="1600" dirty="0"/>
          </a:p>
        </p:txBody>
      </p:sp>
      <p:sp>
        <p:nvSpPr>
          <p:cNvPr id="5" name="Text 0"/>
          <p:cNvSpPr/>
          <p:nvPr>
            <p:ph idx="100" type="title" hasCustomPrompt="1"/>
          </p:nvPr>
        </p:nvSpPr>
        <p:spPr>
          <a:xfrm>
            <a:off x="1188720" y="256032"/>
            <a:ext cx="7498080" cy="566928"/>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Mantenimiento del software</a:t>
            </a:r>
            <a:endParaRPr lang="en-US" sz="2800" dirty="0"/>
          </a:p>
        </p:txBody>
      </p:sp>
      <p:sp>
        <p:nvSpPr>
          <p:cNvPr id="6" name="Text 3"/>
          <p:cNvSpPr txBox="1"/>
          <p:nvPr/>
        </p:nvSpPr>
        <p:spPr>
          <a:xfrm>
            <a:off x="457200" y="914400"/>
            <a:ext cx="8229600" cy="411480"/>
          </a:xfrm>
          <a:prstGeom prst="rect">
            <a:avLst/>
          </a:prstGeom>
          <a:noFill/>
          <a:ln/>
        </p:spPr>
        <p:txBody>
          <a:bodyPr wrap="square" lIns="0" tIns="0" rIns="0" bIns="0" rtlCol="0" anchor="ctr"/>
          <a:lstStyle/>
          <a:p>
            <a:pPr indent="0" marL="0">
              <a:buNone/>
            </a:pPr>
            <a:r>
              <a:rPr lang="en-US" sz="1400" b="1" dirty="0">
                <a:solidFill>
                  <a:schemeClr val="accent1"/>
                </a:solidFill>
              </a:rPr>
              <a:t>Concepto: </a:t>
            </a:r>
            <a:pPr indent="0" marL="0">
              <a:buNone/>
            </a:pPr>
            <a:r>
              <a:rPr lang="en-US" sz="1400" i="1" dirty="0">
                <a:solidFill>
                  <a:schemeClr val="tx1"/>
                </a:solidFill>
              </a:rPr>
              <a:t>modificar el software después de entregado para corregirlo, adaptarlo, mejorarlo o prevenir fallos.</a:t>
            </a:r>
            <a:endParaRPr lang="en-US" sz="1400" dirty="0"/>
          </a:p>
        </p:txBody>
      </p:sp>
      <p:sp>
        <p:nvSpPr>
          <p:cNvPr id="7" name="Correctivo"/>
          <p:cNvSpPr/>
          <p:nvPr/>
        </p:nvSpPr>
        <p:spPr>
          <a:xfrm>
            <a:off x="457200" y="1463040"/>
            <a:ext cx="1920240" cy="2468880"/>
          </a:xfrm>
          <a:prstGeom prst="roundRect">
            <a:avLst>
              <a:gd name="adj" fmla="val 3810"/>
            </a:avLst>
          </a:prstGeom>
          <a:solidFill>
            <a:schemeClr val="accent3">
              <a:alpha val="12000"/>
            </a:schemeClr>
          </a:solidFill>
          <a:ln/>
        </p:spPr>
      </p:sp>
      <p:sp>
        <p:nvSpPr>
          <p:cNvPr id="8" name="Shape 5"/>
          <p:cNvSpPr/>
          <p:nvPr/>
        </p:nvSpPr>
        <p:spPr>
          <a:xfrm>
            <a:off x="640080" y="1627632"/>
            <a:ext cx="384048" cy="384048"/>
          </a:xfrm>
          <a:prstGeom prst="ellipse">
            <a:avLst/>
          </a:prstGeom>
          <a:solidFill>
            <a:schemeClr val="accent3"/>
          </a:solidFill>
          <a:ln/>
        </p:spPr>
      </p:sp>
      <p:sp>
        <p:nvSpPr>
          <p:cNvPr id="9" name="Text 6"/>
          <p:cNvSpPr txBox="1"/>
          <p:nvPr/>
        </p:nvSpPr>
        <p:spPr>
          <a:xfrm>
            <a:off x="640080" y="1627632"/>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10" name="Text 7"/>
          <p:cNvSpPr txBox="1"/>
          <p:nvPr/>
        </p:nvSpPr>
        <p:spPr>
          <a:xfrm>
            <a:off x="640080" y="2103120"/>
            <a:ext cx="1645920" cy="320040"/>
          </a:xfrm>
          <a:prstGeom prst="rect">
            <a:avLst/>
          </a:prstGeom>
          <a:noFill/>
          <a:ln/>
        </p:spPr>
        <p:txBody>
          <a:bodyPr wrap="square" lIns="0" tIns="0" rIns="0" bIns="0" rtlCol="0" anchor="ctr"/>
          <a:lstStyle/>
          <a:p>
            <a:pPr indent="0" marL="0">
              <a:buNone/>
            </a:pPr>
            <a:r>
              <a:rPr lang="en-US" sz="1500" b="1" dirty="0">
                <a:solidFill>
                  <a:schemeClr val="tx2"/>
                </a:solidFill>
              </a:rPr>
              <a:t>Correctivo</a:t>
            </a:r>
            <a:endParaRPr lang="en-US" sz="1500" dirty="0"/>
          </a:p>
        </p:txBody>
      </p:sp>
      <p:sp>
        <p:nvSpPr>
          <p:cNvPr id="11" name="Text 8"/>
          <p:cNvSpPr txBox="1"/>
          <p:nvPr/>
        </p:nvSpPr>
        <p:spPr>
          <a:xfrm>
            <a:off x="640080" y="2468880"/>
            <a:ext cx="1600200" cy="1371600"/>
          </a:xfrm>
          <a:prstGeom prst="rect">
            <a:avLst/>
          </a:prstGeom>
          <a:noFill/>
          <a:ln/>
        </p:spPr>
        <p:txBody>
          <a:bodyPr wrap="square" lIns="0" tIns="0" rIns="0" bIns="0" rtlCol="0" anchor="t"/>
          <a:lstStyle/>
          <a:p>
            <a:pPr indent="0" marL="0">
              <a:buNone/>
            </a:pPr>
            <a:r>
              <a:rPr lang="en-US" sz="1300" dirty="0">
                <a:solidFill>
                  <a:schemeClr val="tx1"/>
                </a:solidFill>
              </a:rPr>
              <a:t>Beneficiarios se guardaban con N.º 0 y el segundo fallaba; Permiso daba error 500</a:t>
            </a:r>
            <a:endParaRPr lang="en-US" sz="1300" dirty="0"/>
          </a:p>
        </p:txBody>
      </p:sp>
      <p:sp>
        <p:nvSpPr>
          <p:cNvPr id="12" name="Adaptativo"/>
          <p:cNvSpPr/>
          <p:nvPr/>
        </p:nvSpPr>
        <p:spPr>
          <a:xfrm>
            <a:off x="2560320" y="1463040"/>
            <a:ext cx="1920240" cy="2468880"/>
          </a:xfrm>
          <a:prstGeom prst="roundRect">
            <a:avLst>
              <a:gd name="adj" fmla="val 3810"/>
            </a:avLst>
          </a:prstGeom>
          <a:solidFill>
            <a:schemeClr val="accent2">
              <a:alpha val="12000"/>
            </a:schemeClr>
          </a:solidFill>
          <a:ln/>
        </p:spPr>
      </p:sp>
      <p:sp>
        <p:nvSpPr>
          <p:cNvPr id="13" name="Shape 10"/>
          <p:cNvSpPr/>
          <p:nvPr/>
        </p:nvSpPr>
        <p:spPr>
          <a:xfrm>
            <a:off x="2743200" y="1627632"/>
            <a:ext cx="384048" cy="384048"/>
          </a:xfrm>
          <a:prstGeom prst="ellipse">
            <a:avLst/>
          </a:prstGeom>
          <a:solidFill>
            <a:schemeClr val="accent2"/>
          </a:solidFill>
          <a:ln/>
        </p:spPr>
      </p:sp>
      <p:sp>
        <p:nvSpPr>
          <p:cNvPr id="14" name="Text 11"/>
          <p:cNvSpPr txBox="1"/>
          <p:nvPr/>
        </p:nvSpPr>
        <p:spPr>
          <a:xfrm>
            <a:off x="2743200" y="1627632"/>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5" name="Text 12"/>
          <p:cNvSpPr txBox="1"/>
          <p:nvPr/>
        </p:nvSpPr>
        <p:spPr>
          <a:xfrm>
            <a:off x="2743200" y="2103120"/>
            <a:ext cx="1645920" cy="320040"/>
          </a:xfrm>
          <a:prstGeom prst="rect">
            <a:avLst/>
          </a:prstGeom>
          <a:noFill/>
          <a:ln/>
        </p:spPr>
        <p:txBody>
          <a:bodyPr wrap="square" lIns="0" tIns="0" rIns="0" bIns="0" rtlCol="0" anchor="ctr"/>
          <a:lstStyle/>
          <a:p>
            <a:pPr indent="0" marL="0">
              <a:buNone/>
            </a:pPr>
            <a:r>
              <a:rPr lang="en-US" sz="1500" b="1" dirty="0">
                <a:solidFill>
                  <a:schemeClr val="tx2"/>
                </a:solidFill>
              </a:rPr>
              <a:t>Adaptativo</a:t>
            </a:r>
            <a:endParaRPr lang="en-US" sz="1500" dirty="0"/>
          </a:p>
        </p:txBody>
      </p:sp>
      <p:sp>
        <p:nvSpPr>
          <p:cNvPr id="16" name="Text 13"/>
          <p:cNvSpPr txBox="1"/>
          <p:nvPr/>
        </p:nvSpPr>
        <p:spPr>
          <a:xfrm>
            <a:off x="2743200" y="2468880"/>
            <a:ext cx="1600200" cy="1371600"/>
          </a:xfrm>
          <a:prstGeom prst="rect">
            <a:avLst/>
          </a:prstGeom>
          <a:noFill/>
          <a:ln/>
        </p:spPr>
        <p:txBody>
          <a:bodyPr wrap="square" lIns="0" tIns="0" rIns="0" bIns="0" rtlCol="0" anchor="t"/>
          <a:lstStyle/>
          <a:p>
            <a:pPr indent="0" marL="0">
              <a:buNone/>
            </a:pPr>
            <a:r>
              <a:rPr lang="en-US" sz="1300" dirty="0">
                <a:solidFill>
                  <a:schemeClr val="tx1"/>
                </a:solidFill>
              </a:rPr>
              <a:t>Clave del admin leída de la configuración y de una variable de entorno</a:t>
            </a:r>
            <a:endParaRPr lang="en-US" sz="1300" dirty="0"/>
          </a:p>
        </p:txBody>
      </p:sp>
      <p:sp>
        <p:nvSpPr>
          <p:cNvPr id="17" name="Perfectivo"/>
          <p:cNvSpPr/>
          <p:nvPr/>
        </p:nvSpPr>
        <p:spPr>
          <a:xfrm>
            <a:off x="4663440" y="1463040"/>
            <a:ext cx="1920240" cy="2468880"/>
          </a:xfrm>
          <a:prstGeom prst="roundRect">
            <a:avLst>
              <a:gd name="adj" fmla="val 3810"/>
            </a:avLst>
          </a:prstGeom>
          <a:solidFill>
            <a:schemeClr val="accent1">
              <a:alpha val="12000"/>
            </a:schemeClr>
          </a:solidFill>
          <a:ln/>
        </p:spPr>
      </p:sp>
      <p:sp>
        <p:nvSpPr>
          <p:cNvPr id="18" name="Shape 15"/>
          <p:cNvSpPr/>
          <p:nvPr/>
        </p:nvSpPr>
        <p:spPr>
          <a:xfrm>
            <a:off x="4846320" y="1627632"/>
            <a:ext cx="384048" cy="384048"/>
          </a:xfrm>
          <a:prstGeom prst="ellipse">
            <a:avLst/>
          </a:prstGeom>
          <a:solidFill>
            <a:schemeClr val="accent1"/>
          </a:solidFill>
          <a:ln/>
        </p:spPr>
      </p:sp>
      <p:sp>
        <p:nvSpPr>
          <p:cNvPr id="19" name="Text 16"/>
          <p:cNvSpPr txBox="1"/>
          <p:nvPr/>
        </p:nvSpPr>
        <p:spPr>
          <a:xfrm>
            <a:off x="4846320" y="1627632"/>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0" name="Text 17"/>
          <p:cNvSpPr txBox="1"/>
          <p:nvPr/>
        </p:nvSpPr>
        <p:spPr>
          <a:xfrm>
            <a:off x="4846320" y="2103120"/>
            <a:ext cx="1645920" cy="320040"/>
          </a:xfrm>
          <a:prstGeom prst="rect">
            <a:avLst/>
          </a:prstGeom>
          <a:noFill/>
          <a:ln/>
        </p:spPr>
        <p:txBody>
          <a:bodyPr wrap="square" lIns="0" tIns="0" rIns="0" bIns="0" rtlCol="0" anchor="ctr"/>
          <a:lstStyle/>
          <a:p>
            <a:pPr indent="0" marL="0">
              <a:buNone/>
            </a:pPr>
            <a:r>
              <a:rPr lang="en-US" sz="1500" b="1" dirty="0">
                <a:solidFill>
                  <a:schemeClr val="tx2"/>
                </a:solidFill>
              </a:rPr>
              <a:t>Perfectivo</a:t>
            </a:r>
            <a:endParaRPr lang="en-US" sz="1500" dirty="0"/>
          </a:p>
        </p:txBody>
      </p:sp>
      <p:sp>
        <p:nvSpPr>
          <p:cNvPr id="21" name="Text 18"/>
          <p:cNvSpPr txBox="1"/>
          <p:nvPr/>
        </p:nvSpPr>
        <p:spPr>
          <a:xfrm>
            <a:off x="4846320" y="2468880"/>
            <a:ext cx="1600200" cy="1371600"/>
          </a:xfrm>
          <a:prstGeom prst="rect">
            <a:avLst/>
          </a:prstGeom>
          <a:noFill/>
          <a:ln/>
        </p:spPr>
        <p:txBody>
          <a:bodyPr wrap="square" lIns="0" tIns="0" rIns="0" bIns="0" rtlCol="0" anchor="t"/>
          <a:lstStyle/>
          <a:p>
            <a:pPr indent="0" marL="0">
              <a:buNone/>
            </a:pPr>
            <a:r>
              <a:rPr lang="en-US" sz="1300" dirty="0">
                <a:solidFill>
                  <a:schemeClr val="tx1"/>
                </a:solidFill>
              </a:rPr>
              <a:t>Bitácora de actividad, exportación a CSV y dashboard de inicio</a:t>
            </a:r>
            <a:endParaRPr lang="en-US" sz="1300" dirty="0"/>
          </a:p>
        </p:txBody>
      </p:sp>
      <p:sp>
        <p:nvSpPr>
          <p:cNvPr id="22" name="Preventivo"/>
          <p:cNvSpPr/>
          <p:nvPr/>
        </p:nvSpPr>
        <p:spPr>
          <a:xfrm>
            <a:off x="6766560" y="1463040"/>
            <a:ext cx="1920240" cy="2468880"/>
          </a:xfrm>
          <a:prstGeom prst="roundRect">
            <a:avLst>
              <a:gd name="adj" fmla="val 3810"/>
            </a:avLst>
          </a:prstGeom>
          <a:solidFill>
            <a:schemeClr val="tx2">
              <a:alpha val="12000"/>
            </a:schemeClr>
          </a:solidFill>
          <a:ln/>
        </p:spPr>
      </p:sp>
      <p:sp>
        <p:nvSpPr>
          <p:cNvPr id="23" name="Shape 20"/>
          <p:cNvSpPr/>
          <p:nvPr/>
        </p:nvSpPr>
        <p:spPr>
          <a:xfrm>
            <a:off x="6949440" y="1627632"/>
            <a:ext cx="384048" cy="384048"/>
          </a:xfrm>
          <a:prstGeom prst="ellipse">
            <a:avLst/>
          </a:prstGeom>
          <a:solidFill>
            <a:schemeClr val="tx2"/>
          </a:solidFill>
          <a:ln/>
        </p:spPr>
      </p:sp>
      <p:sp>
        <p:nvSpPr>
          <p:cNvPr id="24" name="Text 21"/>
          <p:cNvSpPr txBox="1"/>
          <p:nvPr/>
        </p:nvSpPr>
        <p:spPr>
          <a:xfrm>
            <a:off x="6949440" y="1627632"/>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5" name="Text 22"/>
          <p:cNvSpPr txBox="1"/>
          <p:nvPr/>
        </p:nvSpPr>
        <p:spPr>
          <a:xfrm>
            <a:off x="6949440" y="2103120"/>
            <a:ext cx="1645920" cy="320040"/>
          </a:xfrm>
          <a:prstGeom prst="rect">
            <a:avLst/>
          </a:prstGeom>
          <a:noFill/>
          <a:ln/>
        </p:spPr>
        <p:txBody>
          <a:bodyPr wrap="square" lIns="0" tIns="0" rIns="0" bIns="0" rtlCol="0" anchor="ctr"/>
          <a:lstStyle/>
          <a:p>
            <a:pPr indent="0" marL="0">
              <a:buNone/>
            </a:pPr>
            <a:r>
              <a:rPr lang="en-US" sz="1500" b="1" dirty="0">
                <a:solidFill>
                  <a:schemeClr val="tx2"/>
                </a:solidFill>
              </a:rPr>
              <a:t>Preventivo</a:t>
            </a:r>
            <a:endParaRPr lang="en-US" sz="1500" dirty="0"/>
          </a:p>
        </p:txBody>
      </p:sp>
      <p:sp>
        <p:nvSpPr>
          <p:cNvPr id="26" name="Text 23"/>
          <p:cNvSpPr txBox="1"/>
          <p:nvPr/>
        </p:nvSpPr>
        <p:spPr>
          <a:xfrm>
            <a:off x="6949440" y="2468880"/>
            <a:ext cx="1600200" cy="1371600"/>
          </a:xfrm>
          <a:prstGeom prst="rect">
            <a:avLst/>
          </a:prstGeom>
          <a:noFill/>
          <a:ln/>
        </p:spPr>
        <p:txBody>
          <a:bodyPr wrap="square" lIns="0" tIns="0" rIns="0" bIns="0" rtlCol="0" anchor="t"/>
          <a:lstStyle/>
          <a:p>
            <a:pPr indent="0" marL="0">
              <a:buNone/>
            </a:pPr>
            <a:r>
              <a:rPr lang="en-US" sz="1300" dirty="0">
                <a:solidFill>
                  <a:schemeClr val="tx1"/>
                </a:solidFill>
              </a:rPr>
              <a:t>ArquitecturaTests: falla si una capa vuelve a depender de la BD</a:t>
            </a:r>
            <a:endParaRPr lang="en-US" sz="1300" dirty="0"/>
          </a:p>
        </p:txBody>
      </p:sp>
      <p:sp>
        <p:nvSpPr>
          <p:cNvPr id="27" name="Text 24"/>
          <p:cNvSpPr txBox="1"/>
          <p:nvPr/>
        </p:nvSpPr>
        <p:spPr>
          <a:xfrm>
            <a:off x="457200" y="4069080"/>
            <a:ext cx="8229600" cy="320040"/>
          </a:xfrm>
          <a:prstGeom prst="rect">
            <a:avLst/>
          </a:prstGeom>
          <a:noFill/>
          <a:ln/>
        </p:spPr>
        <p:txBody>
          <a:bodyPr wrap="square" lIns="0" tIns="0" rIns="0" bIns="0" rtlCol="0" anchor="ctr"/>
          <a:lstStyle/>
          <a:p>
            <a:pPr indent="0" marL="0">
              <a:buNone/>
            </a:pPr>
            <a:r>
              <a:rPr lang="en-US" sz="1300" b="1" dirty="0">
                <a:solidFill>
                  <a:schemeClr val="accent3"/>
                </a:solidFill>
              </a:rPr>
              <a:t>Deuda técnica registrada: </a:t>
            </a:r>
            <a:pPr indent="0" marL="0">
              <a:buNone/>
            </a:pPr>
            <a:r>
              <a:rPr lang="en-US" sz="1300" dirty="0">
                <a:solidFill>
                  <a:schemeClr val="tx1"/>
                </a:solidFill>
              </a:rPr>
              <a:t>pantallas que cargan tablas completas en memoria → solicitud SC-005.</a:t>
            </a:r>
            <a:endParaRPr lang="en-US" sz="1300" dirty="0"/>
          </a:p>
        </p:txBody>
      </p:sp>
      <p:sp>
        <p:nvSpPr>
          <p:cNvPr id="28" name="Text 25"/>
          <p:cNvSpPr txBox="1"/>
          <p:nvPr/>
        </p:nvSpPr>
        <p:spPr>
          <a:xfrm>
            <a:off x="457200" y="4407408"/>
            <a:ext cx="8229600" cy="320040"/>
          </a:xfrm>
          <a:prstGeom prst="rect">
            <a:avLst/>
          </a:prstGeom>
          <a:noFill/>
          <a:ln/>
        </p:spPr>
        <p:txBody>
          <a:bodyPr wrap="square" lIns="0" tIns="0" rIns="0" bIns="0" rtlCol="0" anchor="ctr"/>
          <a:lstStyle/>
          <a:p>
            <a:pPr indent="0" marL="0">
              <a:buNone/>
            </a:pPr>
            <a:r>
              <a:rPr lang="en-US" sz="1100" b="1" dirty="0">
                <a:solidFill>
                  <a:schemeClr val="accent1"/>
                </a:solidFill>
                <a:latin typeface="Calibri" pitchFamily="34" charset="0"/>
                <a:ea typeface="Calibri" pitchFamily="34" charset="-122"/>
                <a:cs typeface="Calibri" pitchFamily="34" charset="-120"/>
              </a:rPr>
              <a:t>Dónde: </a:t>
            </a:r>
            <a:pPr indent="0" marL="0">
              <a:buNone/>
            </a:pPr>
            <a:r>
              <a:rPr lang="en-US" sz="1100" dirty="0">
                <a:solidFill>
                  <a:schemeClr val="tx1"/>
                </a:solidFill>
                <a:latin typeface="Courier New" pitchFamily="34" charset="0"/>
                <a:ea typeface="Courier New" pitchFamily="34" charset="-122"/>
                <a:cs typeface="Courier New" pitchFamily="34" charset="-120"/>
              </a:rPr>
              <a:t>FamiliaSaludController · Program.cs · Scripts/crear_bitacora.sql · ArquitecturaTests.cs</a:t>
            </a:r>
            <a:endParaRPr lang="en-US" sz="11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Insignia semana"/>
          <p:cNvSpPr/>
          <p:nvPr/>
        </p:nvSpPr>
        <p:spPr>
          <a:xfrm>
            <a:off x="457200" y="265176"/>
            <a:ext cx="548640" cy="548640"/>
          </a:xfrm>
          <a:prstGeom prst="ellipse">
            <a:avLst/>
          </a:prstGeom>
          <a:solidFill>
            <a:schemeClr val="accent2"/>
          </a:solidFill>
          <a:ln/>
        </p:spPr>
      </p:sp>
      <p:sp>
        <p:nvSpPr>
          <p:cNvPr id="4" name="Text 1"/>
          <p:cNvSpPr txBox="1"/>
          <p:nvPr/>
        </p:nvSpPr>
        <p:spPr>
          <a:xfrm>
            <a:off x="457200" y="265176"/>
            <a:ext cx="548640" cy="548640"/>
          </a:xfrm>
          <a:prstGeom prst="rect">
            <a:avLst/>
          </a:prstGeom>
          <a:noFill/>
          <a:ln/>
        </p:spPr>
        <p:txBody>
          <a:bodyPr wrap="square" lIns="0" tIns="0" rIns="0" bIns="0" rtlCol="0" anchor="ctr"/>
          <a:lstStyle/>
          <a:p>
            <a:pPr algn="ctr" indent="0" marL="0">
              <a:buNone/>
            </a:pPr>
            <a:r>
              <a:rPr lang="en-US" sz="1600" b="1" dirty="0">
                <a:solidFill>
                  <a:schemeClr val="tx2"/>
                </a:solidFill>
              </a:rPr>
              <a:t>S3</a:t>
            </a:r>
            <a:endParaRPr lang="en-US" sz="1600" dirty="0"/>
          </a:p>
        </p:txBody>
      </p:sp>
      <p:sp>
        <p:nvSpPr>
          <p:cNvPr id="5" name="Text 0"/>
          <p:cNvSpPr/>
          <p:nvPr>
            <p:ph idx="100" type="title" hasCustomPrompt="1"/>
          </p:nvPr>
        </p:nvSpPr>
        <p:spPr>
          <a:xfrm>
            <a:off x="1188720" y="256032"/>
            <a:ext cx="7498080" cy="566928"/>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Ingeniería inversa del sistema</a:t>
            </a:r>
            <a:endParaRPr lang="en-US" sz="2800" dirty="0"/>
          </a:p>
        </p:txBody>
      </p:sp>
      <p:sp>
        <p:nvSpPr>
          <p:cNvPr id="6" name="Text 3"/>
          <p:cNvSpPr txBox="1"/>
          <p:nvPr/>
        </p:nvSpPr>
        <p:spPr>
          <a:xfrm>
            <a:off x="457200" y="914400"/>
            <a:ext cx="8229600" cy="411480"/>
          </a:xfrm>
          <a:prstGeom prst="rect">
            <a:avLst/>
          </a:prstGeom>
          <a:noFill/>
          <a:ln/>
        </p:spPr>
        <p:txBody>
          <a:bodyPr wrap="square" lIns="0" tIns="0" rIns="0" bIns="0" rtlCol="0" anchor="ctr"/>
          <a:lstStyle/>
          <a:p>
            <a:pPr indent="0" marL="0">
              <a:buNone/>
            </a:pPr>
            <a:r>
              <a:rPr lang="en-US" sz="1400" b="1" dirty="0">
                <a:solidFill>
                  <a:schemeClr val="accent1"/>
                </a:solidFill>
              </a:rPr>
              <a:t>Concepto: </a:t>
            </a:r>
            <a:pPr indent="0" marL="0">
              <a:buNone/>
            </a:pPr>
            <a:r>
              <a:rPr lang="en-US" sz="1400" i="1" dirty="0">
                <a:solidFill>
                  <a:schemeClr val="tx1"/>
                </a:solidFill>
              </a:rPr>
              <a:t>analizar un sistema existente para recuperar su estructura y su diseño cuando no hay documentación.</a:t>
            </a:r>
            <a:endParaRPr lang="en-US" sz="1400" dirty="0"/>
          </a:p>
        </p:txBody>
      </p:sp>
      <p:sp>
        <p:nvSpPr>
          <p:cNvPr id="7" name="QUÉ RECUPERAMOS DE LOS BINARIOS"/>
          <p:cNvSpPr/>
          <p:nvPr/>
        </p:nvSpPr>
        <p:spPr>
          <a:xfrm>
            <a:off x="457200" y="1463040"/>
            <a:ext cx="3977640" cy="2743200"/>
          </a:xfrm>
          <a:prstGeom prst="roundRect">
            <a:avLst>
              <a:gd name="adj" fmla="val 2667"/>
            </a:avLst>
          </a:prstGeom>
          <a:solidFill>
            <a:schemeClr val="accent3">
              <a:alpha val="12000"/>
            </a:schemeClr>
          </a:solidFill>
          <a:ln/>
        </p:spPr>
      </p:sp>
      <p:sp>
        <p:nvSpPr>
          <p:cNvPr id="8" name="Text 5"/>
          <p:cNvSpPr txBox="1"/>
          <p:nvPr/>
        </p:nvSpPr>
        <p:spPr>
          <a:xfrm>
            <a:off x="640080" y="1572768"/>
            <a:ext cx="3611880" cy="274320"/>
          </a:xfrm>
          <a:prstGeom prst="rect">
            <a:avLst/>
          </a:prstGeom>
          <a:noFill/>
          <a:ln/>
        </p:spPr>
        <p:txBody>
          <a:bodyPr wrap="square" lIns="0" tIns="0" rIns="0" bIns="0" rtlCol="0" anchor="ctr"/>
          <a:lstStyle/>
          <a:p>
            <a:pPr indent="0" marL="0">
              <a:buNone/>
            </a:pPr>
            <a:r>
              <a:rPr lang="en-US" sz="1200" b="1" spc="100" kern="0" dirty="0">
                <a:solidFill>
                  <a:schemeClr val="accent3"/>
                </a:solidFill>
              </a:rPr>
              <a:t>QUÉ RECUPERAMOS DE LOS BINARIOS</a:t>
            </a:r>
            <a:endParaRPr lang="en-US" sz="1200" dirty="0"/>
          </a:p>
        </p:txBody>
      </p:sp>
      <p:sp>
        <p:nvSpPr>
          <p:cNvPr id="9" name="Text 6"/>
          <p:cNvSpPr txBox="1"/>
          <p:nvPr/>
        </p:nvSpPr>
        <p:spPr>
          <a:xfrm>
            <a:off x="640080" y="1920240"/>
            <a:ext cx="3611880" cy="2176272"/>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158 nombres de formularios y eventos (FrmPermiso, FrmFichaSocial…) → módulos</a:t>
            </a:r>
            <a:endParaRPr lang="en-US" sz="1400" dirty="0"/>
          </a:p>
          <a:p>
            <a:pPr marL="177800" indent="-177800">
              <a:spcAft>
                <a:spcPts val="500"/>
              </a:spcAft>
              <a:buSzPct val="100000"/>
              <a:buChar char="•"/>
            </a:pPr>
            <a:r>
              <a:rPr lang="en-US" sz="1400" dirty="0">
                <a:solidFill>
                  <a:schemeClr val="tx1"/>
                </a:solidFill>
              </a:rPr>
              <a:t>SQL embebido en ClassRRHH.dll</a:t>
            </a:r>
            <a:endParaRPr lang="en-US" sz="1400" dirty="0"/>
          </a:p>
          <a:p>
            <a:pPr marL="177800" indent="-177800">
              <a:spcAft>
                <a:spcPts val="500"/>
              </a:spcAft>
              <a:buSzPct val="100000"/>
              <a:buChar char="•"/>
            </a:pPr>
            <a:r>
              <a:rPr lang="en-US" sz="1400" dirty="0">
                <a:solidFill>
                  <a:schemeClr val="tx1"/>
                </a:solidFill>
              </a:rPr>
              <a:t>Procedimientos spRRHH_* del DataSet</a:t>
            </a:r>
            <a:endParaRPr lang="en-US" sz="1400" dirty="0"/>
          </a:p>
          <a:p>
            <a:pPr marL="177800" indent="-177800">
              <a:spcAft>
                <a:spcPts val="500"/>
              </a:spcAft>
              <a:buSzPct val="100000"/>
              <a:buChar char="•"/>
            </a:pPr>
            <a:r>
              <a:rPr lang="en-US" sz="1400" dirty="0">
                <a:solidFill>
                  <a:schemeClr val="tx1"/>
                </a:solidFill>
              </a:rPr>
              <a:t>Cadena de conexión del .exe.config</a:t>
            </a:r>
            <a:endParaRPr lang="en-US" sz="1400" dirty="0"/>
          </a:p>
        </p:txBody>
      </p:sp>
      <p:sp>
        <p:nvSpPr>
          <p:cNvPr id="10" name="Text 7"/>
          <p:cNvSpPr txBox="1"/>
          <p:nvPr/>
        </p:nvSpPr>
        <p:spPr>
          <a:xfrm>
            <a:off x="4709160" y="1463040"/>
            <a:ext cx="3977640" cy="274320"/>
          </a:xfrm>
          <a:prstGeom prst="rect">
            <a:avLst/>
          </a:prstGeom>
          <a:noFill/>
          <a:ln/>
        </p:spPr>
        <p:txBody>
          <a:bodyPr wrap="square" lIns="0" tIns="0" rIns="0" bIns="0" rtlCol="0" anchor="ctr"/>
          <a:lstStyle/>
          <a:p>
            <a:pPr indent="0" marL="0">
              <a:buNone/>
            </a:pPr>
            <a:r>
              <a:rPr lang="en-US" sz="1200" b="1" dirty="0">
                <a:solidFill>
                  <a:schemeClr val="accent1"/>
                </a:solidFill>
              </a:rPr>
              <a:t>Matriz módulos ↔ tablas (extracto)</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709160" y="1783080"/>
          <a:ext cx="3977640" cy="914400"/>
        </p:xfrm>
        <a:graphic>
          <a:graphicData uri="http://schemas.openxmlformats.org/drawingml/2006/table">
            <a:tbl>
              <a:tblPr/>
              <a:tblGrid>
                <a:gridCol w="1234440"/>
                <a:gridCol w="2743200"/>
              </a:tblGrid>
              <a:tr h="384048">
                <a:tc>
                  <a:txBody>
                    <a:bodyPr/>
                    <a:lstStyle/>
                    <a:p>
                      <a:pPr indent="0" marL="0">
                        <a:buNone/>
                      </a:pPr>
                      <a:r>
                        <a:rPr lang="en-US" sz="1200" b="1" dirty="0">
                          <a:solidFill>
                            <a:schemeClr val="bg1"/>
                          </a:solidFill>
                        </a:rPr>
                        <a:t>Módulo</a:t>
                      </a:r>
                      <a:endParaRPr lang="en-US" sz="1200" dirty="0"/>
                    </a:p>
                  </a:txBody>
                  <a:tcPr marL="91440" marR="91440" marT="45720" marB="45720">
                    <a:lnL w="9525" cap="flat" cmpd="sng" algn="ctr">
                      <a:solidFill>
                        <a:srgbClr val="D5E2DF"/>
                      </a:solidFill>
                      <a:prstDash val="solid"/>
                      <a:round/>
                      <a:headEnd type="none" w="med" len="med"/>
                      <a:tailEnd type="none" w="med" len="med"/>
                    </a:lnL>
                    <a:lnR w="9525" cap="flat" cmpd="sng" algn="ctr">
                      <a:solidFill>
                        <a:srgbClr val="D5E2DF"/>
                      </a:solidFill>
                      <a:prstDash val="solid"/>
                      <a:round/>
                      <a:headEnd type="none" w="med" len="med"/>
                      <a:tailEnd type="none" w="med" len="med"/>
                    </a:lnR>
                    <a:lnT w="9525" cap="flat" cmpd="sng" algn="ctr">
                      <a:solidFill>
                        <a:srgbClr val="D5E2DF"/>
                      </a:solidFill>
                      <a:prstDash val="solid"/>
                      <a:round/>
                      <a:headEnd type="none" w="med" len="med"/>
                      <a:tailEnd type="none" w="med" len="med"/>
                    </a:lnT>
                    <a:lnB w="9525" cap="flat" cmpd="sng" algn="ctr">
                      <a:solidFill>
                        <a:srgbClr val="D5E2D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Tablas que usa</a:t>
                      </a:r>
                      <a:endParaRPr lang="en-US" sz="1200" dirty="0"/>
                    </a:p>
                  </a:txBody>
                  <a:tcPr marL="91440" marR="91440" marT="45720" marB="45720">
                    <a:lnL w="9525" cap="flat" cmpd="sng" algn="ctr">
                      <a:solidFill>
                        <a:srgbClr val="D5E2DF"/>
                      </a:solidFill>
                      <a:prstDash val="solid"/>
                      <a:round/>
                      <a:headEnd type="none" w="med" len="med"/>
                      <a:tailEnd type="none" w="med" len="med"/>
                    </a:lnL>
                    <a:lnR w="9525" cap="flat" cmpd="sng" algn="ctr">
                      <a:solidFill>
                        <a:srgbClr val="D5E2DF"/>
                      </a:solidFill>
                      <a:prstDash val="solid"/>
                      <a:round/>
                      <a:headEnd type="none" w="med" len="med"/>
                      <a:tailEnd type="none" w="med" len="med"/>
                    </a:lnR>
                    <a:lnT w="9525" cap="flat" cmpd="sng" algn="ctr">
                      <a:solidFill>
                        <a:srgbClr val="D5E2DF"/>
                      </a:solidFill>
                      <a:prstDash val="solid"/>
                      <a:round/>
                      <a:headEnd type="none" w="med" len="med"/>
                      <a:tailEnd type="none" w="med" len="med"/>
                    </a:lnT>
                    <a:lnB w="9525" cap="flat" cmpd="sng" algn="ctr">
                      <a:solidFill>
                        <a:srgbClr val="D5E2DF"/>
                      </a:solidFill>
                      <a:prstDash val="solid"/>
                      <a:round/>
                      <a:headEnd type="none" w="med" len="med"/>
                      <a:tailEnd type="none" w="med" len="med"/>
                    </a:lnB>
                    <a:solidFill>
                      <a:schemeClr val="tx2"/>
                    </a:solidFill>
                  </a:tcPr>
                </a:tc>
              </a:tr>
              <a:tr h="384048">
                <a:tc>
                  <a:txBody>
                    <a:bodyPr/>
                    <a:lstStyle/>
                    <a:p>
                      <a:pPr indent="0" marL="0">
                        <a:buNone/>
                      </a:pPr>
                      <a:r>
                        <a:rPr lang="en-US" sz="1200" dirty="0">
                          <a:solidFill>
                            <a:schemeClr val="tx1"/>
                          </a:solidFill>
                        </a:rPr>
                        <a:t>Permiso</a:t>
                      </a:r>
                      <a:endParaRPr lang="en-US" sz="1200" dirty="0"/>
                    </a:p>
                  </a:txBody>
                  <a:tcPr marL="91440" marR="91440" marT="45720" marB="45720">
                    <a:lnL w="9525" cap="flat" cmpd="sng" algn="ctr">
                      <a:solidFill>
                        <a:srgbClr val="D5E2DF"/>
                      </a:solidFill>
                      <a:prstDash val="solid"/>
                      <a:round/>
                      <a:headEnd type="none" w="med" len="med"/>
                      <a:tailEnd type="none" w="med" len="med"/>
                    </a:lnL>
                    <a:lnR w="9525" cap="flat" cmpd="sng" algn="ctr">
                      <a:solidFill>
                        <a:srgbClr val="D5E2DF"/>
                      </a:solidFill>
                      <a:prstDash val="solid"/>
                      <a:round/>
                      <a:headEnd type="none" w="med" len="med"/>
                      <a:tailEnd type="none" w="med" len="med"/>
                    </a:lnR>
                    <a:lnT w="9525" cap="flat" cmpd="sng" algn="ctr">
                      <a:solidFill>
                        <a:srgbClr val="D5E2DF"/>
                      </a:solidFill>
                      <a:prstDash val="solid"/>
                      <a:round/>
                      <a:headEnd type="none" w="med" len="med"/>
                      <a:tailEnd type="none" w="med" len="med"/>
                    </a:lnT>
                    <a:lnB w="9525" cap="flat" cmpd="sng" algn="ctr">
                      <a:solidFill>
                        <a:srgbClr val="D5E2D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Permiso, Motivo_Perm</a:t>
                      </a:r>
                      <a:endParaRPr lang="en-US" sz="1200" dirty="0"/>
                    </a:p>
                  </a:txBody>
                  <a:tcPr marL="91440" marR="91440" marT="45720" marB="45720">
                    <a:lnL w="9525" cap="flat" cmpd="sng" algn="ctr">
                      <a:solidFill>
                        <a:srgbClr val="D5E2DF"/>
                      </a:solidFill>
                      <a:prstDash val="solid"/>
                      <a:round/>
                      <a:headEnd type="none" w="med" len="med"/>
                      <a:tailEnd type="none" w="med" len="med"/>
                    </a:lnL>
                    <a:lnR w="9525" cap="flat" cmpd="sng" algn="ctr">
                      <a:solidFill>
                        <a:srgbClr val="D5E2DF"/>
                      </a:solidFill>
                      <a:prstDash val="solid"/>
                      <a:round/>
                      <a:headEnd type="none" w="med" len="med"/>
                      <a:tailEnd type="none" w="med" len="med"/>
                    </a:lnR>
                    <a:lnT w="9525" cap="flat" cmpd="sng" algn="ctr">
                      <a:solidFill>
                        <a:srgbClr val="D5E2DF"/>
                      </a:solidFill>
                      <a:prstDash val="solid"/>
                      <a:round/>
                      <a:headEnd type="none" w="med" len="med"/>
                      <a:tailEnd type="none" w="med" len="med"/>
                    </a:lnT>
                    <a:lnB w="9525" cap="flat" cmpd="sng" algn="ctr">
                      <a:solidFill>
                        <a:srgbClr val="D5E2DF"/>
                      </a:solidFill>
                      <a:prstDash val="solid"/>
                      <a:round/>
                      <a:headEnd type="none" w="med" len="med"/>
                      <a:tailEnd type="none" w="med" len="med"/>
                    </a:lnB>
                    <a:solidFill>
                      <a:schemeClr val="bg1"/>
                    </a:solidFill>
                  </a:tcPr>
                </a:tc>
              </a:tr>
              <a:tr h="384048">
                <a:tc>
                  <a:txBody>
                    <a:bodyPr/>
                    <a:lstStyle/>
                    <a:p>
                      <a:pPr indent="0" marL="0">
                        <a:buNone/>
                      </a:pPr>
                      <a:r>
                        <a:rPr lang="en-US" sz="1200" dirty="0">
                          <a:solidFill>
                            <a:schemeClr val="tx1"/>
                          </a:solidFill>
                        </a:rPr>
                        <a:t>Asistencia</a:t>
                      </a:r>
                      <a:endParaRPr lang="en-US" sz="1200" dirty="0"/>
                    </a:p>
                  </a:txBody>
                  <a:tcPr marL="91440" marR="91440" marT="45720" marB="45720">
                    <a:lnL w="9525" cap="flat" cmpd="sng" algn="ctr">
                      <a:solidFill>
                        <a:srgbClr val="D5E2DF"/>
                      </a:solidFill>
                      <a:prstDash val="solid"/>
                      <a:round/>
                      <a:headEnd type="none" w="med" len="med"/>
                      <a:tailEnd type="none" w="med" len="med"/>
                    </a:lnL>
                    <a:lnR w="9525" cap="flat" cmpd="sng" algn="ctr">
                      <a:solidFill>
                        <a:srgbClr val="D5E2DF"/>
                      </a:solidFill>
                      <a:prstDash val="solid"/>
                      <a:round/>
                      <a:headEnd type="none" w="med" len="med"/>
                      <a:tailEnd type="none" w="med" len="med"/>
                    </a:lnR>
                    <a:lnT w="9525" cap="flat" cmpd="sng" algn="ctr">
                      <a:solidFill>
                        <a:srgbClr val="D5E2DF"/>
                      </a:solidFill>
                      <a:prstDash val="solid"/>
                      <a:round/>
                      <a:headEnd type="none" w="med" len="med"/>
                      <a:tailEnd type="none" w="med" len="med"/>
                    </a:lnT>
                    <a:lnB w="9525" cap="flat" cmpd="sng" algn="ctr">
                      <a:solidFill>
                        <a:srgbClr val="D5E2D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Asistencia, Marcacion, Horario…</a:t>
                      </a:r>
                      <a:endParaRPr lang="en-US" sz="1200" dirty="0"/>
                    </a:p>
                  </a:txBody>
                  <a:tcPr marL="91440" marR="91440" marT="45720" marB="45720">
                    <a:lnL w="9525" cap="flat" cmpd="sng" algn="ctr">
                      <a:solidFill>
                        <a:srgbClr val="D5E2DF"/>
                      </a:solidFill>
                      <a:prstDash val="solid"/>
                      <a:round/>
                      <a:headEnd type="none" w="med" len="med"/>
                      <a:tailEnd type="none" w="med" len="med"/>
                    </a:lnL>
                    <a:lnR w="9525" cap="flat" cmpd="sng" algn="ctr">
                      <a:solidFill>
                        <a:srgbClr val="D5E2DF"/>
                      </a:solidFill>
                      <a:prstDash val="solid"/>
                      <a:round/>
                      <a:headEnd type="none" w="med" len="med"/>
                      <a:tailEnd type="none" w="med" len="med"/>
                    </a:lnR>
                    <a:lnT w="9525" cap="flat" cmpd="sng" algn="ctr">
                      <a:solidFill>
                        <a:srgbClr val="D5E2DF"/>
                      </a:solidFill>
                      <a:prstDash val="solid"/>
                      <a:round/>
                      <a:headEnd type="none" w="med" len="med"/>
                      <a:tailEnd type="none" w="med" len="med"/>
                    </a:lnT>
                    <a:lnB w="9525" cap="flat" cmpd="sng" algn="ctr">
                      <a:solidFill>
                        <a:srgbClr val="D5E2DF"/>
                      </a:solidFill>
                      <a:prstDash val="solid"/>
                      <a:round/>
                      <a:headEnd type="none" w="med" len="med"/>
                      <a:tailEnd type="none" w="med" len="med"/>
                    </a:lnB>
                    <a:solidFill>
                      <a:schemeClr val="bg1"/>
                    </a:solidFill>
                  </a:tcPr>
                </a:tc>
              </a:tr>
              <a:tr h="384048">
                <a:tc>
                  <a:txBody>
                    <a:bodyPr/>
                    <a:lstStyle/>
                    <a:p>
                      <a:pPr indent="0" marL="0">
                        <a:buNone/>
                      </a:pPr>
                      <a:r>
                        <a:rPr lang="en-US" sz="1200" dirty="0">
                          <a:solidFill>
                            <a:schemeClr val="tx1"/>
                          </a:solidFill>
                        </a:rPr>
                        <a:t>Vivienda</a:t>
                      </a:r>
                      <a:endParaRPr lang="en-US" sz="1200" dirty="0"/>
                    </a:p>
                  </a:txBody>
                  <a:tcPr marL="91440" marR="91440" marT="45720" marB="45720">
                    <a:lnL w="9525" cap="flat" cmpd="sng" algn="ctr">
                      <a:solidFill>
                        <a:srgbClr val="D5E2DF"/>
                      </a:solidFill>
                      <a:prstDash val="solid"/>
                      <a:round/>
                      <a:headEnd type="none" w="med" len="med"/>
                      <a:tailEnd type="none" w="med" len="med"/>
                    </a:lnL>
                    <a:lnR w="9525" cap="flat" cmpd="sng" algn="ctr">
                      <a:solidFill>
                        <a:srgbClr val="D5E2DF"/>
                      </a:solidFill>
                      <a:prstDash val="solid"/>
                      <a:round/>
                      <a:headEnd type="none" w="med" len="med"/>
                      <a:tailEnd type="none" w="med" len="med"/>
                    </a:lnR>
                    <a:lnT w="9525" cap="flat" cmpd="sng" algn="ctr">
                      <a:solidFill>
                        <a:srgbClr val="D5E2DF"/>
                      </a:solidFill>
                      <a:prstDash val="solid"/>
                      <a:round/>
                      <a:headEnd type="none" w="med" len="med"/>
                      <a:tailEnd type="none" w="med" len="med"/>
                    </a:lnT>
                    <a:lnB w="9525" cap="flat" cmpd="sng" algn="ctr">
                      <a:solidFill>
                        <a:srgbClr val="D5E2D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Vivienda + 8 catálogos</a:t>
                      </a:r>
                      <a:endParaRPr lang="en-US" sz="1200" dirty="0"/>
                    </a:p>
                  </a:txBody>
                  <a:tcPr marL="91440" marR="91440" marT="45720" marB="45720">
                    <a:lnL w="9525" cap="flat" cmpd="sng" algn="ctr">
                      <a:solidFill>
                        <a:srgbClr val="D5E2DF"/>
                      </a:solidFill>
                      <a:prstDash val="solid"/>
                      <a:round/>
                      <a:headEnd type="none" w="med" len="med"/>
                      <a:tailEnd type="none" w="med" len="med"/>
                    </a:lnL>
                    <a:lnR w="9525" cap="flat" cmpd="sng" algn="ctr">
                      <a:solidFill>
                        <a:srgbClr val="D5E2DF"/>
                      </a:solidFill>
                      <a:prstDash val="solid"/>
                      <a:round/>
                      <a:headEnd type="none" w="med" len="med"/>
                      <a:tailEnd type="none" w="med" len="med"/>
                    </a:lnR>
                    <a:lnT w="9525" cap="flat" cmpd="sng" algn="ctr">
                      <a:solidFill>
                        <a:srgbClr val="D5E2DF"/>
                      </a:solidFill>
                      <a:prstDash val="solid"/>
                      <a:round/>
                      <a:headEnd type="none" w="med" len="med"/>
                      <a:tailEnd type="none" w="med" len="med"/>
                    </a:lnT>
                    <a:lnB w="9525" cap="flat" cmpd="sng" algn="ctr">
                      <a:solidFill>
                        <a:srgbClr val="D5E2DF"/>
                      </a:solidFill>
                      <a:prstDash val="solid"/>
                      <a:round/>
                      <a:headEnd type="none" w="med" len="med"/>
                      <a:tailEnd type="none" w="med" len="med"/>
                    </a:lnB>
                    <a:solidFill>
                      <a:schemeClr val="bg1"/>
                    </a:solidFill>
                  </a:tcPr>
                </a:tc>
              </a:tr>
              <a:tr h="384048">
                <a:tc>
                  <a:txBody>
                    <a:bodyPr/>
                    <a:lstStyle/>
                    <a:p>
                      <a:pPr indent="0" marL="0">
                        <a:buNone/>
                      </a:pPr>
                      <a:r>
                        <a:rPr lang="en-US" sz="1200" dirty="0">
                          <a:solidFill>
                            <a:schemeClr val="tx1"/>
                          </a:solidFill>
                        </a:rPr>
                        <a:t>Seguridad</a:t>
                      </a:r>
                      <a:endParaRPr lang="en-US" sz="1200" dirty="0"/>
                    </a:p>
                  </a:txBody>
                  <a:tcPr marL="91440" marR="91440" marT="45720" marB="45720">
                    <a:lnL w="9525" cap="flat" cmpd="sng" algn="ctr">
                      <a:solidFill>
                        <a:srgbClr val="D5E2DF"/>
                      </a:solidFill>
                      <a:prstDash val="solid"/>
                      <a:round/>
                      <a:headEnd type="none" w="med" len="med"/>
                      <a:tailEnd type="none" w="med" len="med"/>
                    </a:lnL>
                    <a:lnR w="9525" cap="flat" cmpd="sng" algn="ctr">
                      <a:solidFill>
                        <a:srgbClr val="D5E2DF"/>
                      </a:solidFill>
                      <a:prstDash val="solid"/>
                      <a:round/>
                      <a:headEnd type="none" w="med" len="med"/>
                      <a:tailEnd type="none" w="med" len="med"/>
                    </a:lnR>
                    <a:lnT w="9525" cap="flat" cmpd="sng" algn="ctr">
                      <a:solidFill>
                        <a:srgbClr val="D5E2DF"/>
                      </a:solidFill>
                      <a:prstDash val="solid"/>
                      <a:round/>
                      <a:headEnd type="none" w="med" len="med"/>
                      <a:tailEnd type="none" w="med" len="med"/>
                    </a:lnT>
                    <a:lnB w="9525" cap="flat" cmpd="sng" algn="ctr">
                      <a:solidFill>
                        <a:srgbClr val="D5E2D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Usuario, Rol, Rol_Acceso…</a:t>
                      </a:r>
                      <a:endParaRPr lang="en-US" sz="1200" dirty="0"/>
                    </a:p>
                  </a:txBody>
                  <a:tcPr marL="91440" marR="91440" marT="45720" marB="45720">
                    <a:lnL w="9525" cap="flat" cmpd="sng" algn="ctr">
                      <a:solidFill>
                        <a:srgbClr val="D5E2DF"/>
                      </a:solidFill>
                      <a:prstDash val="solid"/>
                      <a:round/>
                      <a:headEnd type="none" w="med" len="med"/>
                      <a:tailEnd type="none" w="med" len="med"/>
                    </a:lnL>
                    <a:lnR w="9525" cap="flat" cmpd="sng" algn="ctr">
                      <a:solidFill>
                        <a:srgbClr val="D5E2DF"/>
                      </a:solidFill>
                      <a:prstDash val="solid"/>
                      <a:round/>
                      <a:headEnd type="none" w="med" len="med"/>
                      <a:tailEnd type="none" w="med" len="med"/>
                    </a:lnR>
                    <a:lnT w="9525" cap="flat" cmpd="sng" algn="ctr">
                      <a:solidFill>
                        <a:srgbClr val="D5E2DF"/>
                      </a:solidFill>
                      <a:prstDash val="solid"/>
                      <a:round/>
                      <a:headEnd type="none" w="med" len="med"/>
                      <a:tailEnd type="none" w="med" len="med"/>
                    </a:lnT>
                    <a:lnB w="9525" cap="flat" cmpd="sng" algn="ctr">
                      <a:solidFill>
                        <a:srgbClr val="D5E2DF"/>
                      </a:solidFill>
                      <a:prstDash val="solid"/>
                      <a:round/>
                      <a:headEnd type="none" w="med" len="med"/>
                      <a:tailEnd type="none" w="med" len="med"/>
                    </a:lnB>
                    <a:solidFill>
                      <a:schemeClr val="bg1"/>
                    </a:solidFill>
                  </a:tcPr>
                </a:tc>
              </a:tr>
            </a:tbl>
          </a:graphicData>
        </a:graphic>
      </p:graphicFrame>
      <p:sp>
        <p:nvSpPr>
          <p:cNvPr id="12" name="Text 8"/>
          <p:cNvSpPr txBox="1"/>
          <p:nvPr/>
        </p:nvSpPr>
        <p:spPr>
          <a:xfrm>
            <a:off x="457200" y="4343400"/>
            <a:ext cx="8229600" cy="320040"/>
          </a:xfrm>
          <a:prstGeom prst="rect">
            <a:avLst/>
          </a:prstGeom>
          <a:noFill/>
          <a:ln/>
        </p:spPr>
        <p:txBody>
          <a:bodyPr wrap="square" lIns="0" tIns="0" rIns="0" bIns="0" rtlCol="0" anchor="ctr"/>
          <a:lstStyle/>
          <a:p>
            <a:pPr indent="0" marL="0">
              <a:buNone/>
            </a:pPr>
            <a:r>
              <a:rPr lang="en-US" sz="1100" b="1" dirty="0">
                <a:solidFill>
                  <a:schemeClr val="accent1"/>
                </a:solidFill>
                <a:latin typeface="Calibri" pitchFamily="34" charset="0"/>
                <a:ea typeface="Calibri" pitchFamily="34" charset="-122"/>
                <a:cs typeface="Calibri" pitchFamily="34" charset="-120"/>
              </a:rPr>
              <a:t>Dónde: </a:t>
            </a:r>
            <a:pPr indent="0" marL="0">
              <a:buNone/>
            </a:pPr>
            <a:r>
              <a:rPr lang="en-US" sz="1100" dirty="0">
                <a:solidFill>
                  <a:schemeClr val="tx1"/>
                </a:solidFill>
                <a:latin typeface="Courier New" pitchFamily="34" charset="0"/>
                <a:ea typeface="Courier New" pitchFamily="34" charset="-122"/>
                <a:cs typeface="Courier New" pitchFamily="34" charset="-120"/>
              </a:rPr>
              <a:t>Insumos base/Sistema · docs/TEMAS-DEL-CURSO.md (matriz completa, 16 módulos)</a:t>
            </a:r>
            <a:endParaRPr lang="en-US" sz="11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Insignia semana"/>
          <p:cNvSpPr/>
          <p:nvPr/>
        </p:nvSpPr>
        <p:spPr>
          <a:xfrm>
            <a:off x="457200" y="265176"/>
            <a:ext cx="548640" cy="548640"/>
          </a:xfrm>
          <a:prstGeom prst="ellipse">
            <a:avLst/>
          </a:prstGeom>
          <a:solidFill>
            <a:schemeClr val="accent2"/>
          </a:solidFill>
          <a:ln/>
        </p:spPr>
      </p:sp>
      <p:sp>
        <p:nvSpPr>
          <p:cNvPr id="4" name="Text 1"/>
          <p:cNvSpPr txBox="1"/>
          <p:nvPr/>
        </p:nvSpPr>
        <p:spPr>
          <a:xfrm>
            <a:off x="457200" y="265176"/>
            <a:ext cx="548640" cy="548640"/>
          </a:xfrm>
          <a:prstGeom prst="rect">
            <a:avLst/>
          </a:prstGeom>
          <a:noFill/>
          <a:ln/>
        </p:spPr>
        <p:txBody>
          <a:bodyPr wrap="square" lIns="0" tIns="0" rIns="0" bIns="0" rtlCol="0" anchor="ctr"/>
          <a:lstStyle/>
          <a:p>
            <a:pPr algn="ctr" indent="0" marL="0">
              <a:buNone/>
            </a:pPr>
            <a:r>
              <a:rPr lang="en-US" sz="1600" b="1" dirty="0">
                <a:solidFill>
                  <a:schemeClr val="tx2"/>
                </a:solidFill>
              </a:rPr>
              <a:t>S3</a:t>
            </a:r>
            <a:endParaRPr lang="en-US" sz="1600" dirty="0"/>
          </a:p>
        </p:txBody>
      </p:sp>
      <p:sp>
        <p:nvSpPr>
          <p:cNvPr id="5" name="Text 0"/>
          <p:cNvSpPr/>
          <p:nvPr>
            <p:ph idx="100" type="title" hasCustomPrompt="1"/>
          </p:nvPr>
        </p:nvSpPr>
        <p:spPr>
          <a:xfrm>
            <a:off x="1188720" y="256032"/>
            <a:ext cx="7498080" cy="566928"/>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Ingeniería inversa de la base de datos</a:t>
            </a:r>
            <a:endParaRPr lang="en-US" sz="2800" dirty="0"/>
          </a:p>
        </p:txBody>
      </p:sp>
      <p:sp>
        <p:nvSpPr>
          <p:cNvPr id="6" name="Text 3"/>
          <p:cNvSpPr txBox="1"/>
          <p:nvPr/>
        </p:nvSpPr>
        <p:spPr>
          <a:xfrm>
            <a:off x="457200" y="914400"/>
            <a:ext cx="8229600" cy="411480"/>
          </a:xfrm>
          <a:prstGeom prst="rect">
            <a:avLst/>
          </a:prstGeom>
          <a:noFill/>
          <a:ln/>
        </p:spPr>
        <p:txBody>
          <a:bodyPr wrap="square" lIns="0" tIns="0" rIns="0" bIns="0" rtlCol="0" anchor="ctr"/>
          <a:lstStyle/>
          <a:p>
            <a:pPr indent="0" marL="0">
              <a:buNone/>
            </a:pPr>
            <a:r>
              <a:rPr lang="en-US" sz="1400" b="1" dirty="0">
                <a:solidFill>
                  <a:schemeClr val="accent1"/>
                </a:solidFill>
              </a:rPr>
              <a:t>Concepto: </a:t>
            </a:r>
            <a:pPr indent="0" marL="0">
              <a:buNone/>
            </a:pPr>
            <a:r>
              <a:rPr lang="en-US" sz="1400" i="1" dirty="0">
                <a:solidFill>
                  <a:schemeClr val="tx1"/>
                </a:solidFill>
              </a:rPr>
              <a:t>recuperar claves y dependencias funcionales para llevar el modelo a una forma normal correcta.</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5760720" cy="914400"/>
        </p:xfrm>
        <a:graphic>
          <a:graphicData uri="http://schemas.openxmlformats.org/drawingml/2006/table">
            <a:tbl>
              <a:tblPr/>
              <a:tblGrid>
                <a:gridCol w="1234440"/>
                <a:gridCol w="1143000"/>
                <a:gridCol w="1005840"/>
                <a:gridCol w="2377440"/>
              </a:tblGrid>
              <a:tr h="411480">
                <a:tc>
                  <a:txBody>
                    <a:bodyPr/>
                    <a:lstStyle/>
                    <a:p>
                      <a:pPr indent="0" marL="0">
                        <a:buNone/>
                      </a:pPr>
                      <a:r>
                        <a:rPr lang="en-US" sz="1100" b="1" dirty="0">
                          <a:solidFill>
                            <a:schemeClr val="bg1"/>
                          </a:solidFill>
                        </a:rPr>
                        <a:t>Tabla</a:t>
                      </a:r>
                      <a:endParaRPr lang="en-US" sz="1100" dirty="0"/>
                    </a:p>
                  </a:txBody>
                  <a:tcPr marL="91440" marR="91440" marT="45720" marB="45720" anchor="ctr">
                    <a:lnL w="9525" cap="flat" cmpd="sng" algn="ctr">
                      <a:solidFill>
                        <a:srgbClr val="D5E2DF"/>
                      </a:solidFill>
                      <a:prstDash val="solid"/>
                      <a:round/>
                      <a:headEnd type="none" w="med" len="med"/>
                      <a:tailEnd type="none" w="med" len="med"/>
                    </a:lnL>
                    <a:lnR w="9525" cap="flat" cmpd="sng" algn="ctr">
                      <a:solidFill>
                        <a:srgbClr val="D5E2DF"/>
                      </a:solidFill>
                      <a:prstDash val="solid"/>
                      <a:round/>
                      <a:headEnd type="none" w="med" len="med"/>
                      <a:tailEnd type="none" w="med" len="med"/>
                    </a:lnR>
                    <a:lnT w="9525" cap="flat" cmpd="sng" algn="ctr">
                      <a:solidFill>
                        <a:srgbClr val="D5E2DF"/>
                      </a:solidFill>
                      <a:prstDash val="solid"/>
                      <a:round/>
                      <a:headEnd type="none" w="med" len="med"/>
                      <a:tailEnd type="none" w="med" len="med"/>
                    </a:lnT>
                    <a:lnB w="9525" cap="flat" cmpd="sng" algn="ctr">
                      <a:solidFill>
                        <a:srgbClr val="D5E2DF"/>
                      </a:solidFill>
                      <a:prstDash val="solid"/>
                      <a:round/>
                      <a:headEnd type="none" w="med" len="med"/>
                      <a:tailEnd type="none" w="med" len="med"/>
                    </a:lnB>
                    <a:solidFill>
                      <a:schemeClr val="tx2"/>
                    </a:solidFill>
                  </a:tcPr>
                </a:tc>
                <a:tc>
                  <a:txBody>
                    <a:bodyPr/>
                    <a:lstStyle/>
                    <a:p>
                      <a:pPr indent="0" marL="0">
                        <a:buNone/>
                      </a:pPr>
                      <a:r>
                        <a:rPr lang="en-US" sz="1100" b="1" dirty="0">
                          <a:solidFill>
                            <a:schemeClr val="bg1"/>
                          </a:solidFill>
                        </a:rPr>
                        <a:t>Antes</a:t>
                      </a:r>
                      <a:endParaRPr lang="en-US" sz="1100" dirty="0"/>
                    </a:p>
                  </a:txBody>
                  <a:tcPr marL="91440" marR="91440" marT="45720" marB="45720" anchor="ctr">
                    <a:lnL w="9525" cap="flat" cmpd="sng" algn="ctr">
                      <a:solidFill>
                        <a:srgbClr val="D5E2DF"/>
                      </a:solidFill>
                      <a:prstDash val="solid"/>
                      <a:round/>
                      <a:headEnd type="none" w="med" len="med"/>
                      <a:tailEnd type="none" w="med" len="med"/>
                    </a:lnL>
                    <a:lnR w="9525" cap="flat" cmpd="sng" algn="ctr">
                      <a:solidFill>
                        <a:srgbClr val="D5E2DF"/>
                      </a:solidFill>
                      <a:prstDash val="solid"/>
                      <a:round/>
                      <a:headEnd type="none" w="med" len="med"/>
                      <a:tailEnd type="none" w="med" len="med"/>
                    </a:lnR>
                    <a:lnT w="9525" cap="flat" cmpd="sng" algn="ctr">
                      <a:solidFill>
                        <a:srgbClr val="D5E2DF"/>
                      </a:solidFill>
                      <a:prstDash val="solid"/>
                      <a:round/>
                      <a:headEnd type="none" w="med" len="med"/>
                      <a:tailEnd type="none" w="med" len="med"/>
                    </a:lnT>
                    <a:lnB w="9525" cap="flat" cmpd="sng" algn="ctr">
                      <a:solidFill>
                        <a:srgbClr val="D5E2DF"/>
                      </a:solidFill>
                      <a:prstDash val="solid"/>
                      <a:round/>
                      <a:headEnd type="none" w="med" len="med"/>
                      <a:tailEnd type="none" w="med" len="med"/>
                    </a:lnB>
                    <a:solidFill>
                      <a:schemeClr val="tx2"/>
                    </a:solidFill>
                  </a:tcPr>
                </a:tc>
                <a:tc>
                  <a:txBody>
                    <a:bodyPr/>
                    <a:lstStyle/>
                    <a:p>
                      <a:pPr indent="0" marL="0">
                        <a:buNone/>
                      </a:pPr>
                      <a:r>
                        <a:rPr lang="en-US" sz="1100" b="1" dirty="0">
                          <a:solidFill>
                            <a:schemeClr val="bg1"/>
                          </a:solidFill>
                        </a:rPr>
                        <a:t>Ahora</a:t>
                      </a:r>
                      <a:endParaRPr lang="en-US" sz="1100" dirty="0"/>
                    </a:p>
                  </a:txBody>
                  <a:tcPr marL="91440" marR="91440" marT="45720" marB="45720" anchor="ctr">
                    <a:lnL w="9525" cap="flat" cmpd="sng" algn="ctr">
                      <a:solidFill>
                        <a:srgbClr val="D5E2DF"/>
                      </a:solidFill>
                      <a:prstDash val="solid"/>
                      <a:round/>
                      <a:headEnd type="none" w="med" len="med"/>
                      <a:tailEnd type="none" w="med" len="med"/>
                    </a:lnL>
                    <a:lnR w="9525" cap="flat" cmpd="sng" algn="ctr">
                      <a:solidFill>
                        <a:srgbClr val="D5E2DF"/>
                      </a:solidFill>
                      <a:prstDash val="solid"/>
                      <a:round/>
                      <a:headEnd type="none" w="med" len="med"/>
                      <a:tailEnd type="none" w="med" len="med"/>
                    </a:lnR>
                    <a:lnT w="9525" cap="flat" cmpd="sng" algn="ctr">
                      <a:solidFill>
                        <a:srgbClr val="D5E2DF"/>
                      </a:solidFill>
                      <a:prstDash val="solid"/>
                      <a:round/>
                      <a:headEnd type="none" w="med" len="med"/>
                      <a:tailEnd type="none" w="med" len="med"/>
                    </a:lnT>
                    <a:lnB w="9525" cap="flat" cmpd="sng" algn="ctr">
                      <a:solidFill>
                        <a:srgbClr val="D5E2DF"/>
                      </a:solidFill>
                      <a:prstDash val="solid"/>
                      <a:round/>
                      <a:headEnd type="none" w="med" len="med"/>
                      <a:tailEnd type="none" w="med" len="med"/>
                    </a:lnB>
                    <a:solidFill>
                      <a:schemeClr val="tx2"/>
                    </a:solidFill>
                  </a:tcPr>
                </a:tc>
                <a:tc>
                  <a:txBody>
                    <a:bodyPr/>
                    <a:lstStyle/>
                    <a:p>
                      <a:pPr indent="0" marL="0">
                        <a:buNone/>
                      </a:pPr>
                      <a:r>
                        <a:rPr lang="en-US" sz="1100" b="1" dirty="0">
                          <a:solidFill>
                            <a:schemeClr val="bg1"/>
                          </a:solidFill>
                        </a:rPr>
                        <a:t>Qué se hizo</a:t>
                      </a:r>
                      <a:endParaRPr lang="en-US" sz="1100" dirty="0"/>
                    </a:p>
                  </a:txBody>
                  <a:tcPr marL="91440" marR="91440" marT="45720" marB="45720" anchor="ctr">
                    <a:lnL w="9525" cap="flat" cmpd="sng" algn="ctr">
                      <a:solidFill>
                        <a:srgbClr val="D5E2DF"/>
                      </a:solidFill>
                      <a:prstDash val="solid"/>
                      <a:round/>
                      <a:headEnd type="none" w="med" len="med"/>
                      <a:tailEnd type="none" w="med" len="med"/>
                    </a:lnL>
                    <a:lnR w="9525" cap="flat" cmpd="sng" algn="ctr">
                      <a:solidFill>
                        <a:srgbClr val="D5E2DF"/>
                      </a:solidFill>
                      <a:prstDash val="solid"/>
                      <a:round/>
                      <a:headEnd type="none" w="med" len="med"/>
                      <a:tailEnd type="none" w="med" len="med"/>
                    </a:lnR>
                    <a:lnT w="9525" cap="flat" cmpd="sng" algn="ctr">
                      <a:solidFill>
                        <a:srgbClr val="D5E2DF"/>
                      </a:solidFill>
                      <a:prstDash val="solid"/>
                      <a:round/>
                      <a:headEnd type="none" w="med" len="med"/>
                      <a:tailEnd type="none" w="med" len="med"/>
                    </a:lnT>
                    <a:lnB w="9525" cap="flat" cmpd="sng" algn="ctr">
                      <a:solidFill>
                        <a:srgbClr val="D5E2DF"/>
                      </a:solidFill>
                      <a:prstDash val="solid"/>
                      <a:round/>
                      <a:headEnd type="none" w="med" len="med"/>
                      <a:tailEnd type="none" w="med" len="med"/>
                    </a:lnB>
                    <a:solidFill>
                      <a:schemeClr val="tx2"/>
                    </a:solidFill>
                  </a:tcPr>
                </a:tc>
              </a:tr>
              <a:tr h="411480">
                <a:tc>
                  <a:txBody>
                    <a:bodyPr/>
                    <a:lstStyle/>
                    <a:p>
                      <a:pPr indent="0" marL="0">
                        <a:buNone/>
                      </a:pPr>
                      <a:r>
                        <a:rPr lang="en-US" sz="1100" dirty="0">
                          <a:solidFill>
                            <a:schemeClr val="tx1"/>
                          </a:solidFill>
                        </a:rPr>
                        <a:t>Empleado</a:t>
                      </a:r>
                      <a:endParaRPr lang="en-US" sz="1100" dirty="0"/>
                    </a:p>
                  </a:txBody>
                  <a:tcPr marL="91440" marR="91440" marT="45720" marB="45720" anchor="ctr">
                    <a:lnL w="9525" cap="flat" cmpd="sng" algn="ctr">
                      <a:solidFill>
                        <a:srgbClr val="D5E2DF"/>
                      </a:solidFill>
                      <a:prstDash val="solid"/>
                      <a:round/>
                      <a:headEnd type="none" w="med" len="med"/>
                      <a:tailEnd type="none" w="med" len="med"/>
                    </a:lnL>
                    <a:lnR w="9525" cap="flat" cmpd="sng" algn="ctr">
                      <a:solidFill>
                        <a:srgbClr val="D5E2DF"/>
                      </a:solidFill>
                      <a:prstDash val="solid"/>
                      <a:round/>
                      <a:headEnd type="none" w="med" len="med"/>
                      <a:tailEnd type="none" w="med" len="med"/>
                    </a:lnR>
                    <a:lnT w="9525" cap="flat" cmpd="sng" algn="ctr">
                      <a:solidFill>
                        <a:srgbClr val="D5E2DF"/>
                      </a:solidFill>
                      <a:prstDash val="solid"/>
                      <a:round/>
                      <a:headEnd type="none" w="med" len="med"/>
                      <a:tailEnd type="none" w="med" len="med"/>
                    </a:lnT>
                    <a:lnB w="9525" cap="flat" cmpd="sng" algn="ctr">
                      <a:solidFill>
                        <a:srgbClr val="D5E2DF"/>
                      </a:solidFill>
                      <a:prstDash val="solid"/>
                      <a:round/>
                      <a:headEnd type="none" w="med" len="med"/>
                      <a:tailEnd type="none" w="med" len="med"/>
                    </a:lnB>
                    <a:solidFill>
                      <a:schemeClr val="bg1"/>
                    </a:solidFill>
                  </a:tcPr>
                </a:tc>
                <a:tc>
                  <a:txBody>
                    <a:bodyPr/>
                    <a:lstStyle/>
                    <a:p>
                      <a:pPr indent="0" marL="0">
                        <a:buNone/>
                      </a:pPr>
                      <a:r>
                        <a:rPr lang="en-US" sz="1100" b="1" dirty="0">
                          <a:solidFill>
                            <a:schemeClr val="accent3"/>
                          </a:solidFill>
                        </a:rPr>
                        <a:t>✗ 1FN, 3FN</a:t>
                      </a:r>
                      <a:endParaRPr lang="en-US" sz="1100" dirty="0"/>
                    </a:p>
                  </a:txBody>
                  <a:tcPr marL="91440" marR="91440" marT="45720" marB="45720" anchor="ctr">
                    <a:lnL w="9525" cap="flat" cmpd="sng" algn="ctr">
                      <a:solidFill>
                        <a:srgbClr val="D5E2DF"/>
                      </a:solidFill>
                      <a:prstDash val="solid"/>
                      <a:round/>
                      <a:headEnd type="none" w="med" len="med"/>
                      <a:tailEnd type="none" w="med" len="med"/>
                    </a:lnL>
                    <a:lnR w="9525" cap="flat" cmpd="sng" algn="ctr">
                      <a:solidFill>
                        <a:srgbClr val="D5E2DF"/>
                      </a:solidFill>
                      <a:prstDash val="solid"/>
                      <a:round/>
                      <a:headEnd type="none" w="med" len="med"/>
                      <a:tailEnd type="none" w="med" len="med"/>
                    </a:lnR>
                    <a:lnT w="9525" cap="flat" cmpd="sng" algn="ctr">
                      <a:solidFill>
                        <a:srgbClr val="D5E2DF"/>
                      </a:solidFill>
                      <a:prstDash val="solid"/>
                      <a:round/>
                      <a:headEnd type="none" w="med" len="med"/>
                      <a:tailEnd type="none" w="med" len="med"/>
                    </a:lnT>
                    <a:lnB w="9525" cap="flat" cmpd="sng" algn="ctr">
                      <a:solidFill>
                        <a:srgbClr val="D5E2DF"/>
                      </a:solidFill>
                      <a:prstDash val="solid"/>
                      <a:round/>
                      <a:headEnd type="none" w="med" len="med"/>
                      <a:tailEnd type="none" w="med" len="med"/>
                    </a:lnB>
                    <a:solidFill>
                      <a:schemeClr val="bg1"/>
                    </a:solidFill>
                  </a:tcPr>
                </a:tc>
                <a:tc>
                  <a:txBody>
                    <a:bodyPr/>
                    <a:lstStyle/>
                    <a:p>
                      <a:pPr indent="0" marL="0">
                        <a:buNone/>
                      </a:pPr>
                      <a:r>
                        <a:rPr lang="en-US" sz="1100" b="1" dirty="0">
                          <a:solidFill>
                            <a:schemeClr val="accent1"/>
                          </a:solidFill>
                        </a:rPr>
                        <a:t>FNBC</a:t>
                      </a:r>
                      <a:endParaRPr lang="en-US" sz="1100" dirty="0"/>
                    </a:p>
                  </a:txBody>
                  <a:tcPr marL="91440" marR="91440" marT="45720" marB="45720" anchor="ctr">
                    <a:lnL w="9525" cap="flat" cmpd="sng" algn="ctr">
                      <a:solidFill>
                        <a:srgbClr val="D5E2DF"/>
                      </a:solidFill>
                      <a:prstDash val="solid"/>
                      <a:round/>
                      <a:headEnd type="none" w="med" len="med"/>
                      <a:tailEnd type="none" w="med" len="med"/>
                    </a:lnL>
                    <a:lnR w="9525" cap="flat" cmpd="sng" algn="ctr">
                      <a:solidFill>
                        <a:srgbClr val="D5E2DF"/>
                      </a:solidFill>
                      <a:prstDash val="solid"/>
                      <a:round/>
                      <a:headEnd type="none" w="med" len="med"/>
                      <a:tailEnd type="none" w="med" len="med"/>
                    </a:lnR>
                    <a:lnT w="9525" cap="flat" cmpd="sng" algn="ctr">
                      <a:solidFill>
                        <a:srgbClr val="D5E2DF"/>
                      </a:solidFill>
                      <a:prstDash val="solid"/>
                      <a:round/>
                      <a:headEnd type="none" w="med" len="med"/>
                      <a:tailEnd type="none" w="med" len="med"/>
                    </a:lnT>
                    <a:lnB w="9525" cap="flat" cmpd="sng" algn="ctr">
                      <a:solidFill>
                        <a:srgbClr val="D5E2DF"/>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Datos personales → Persona; resoluciones → filas</a:t>
                      </a:r>
                      <a:endParaRPr lang="en-US" sz="1100" dirty="0"/>
                    </a:p>
                  </a:txBody>
                  <a:tcPr marL="91440" marR="91440" marT="45720" marB="45720" anchor="ctr">
                    <a:lnL w="9525" cap="flat" cmpd="sng" algn="ctr">
                      <a:solidFill>
                        <a:srgbClr val="D5E2DF"/>
                      </a:solidFill>
                      <a:prstDash val="solid"/>
                      <a:round/>
                      <a:headEnd type="none" w="med" len="med"/>
                      <a:tailEnd type="none" w="med" len="med"/>
                    </a:lnL>
                    <a:lnR w="9525" cap="flat" cmpd="sng" algn="ctr">
                      <a:solidFill>
                        <a:srgbClr val="D5E2DF"/>
                      </a:solidFill>
                      <a:prstDash val="solid"/>
                      <a:round/>
                      <a:headEnd type="none" w="med" len="med"/>
                      <a:tailEnd type="none" w="med" len="med"/>
                    </a:lnR>
                    <a:lnT w="9525" cap="flat" cmpd="sng" algn="ctr">
                      <a:solidFill>
                        <a:srgbClr val="D5E2DF"/>
                      </a:solidFill>
                      <a:prstDash val="solid"/>
                      <a:round/>
                      <a:headEnd type="none" w="med" len="med"/>
                      <a:tailEnd type="none" w="med" len="med"/>
                    </a:lnT>
                    <a:lnB w="9525" cap="flat" cmpd="sng" algn="ctr">
                      <a:solidFill>
                        <a:srgbClr val="D5E2DF"/>
                      </a:solidFill>
                      <a:prstDash val="solid"/>
                      <a:round/>
                      <a:headEnd type="none" w="med" len="med"/>
                      <a:tailEnd type="none" w="med" len="med"/>
                    </a:lnB>
                    <a:solidFill>
                      <a:schemeClr val="bg1"/>
                    </a:solidFill>
                  </a:tcPr>
                </a:tc>
              </a:tr>
              <a:tr h="411480">
                <a:tc>
                  <a:txBody>
                    <a:bodyPr/>
                    <a:lstStyle/>
                    <a:p>
                      <a:pPr indent="0" marL="0">
                        <a:buNone/>
                      </a:pPr>
                      <a:r>
                        <a:rPr lang="en-US" sz="1100" dirty="0">
                          <a:solidFill>
                            <a:schemeClr val="tx1"/>
                          </a:solidFill>
                        </a:rPr>
                        <a:t>Familiar</a:t>
                      </a:r>
                      <a:endParaRPr lang="en-US" sz="1100" dirty="0"/>
                    </a:p>
                  </a:txBody>
                  <a:tcPr marL="91440" marR="91440" marT="45720" marB="45720" anchor="ctr">
                    <a:lnL w="9525" cap="flat" cmpd="sng" algn="ctr">
                      <a:solidFill>
                        <a:srgbClr val="D5E2DF"/>
                      </a:solidFill>
                      <a:prstDash val="solid"/>
                      <a:round/>
                      <a:headEnd type="none" w="med" len="med"/>
                      <a:tailEnd type="none" w="med" len="med"/>
                    </a:lnL>
                    <a:lnR w="9525" cap="flat" cmpd="sng" algn="ctr">
                      <a:solidFill>
                        <a:srgbClr val="D5E2DF"/>
                      </a:solidFill>
                      <a:prstDash val="solid"/>
                      <a:round/>
                      <a:headEnd type="none" w="med" len="med"/>
                      <a:tailEnd type="none" w="med" len="med"/>
                    </a:lnR>
                    <a:lnT w="9525" cap="flat" cmpd="sng" algn="ctr">
                      <a:solidFill>
                        <a:srgbClr val="D5E2DF"/>
                      </a:solidFill>
                      <a:prstDash val="solid"/>
                      <a:round/>
                      <a:headEnd type="none" w="med" len="med"/>
                      <a:tailEnd type="none" w="med" len="med"/>
                    </a:lnT>
                    <a:lnB w="9525" cap="flat" cmpd="sng" algn="ctr">
                      <a:solidFill>
                        <a:srgbClr val="D5E2DF"/>
                      </a:solidFill>
                      <a:prstDash val="solid"/>
                      <a:round/>
                      <a:headEnd type="none" w="med" len="med"/>
                      <a:tailEnd type="none" w="med" len="med"/>
                    </a:lnB>
                    <a:solidFill>
                      <a:schemeClr val="bg1"/>
                    </a:solidFill>
                  </a:tcPr>
                </a:tc>
                <a:tc>
                  <a:txBody>
                    <a:bodyPr/>
                    <a:lstStyle/>
                    <a:p>
                      <a:pPr indent="0" marL="0">
                        <a:buNone/>
                      </a:pPr>
                      <a:r>
                        <a:rPr lang="en-US" sz="1100" b="1" dirty="0">
                          <a:solidFill>
                            <a:schemeClr val="accent3"/>
                          </a:solidFill>
                        </a:rPr>
                        <a:t>✗ 2FN</a:t>
                      </a:r>
                      <a:endParaRPr lang="en-US" sz="1100" dirty="0"/>
                    </a:p>
                  </a:txBody>
                  <a:tcPr marL="91440" marR="91440" marT="45720" marB="45720" anchor="ctr">
                    <a:lnL w="9525" cap="flat" cmpd="sng" algn="ctr">
                      <a:solidFill>
                        <a:srgbClr val="D5E2DF"/>
                      </a:solidFill>
                      <a:prstDash val="solid"/>
                      <a:round/>
                      <a:headEnd type="none" w="med" len="med"/>
                      <a:tailEnd type="none" w="med" len="med"/>
                    </a:lnL>
                    <a:lnR w="9525" cap="flat" cmpd="sng" algn="ctr">
                      <a:solidFill>
                        <a:srgbClr val="D5E2DF"/>
                      </a:solidFill>
                      <a:prstDash val="solid"/>
                      <a:round/>
                      <a:headEnd type="none" w="med" len="med"/>
                      <a:tailEnd type="none" w="med" len="med"/>
                    </a:lnR>
                    <a:lnT w="9525" cap="flat" cmpd="sng" algn="ctr">
                      <a:solidFill>
                        <a:srgbClr val="D5E2DF"/>
                      </a:solidFill>
                      <a:prstDash val="solid"/>
                      <a:round/>
                      <a:headEnd type="none" w="med" len="med"/>
                      <a:tailEnd type="none" w="med" len="med"/>
                    </a:lnT>
                    <a:lnB w="9525" cap="flat" cmpd="sng" algn="ctr">
                      <a:solidFill>
                        <a:srgbClr val="D5E2DF"/>
                      </a:solidFill>
                      <a:prstDash val="solid"/>
                      <a:round/>
                      <a:headEnd type="none" w="med" len="med"/>
                      <a:tailEnd type="none" w="med" len="med"/>
                    </a:lnB>
                    <a:solidFill>
                      <a:schemeClr val="bg1"/>
                    </a:solidFill>
                  </a:tcPr>
                </a:tc>
                <a:tc>
                  <a:txBody>
                    <a:bodyPr/>
                    <a:lstStyle/>
                    <a:p>
                      <a:pPr indent="0" marL="0">
                        <a:buNone/>
                      </a:pPr>
                      <a:r>
                        <a:rPr lang="en-US" sz="1100" b="1" dirty="0">
                          <a:solidFill>
                            <a:schemeClr val="accent1"/>
                          </a:solidFill>
                        </a:rPr>
                        <a:t>FNBC</a:t>
                      </a:r>
                      <a:endParaRPr lang="en-US" sz="1100" dirty="0"/>
                    </a:p>
                  </a:txBody>
                  <a:tcPr marL="91440" marR="91440" marT="45720" marB="45720" anchor="ctr">
                    <a:lnL w="9525" cap="flat" cmpd="sng" algn="ctr">
                      <a:solidFill>
                        <a:srgbClr val="D5E2DF"/>
                      </a:solidFill>
                      <a:prstDash val="solid"/>
                      <a:round/>
                      <a:headEnd type="none" w="med" len="med"/>
                      <a:tailEnd type="none" w="med" len="med"/>
                    </a:lnL>
                    <a:lnR w="9525" cap="flat" cmpd="sng" algn="ctr">
                      <a:solidFill>
                        <a:srgbClr val="D5E2DF"/>
                      </a:solidFill>
                      <a:prstDash val="solid"/>
                      <a:round/>
                      <a:headEnd type="none" w="med" len="med"/>
                      <a:tailEnd type="none" w="med" len="med"/>
                    </a:lnR>
                    <a:lnT w="9525" cap="flat" cmpd="sng" algn="ctr">
                      <a:solidFill>
                        <a:srgbClr val="D5E2DF"/>
                      </a:solidFill>
                      <a:prstDash val="solid"/>
                      <a:round/>
                      <a:headEnd type="none" w="med" len="med"/>
                      <a:tailEnd type="none" w="med" len="med"/>
                    </a:lnT>
                    <a:lnB w="9525" cap="flat" cmpd="sng" algn="ctr">
                      <a:solidFill>
                        <a:srgbClr val="D5E2DF"/>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Lo que depende solo de IdPersona sale de la tabla</a:t>
                      </a:r>
                      <a:endParaRPr lang="en-US" sz="1100" dirty="0"/>
                    </a:p>
                  </a:txBody>
                  <a:tcPr marL="91440" marR="91440" marT="45720" marB="45720" anchor="ctr">
                    <a:lnL w="9525" cap="flat" cmpd="sng" algn="ctr">
                      <a:solidFill>
                        <a:srgbClr val="D5E2DF"/>
                      </a:solidFill>
                      <a:prstDash val="solid"/>
                      <a:round/>
                      <a:headEnd type="none" w="med" len="med"/>
                      <a:tailEnd type="none" w="med" len="med"/>
                    </a:lnL>
                    <a:lnR w="9525" cap="flat" cmpd="sng" algn="ctr">
                      <a:solidFill>
                        <a:srgbClr val="D5E2DF"/>
                      </a:solidFill>
                      <a:prstDash val="solid"/>
                      <a:round/>
                      <a:headEnd type="none" w="med" len="med"/>
                      <a:tailEnd type="none" w="med" len="med"/>
                    </a:lnR>
                    <a:lnT w="9525" cap="flat" cmpd="sng" algn="ctr">
                      <a:solidFill>
                        <a:srgbClr val="D5E2DF"/>
                      </a:solidFill>
                      <a:prstDash val="solid"/>
                      <a:round/>
                      <a:headEnd type="none" w="med" len="med"/>
                      <a:tailEnd type="none" w="med" len="med"/>
                    </a:lnT>
                    <a:lnB w="9525" cap="flat" cmpd="sng" algn="ctr">
                      <a:solidFill>
                        <a:srgbClr val="D5E2DF"/>
                      </a:solidFill>
                      <a:prstDash val="solid"/>
                      <a:round/>
                      <a:headEnd type="none" w="med" len="med"/>
                      <a:tailEnd type="none" w="med" len="med"/>
                    </a:lnB>
                    <a:solidFill>
                      <a:schemeClr val="bg1"/>
                    </a:solidFill>
                  </a:tcPr>
                </a:tc>
              </a:tr>
              <a:tr h="411480">
                <a:tc>
                  <a:txBody>
                    <a:bodyPr/>
                    <a:lstStyle/>
                    <a:p>
                      <a:pPr indent="0" marL="0">
                        <a:buNone/>
                      </a:pPr>
                      <a:r>
                        <a:rPr lang="en-US" sz="1100" dirty="0">
                          <a:solidFill>
                            <a:schemeClr val="tx1"/>
                          </a:solidFill>
                        </a:rPr>
                        <a:t>Marcacion</a:t>
                      </a:r>
                      <a:endParaRPr lang="en-US" sz="1100" dirty="0"/>
                    </a:p>
                  </a:txBody>
                  <a:tcPr marL="91440" marR="91440" marT="45720" marB="45720" anchor="ctr">
                    <a:lnL w="9525" cap="flat" cmpd="sng" algn="ctr">
                      <a:solidFill>
                        <a:srgbClr val="D5E2DF"/>
                      </a:solidFill>
                      <a:prstDash val="solid"/>
                      <a:round/>
                      <a:headEnd type="none" w="med" len="med"/>
                      <a:tailEnd type="none" w="med" len="med"/>
                    </a:lnL>
                    <a:lnR w="9525" cap="flat" cmpd="sng" algn="ctr">
                      <a:solidFill>
                        <a:srgbClr val="D5E2DF"/>
                      </a:solidFill>
                      <a:prstDash val="solid"/>
                      <a:round/>
                      <a:headEnd type="none" w="med" len="med"/>
                      <a:tailEnd type="none" w="med" len="med"/>
                    </a:lnR>
                    <a:lnT w="9525" cap="flat" cmpd="sng" algn="ctr">
                      <a:solidFill>
                        <a:srgbClr val="D5E2DF"/>
                      </a:solidFill>
                      <a:prstDash val="solid"/>
                      <a:round/>
                      <a:headEnd type="none" w="med" len="med"/>
                      <a:tailEnd type="none" w="med" len="med"/>
                    </a:lnT>
                    <a:lnB w="9525" cap="flat" cmpd="sng" algn="ctr">
                      <a:solidFill>
                        <a:srgbClr val="D5E2DF"/>
                      </a:solidFill>
                      <a:prstDash val="solid"/>
                      <a:round/>
                      <a:headEnd type="none" w="med" len="med"/>
                      <a:tailEnd type="none" w="med" len="med"/>
                    </a:lnB>
                    <a:solidFill>
                      <a:schemeClr val="bg1"/>
                    </a:solidFill>
                  </a:tcPr>
                </a:tc>
                <a:tc>
                  <a:txBody>
                    <a:bodyPr/>
                    <a:lstStyle/>
                    <a:p>
                      <a:pPr indent="0" marL="0">
                        <a:buNone/>
                      </a:pPr>
                      <a:r>
                        <a:rPr lang="en-US" sz="1100" b="1" dirty="0">
                          <a:solidFill>
                            <a:schemeClr val="accent3"/>
                          </a:solidFill>
                        </a:rPr>
                        <a:t>✗ 1FN</a:t>
                      </a:r>
                      <a:endParaRPr lang="en-US" sz="1100" dirty="0"/>
                    </a:p>
                  </a:txBody>
                  <a:tcPr marL="91440" marR="91440" marT="45720" marB="45720" anchor="ctr">
                    <a:lnL w="9525" cap="flat" cmpd="sng" algn="ctr">
                      <a:solidFill>
                        <a:srgbClr val="D5E2DF"/>
                      </a:solidFill>
                      <a:prstDash val="solid"/>
                      <a:round/>
                      <a:headEnd type="none" w="med" len="med"/>
                      <a:tailEnd type="none" w="med" len="med"/>
                    </a:lnL>
                    <a:lnR w="9525" cap="flat" cmpd="sng" algn="ctr">
                      <a:solidFill>
                        <a:srgbClr val="D5E2DF"/>
                      </a:solidFill>
                      <a:prstDash val="solid"/>
                      <a:round/>
                      <a:headEnd type="none" w="med" len="med"/>
                      <a:tailEnd type="none" w="med" len="med"/>
                    </a:lnR>
                    <a:lnT w="9525" cap="flat" cmpd="sng" algn="ctr">
                      <a:solidFill>
                        <a:srgbClr val="D5E2DF"/>
                      </a:solidFill>
                      <a:prstDash val="solid"/>
                      <a:round/>
                      <a:headEnd type="none" w="med" len="med"/>
                      <a:tailEnd type="none" w="med" len="med"/>
                    </a:lnT>
                    <a:lnB w="9525" cap="flat" cmpd="sng" algn="ctr">
                      <a:solidFill>
                        <a:srgbClr val="D5E2DF"/>
                      </a:solidFill>
                      <a:prstDash val="solid"/>
                      <a:round/>
                      <a:headEnd type="none" w="med" len="med"/>
                      <a:tailEnd type="none" w="med" len="med"/>
                    </a:lnB>
                    <a:solidFill>
                      <a:schemeClr val="bg1"/>
                    </a:solidFill>
                  </a:tcPr>
                </a:tc>
                <a:tc>
                  <a:txBody>
                    <a:bodyPr/>
                    <a:lstStyle/>
                    <a:p>
                      <a:pPr indent="0" marL="0">
                        <a:buNone/>
                      </a:pPr>
                      <a:r>
                        <a:rPr lang="en-US" sz="1100" b="1" dirty="0">
                          <a:solidFill>
                            <a:schemeClr val="accent1"/>
                          </a:solidFill>
                        </a:rPr>
                        <a:t>FNBC</a:t>
                      </a:r>
                      <a:endParaRPr lang="en-US" sz="1100" dirty="0"/>
                    </a:p>
                  </a:txBody>
                  <a:tcPr marL="91440" marR="91440" marT="45720" marB="45720" anchor="ctr">
                    <a:lnL w="9525" cap="flat" cmpd="sng" algn="ctr">
                      <a:solidFill>
                        <a:srgbClr val="D5E2DF"/>
                      </a:solidFill>
                      <a:prstDash val="solid"/>
                      <a:round/>
                      <a:headEnd type="none" w="med" len="med"/>
                      <a:tailEnd type="none" w="med" len="med"/>
                    </a:lnL>
                    <a:lnR w="9525" cap="flat" cmpd="sng" algn="ctr">
                      <a:solidFill>
                        <a:srgbClr val="D5E2DF"/>
                      </a:solidFill>
                      <a:prstDash val="solid"/>
                      <a:round/>
                      <a:headEnd type="none" w="med" len="med"/>
                      <a:tailEnd type="none" w="med" len="med"/>
                    </a:lnR>
                    <a:lnT w="9525" cap="flat" cmpd="sng" algn="ctr">
                      <a:solidFill>
                        <a:srgbClr val="D5E2DF"/>
                      </a:solidFill>
                      <a:prstDash val="solid"/>
                      <a:round/>
                      <a:headEnd type="none" w="med" len="med"/>
                      <a:tailEnd type="none" w="med" len="med"/>
                    </a:lnT>
                    <a:lnB w="9525" cap="flat" cmpd="sng" algn="ctr">
                      <a:solidFill>
                        <a:srgbClr val="D5E2DF"/>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'1N' → NroMarcacion + TipoMarcacion</a:t>
                      </a:r>
                      <a:endParaRPr lang="en-US" sz="1100" dirty="0"/>
                    </a:p>
                  </a:txBody>
                  <a:tcPr marL="91440" marR="91440" marT="45720" marB="45720" anchor="ctr">
                    <a:lnL w="9525" cap="flat" cmpd="sng" algn="ctr">
                      <a:solidFill>
                        <a:srgbClr val="D5E2DF"/>
                      </a:solidFill>
                      <a:prstDash val="solid"/>
                      <a:round/>
                      <a:headEnd type="none" w="med" len="med"/>
                      <a:tailEnd type="none" w="med" len="med"/>
                    </a:lnL>
                    <a:lnR w="9525" cap="flat" cmpd="sng" algn="ctr">
                      <a:solidFill>
                        <a:srgbClr val="D5E2DF"/>
                      </a:solidFill>
                      <a:prstDash val="solid"/>
                      <a:round/>
                      <a:headEnd type="none" w="med" len="med"/>
                      <a:tailEnd type="none" w="med" len="med"/>
                    </a:lnR>
                    <a:lnT w="9525" cap="flat" cmpd="sng" algn="ctr">
                      <a:solidFill>
                        <a:srgbClr val="D5E2DF"/>
                      </a:solidFill>
                      <a:prstDash val="solid"/>
                      <a:round/>
                      <a:headEnd type="none" w="med" len="med"/>
                      <a:tailEnd type="none" w="med" len="med"/>
                    </a:lnT>
                    <a:lnB w="9525" cap="flat" cmpd="sng" algn="ctr">
                      <a:solidFill>
                        <a:srgbClr val="D5E2DF"/>
                      </a:solidFill>
                      <a:prstDash val="solid"/>
                      <a:round/>
                      <a:headEnd type="none" w="med" len="med"/>
                      <a:tailEnd type="none" w="med" len="med"/>
                    </a:lnB>
                    <a:solidFill>
                      <a:schemeClr val="bg1"/>
                    </a:solidFill>
                  </a:tcPr>
                </a:tc>
              </a:tr>
              <a:tr h="411480">
                <a:tc>
                  <a:txBody>
                    <a:bodyPr/>
                    <a:lstStyle/>
                    <a:p>
                      <a:pPr indent="0" marL="0">
                        <a:buNone/>
                      </a:pPr>
                      <a:r>
                        <a:rPr lang="en-US" sz="1100" dirty="0">
                          <a:solidFill>
                            <a:schemeClr val="tx1"/>
                          </a:solidFill>
                        </a:rPr>
                        <a:t>Vivienda</a:t>
                      </a:r>
                      <a:endParaRPr lang="en-US" sz="1100" dirty="0"/>
                    </a:p>
                  </a:txBody>
                  <a:tcPr marL="91440" marR="91440" marT="45720" marB="45720" anchor="ctr">
                    <a:lnL w="9525" cap="flat" cmpd="sng" algn="ctr">
                      <a:solidFill>
                        <a:srgbClr val="D5E2DF"/>
                      </a:solidFill>
                      <a:prstDash val="solid"/>
                      <a:round/>
                      <a:headEnd type="none" w="med" len="med"/>
                      <a:tailEnd type="none" w="med" len="med"/>
                    </a:lnL>
                    <a:lnR w="9525" cap="flat" cmpd="sng" algn="ctr">
                      <a:solidFill>
                        <a:srgbClr val="D5E2DF"/>
                      </a:solidFill>
                      <a:prstDash val="solid"/>
                      <a:round/>
                      <a:headEnd type="none" w="med" len="med"/>
                      <a:tailEnd type="none" w="med" len="med"/>
                    </a:lnR>
                    <a:lnT w="9525" cap="flat" cmpd="sng" algn="ctr">
                      <a:solidFill>
                        <a:srgbClr val="D5E2DF"/>
                      </a:solidFill>
                      <a:prstDash val="solid"/>
                      <a:round/>
                      <a:headEnd type="none" w="med" len="med"/>
                      <a:tailEnd type="none" w="med" len="med"/>
                    </a:lnT>
                    <a:lnB w="9525" cap="flat" cmpd="sng" algn="ctr">
                      <a:solidFill>
                        <a:srgbClr val="D5E2DF"/>
                      </a:solidFill>
                      <a:prstDash val="solid"/>
                      <a:round/>
                      <a:headEnd type="none" w="med" len="med"/>
                      <a:tailEnd type="none" w="med" len="med"/>
                    </a:lnB>
                    <a:solidFill>
                      <a:schemeClr val="bg1"/>
                    </a:solidFill>
                  </a:tcPr>
                </a:tc>
                <a:tc>
                  <a:txBody>
                    <a:bodyPr/>
                    <a:lstStyle/>
                    <a:p>
                      <a:pPr indent="0" marL="0">
                        <a:buNone/>
                      </a:pPr>
                      <a:r>
                        <a:rPr lang="en-US" sz="1100" b="1" dirty="0">
                          <a:solidFill>
                            <a:schemeClr val="accent3"/>
                          </a:solidFill>
                        </a:rPr>
                        <a:t>✗ 1FN</a:t>
                      </a:r>
                      <a:endParaRPr lang="en-US" sz="1100" dirty="0"/>
                    </a:p>
                  </a:txBody>
                  <a:tcPr marL="91440" marR="91440" marT="45720" marB="45720" anchor="ctr">
                    <a:lnL w="9525" cap="flat" cmpd="sng" algn="ctr">
                      <a:solidFill>
                        <a:srgbClr val="D5E2DF"/>
                      </a:solidFill>
                      <a:prstDash val="solid"/>
                      <a:round/>
                      <a:headEnd type="none" w="med" len="med"/>
                      <a:tailEnd type="none" w="med" len="med"/>
                    </a:lnL>
                    <a:lnR w="9525" cap="flat" cmpd="sng" algn="ctr">
                      <a:solidFill>
                        <a:srgbClr val="D5E2DF"/>
                      </a:solidFill>
                      <a:prstDash val="solid"/>
                      <a:round/>
                      <a:headEnd type="none" w="med" len="med"/>
                      <a:tailEnd type="none" w="med" len="med"/>
                    </a:lnR>
                    <a:lnT w="9525" cap="flat" cmpd="sng" algn="ctr">
                      <a:solidFill>
                        <a:srgbClr val="D5E2DF"/>
                      </a:solidFill>
                      <a:prstDash val="solid"/>
                      <a:round/>
                      <a:headEnd type="none" w="med" len="med"/>
                      <a:tailEnd type="none" w="med" len="med"/>
                    </a:lnT>
                    <a:lnB w="9525" cap="flat" cmpd="sng" algn="ctr">
                      <a:solidFill>
                        <a:srgbClr val="D5E2DF"/>
                      </a:solidFill>
                      <a:prstDash val="solid"/>
                      <a:round/>
                      <a:headEnd type="none" w="med" len="med"/>
                      <a:tailEnd type="none" w="med" len="med"/>
                    </a:lnB>
                    <a:solidFill>
                      <a:schemeClr val="bg1"/>
                    </a:solidFill>
                  </a:tcPr>
                </a:tc>
                <a:tc>
                  <a:txBody>
                    <a:bodyPr/>
                    <a:lstStyle/>
                    <a:p>
                      <a:pPr indent="0" marL="0">
                        <a:buNone/>
                      </a:pPr>
                      <a:r>
                        <a:rPr lang="en-US" sz="1100" b="1" dirty="0">
                          <a:solidFill>
                            <a:schemeClr val="accent1"/>
                          </a:solidFill>
                        </a:rPr>
                        <a:t>FNBC + 4FN</a:t>
                      </a:r>
                      <a:endParaRPr lang="en-US" sz="1100" dirty="0"/>
                    </a:p>
                  </a:txBody>
                  <a:tcPr marL="91440" marR="91440" marT="45720" marB="45720" anchor="ctr">
                    <a:lnL w="9525" cap="flat" cmpd="sng" algn="ctr">
                      <a:solidFill>
                        <a:srgbClr val="D5E2DF"/>
                      </a:solidFill>
                      <a:prstDash val="solid"/>
                      <a:round/>
                      <a:headEnd type="none" w="med" len="med"/>
                      <a:tailEnd type="none" w="med" len="med"/>
                    </a:lnL>
                    <a:lnR w="9525" cap="flat" cmpd="sng" algn="ctr">
                      <a:solidFill>
                        <a:srgbClr val="D5E2DF"/>
                      </a:solidFill>
                      <a:prstDash val="solid"/>
                      <a:round/>
                      <a:headEnd type="none" w="med" len="med"/>
                      <a:tailEnd type="none" w="med" len="med"/>
                    </a:lnR>
                    <a:lnT w="9525" cap="flat" cmpd="sng" algn="ctr">
                      <a:solidFill>
                        <a:srgbClr val="D5E2DF"/>
                      </a:solidFill>
                      <a:prstDash val="solid"/>
                      <a:round/>
                      <a:headEnd type="none" w="med" len="med"/>
                      <a:tailEnd type="none" w="med" len="med"/>
                    </a:lnT>
                    <a:lnB w="9525" cap="flat" cmpd="sng" algn="ctr">
                      <a:solidFill>
                        <a:srgbClr val="D5E2DF"/>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Columnas de servicios → ViviendaServicio</a:t>
                      </a:r>
                      <a:endParaRPr lang="en-US" sz="1100" dirty="0"/>
                    </a:p>
                  </a:txBody>
                  <a:tcPr marL="91440" marR="91440" marT="45720" marB="45720" anchor="ctr">
                    <a:lnL w="9525" cap="flat" cmpd="sng" algn="ctr">
                      <a:solidFill>
                        <a:srgbClr val="D5E2DF"/>
                      </a:solidFill>
                      <a:prstDash val="solid"/>
                      <a:round/>
                      <a:headEnd type="none" w="med" len="med"/>
                      <a:tailEnd type="none" w="med" len="med"/>
                    </a:lnL>
                    <a:lnR w="9525" cap="flat" cmpd="sng" algn="ctr">
                      <a:solidFill>
                        <a:srgbClr val="D5E2DF"/>
                      </a:solidFill>
                      <a:prstDash val="solid"/>
                      <a:round/>
                      <a:headEnd type="none" w="med" len="med"/>
                      <a:tailEnd type="none" w="med" len="med"/>
                    </a:lnR>
                    <a:lnT w="9525" cap="flat" cmpd="sng" algn="ctr">
                      <a:solidFill>
                        <a:srgbClr val="D5E2DF"/>
                      </a:solidFill>
                      <a:prstDash val="solid"/>
                      <a:round/>
                      <a:headEnd type="none" w="med" len="med"/>
                      <a:tailEnd type="none" w="med" len="med"/>
                    </a:lnT>
                    <a:lnB w="9525" cap="flat" cmpd="sng" algn="ctr">
                      <a:solidFill>
                        <a:srgbClr val="D5E2DF"/>
                      </a:solidFill>
                      <a:prstDash val="solid"/>
                      <a:round/>
                      <a:headEnd type="none" w="med" len="med"/>
                      <a:tailEnd type="none" w="med" len="med"/>
                    </a:lnB>
                    <a:solidFill>
                      <a:schemeClr val="bg1"/>
                    </a:solidFill>
                  </a:tcPr>
                </a:tc>
              </a:tr>
              <a:tr h="411480">
                <a:tc>
                  <a:txBody>
                    <a:bodyPr/>
                    <a:lstStyle/>
                    <a:p>
                      <a:pPr indent="0" marL="0">
                        <a:buNone/>
                      </a:pPr>
                      <a:r>
                        <a:rPr lang="en-US" sz="1100" dirty="0">
                          <a:solidFill>
                            <a:schemeClr val="tx1"/>
                          </a:solidFill>
                        </a:rPr>
                        <a:t>SistemaOpcion</a:t>
                      </a:r>
                      <a:endParaRPr lang="en-US" sz="1100" dirty="0"/>
                    </a:p>
                  </a:txBody>
                  <a:tcPr marL="91440" marR="91440" marT="45720" marB="45720" anchor="ctr">
                    <a:lnL w="9525" cap="flat" cmpd="sng" algn="ctr">
                      <a:solidFill>
                        <a:srgbClr val="D5E2DF"/>
                      </a:solidFill>
                      <a:prstDash val="solid"/>
                      <a:round/>
                      <a:headEnd type="none" w="med" len="med"/>
                      <a:tailEnd type="none" w="med" len="med"/>
                    </a:lnL>
                    <a:lnR w="9525" cap="flat" cmpd="sng" algn="ctr">
                      <a:solidFill>
                        <a:srgbClr val="D5E2DF"/>
                      </a:solidFill>
                      <a:prstDash val="solid"/>
                      <a:round/>
                      <a:headEnd type="none" w="med" len="med"/>
                      <a:tailEnd type="none" w="med" len="med"/>
                    </a:lnR>
                    <a:lnT w="9525" cap="flat" cmpd="sng" algn="ctr">
                      <a:solidFill>
                        <a:srgbClr val="D5E2DF"/>
                      </a:solidFill>
                      <a:prstDash val="solid"/>
                      <a:round/>
                      <a:headEnd type="none" w="med" len="med"/>
                      <a:tailEnd type="none" w="med" len="med"/>
                    </a:lnT>
                    <a:lnB w="9525" cap="flat" cmpd="sng" algn="ctr">
                      <a:solidFill>
                        <a:srgbClr val="D5E2DF"/>
                      </a:solidFill>
                      <a:prstDash val="solid"/>
                      <a:round/>
                      <a:headEnd type="none" w="med" len="med"/>
                      <a:tailEnd type="none" w="med" len="med"/>
                    </a:lnB>
                    <a:solidFill>
                      <a:schemeClr val="bg1"/>
                    </a:solidFill>
                  </a:tcPr>
                </a:tc>
                <a:tc>
                  <a:txBody>
                    <a:bodyPr/>
                    <a:lstStyle/>
                    <a:p>
                      <a:pPr indent="0" marL="0">
                        <a:buNone/>
                      </a:pPr>
                      <a:r>
                        <a:rPr lang="en-US" sz="1100" b="1" dirty="0">
                          <a:solidFill>
                            <a:schemeClr val="accent3"/>
                          </a:solidFill>
                        </a:rPr>
                        <a:t>Claves en texto</a:t>
                      </a:r>
                      <a:endParaRPr lang="en-US" sz="1100" dirty="0"/>
                    </a:p>
                  </a:txBody>
                  <a:tcPr marL="91440" marR="91440" marT="45720" marB="45720" anchor="ctr">
                    <a:lnL w="9525" cap="flat" cmpd="sng" algn="ctr">
                      <a:solidFill>
                        <a:srgbClr val="D5E2DF"/>
                      </a:solidFill>
                      <a:prstDash val="solid"/>
                      <a:round/>
                      <a:headEnd type="none" w="med" len="med"/>
                      <a:tailEnd type="none" w="med" len="med"/>
                    </a:lnL>
                    <a:lnR w="9525" cap="flat" cmpd="sng" algn="ctr">
                      <a:solidFill>
                        <a:srgbClr val="D5E2DF"/>
                      </a:solidFill>
                      <a:prstDash val="solid"/>
                      <a:round/>
                      <a:headEnd type="none" w="med" len="med"/>
                      <a:tailEnd type="none" w="med" len="med"/>
                    </a:lnR>
                    <a:lnT w="9525" cap="flat" cmpd="sng" algn="ctr">
                      <a:solidFill>
                        <a:srgbClr val="D5E2DF"/>
                      </a:solidFill>
                      <a:prstDash val="solid"/>
                      <a:round/>
                      <a:headEnd type="none" w="med" len="med"/>
                      <a:tailEnd type="none" w="med" len="med"/>
                    </a:lnT>
                    <a:lnB w="9525" cap="flat" cmpd="sng" algn="ctr">
                      <a:solidFill>
                        <a:srgbClr val="D5E2DF"/>
                      </a:solidFill>
                      <a:prstDash val="solid"/>
                      <a:round/>
                      <a:headEnd type="none" w="med" len="med"/>
                      <a:tailEnd type="none" w="med" len="med"/>
                    </a:lnB>
                    <a:solidFill>
                      <a:schemeClr val="bg1"/>
                    </a:solidFill>
                  </a:tcPr>
                </a:tc>
                <a:tc>
                  <a:txBody>
                    <a:bodyPr/>
                    <a:lstStyle/>
                    <a:p>
                      <a:pPr indent="0" marL="0">
                        <a:buNone/>
                      </a:pPr>
                      <a:r>
                        <a:rPr lang="en-US" sz="1100" b="1" dirty="0">
                          <a:solidFill>
                            <a:schemeClr val="accent1"/>
                          </a:solidFill>
                        </a:rPr>
                        <a:t>FNBC</a:t>
                      </a:r>
                      <a:endParaRPr lang="en-US" sz="1100" dirty="0"/>
                    </a:p>
                  </a:txBody>
                  <a:tcPr marL="91440" marR="91440" marT="45720" marB="45720" anchor="ctr">
                    <a:lnL w="9525" cap="flat" cmpd="sng" algn="ctr">
                      <a:solidFill>
                        <a:srgbClr val="D5E2DF"/>
                      </a:solidFill>
                      <a:prstDash val="solid"/>
                      <a:round/>
                      <a:headEnd type="none" w="med" len="med"/>
                      <a:tailEnd type="none" w="med" len="med"/>
                    </a:lnL>
                    <a:lnR w="9525" cap="flat" cmpd="sng" algn="ctr">
                      <a:solidFill>
                        <a:srgbClr val="D5E2DF"/>
                      </a:solidFill>
                      <a:prstDash val="solid"/>
                      <a:round/>
                      <a:headEnd type="none" w="med" len="med"/>
                      <a:tailEnd type="none" w="med" len="med"/>
                    </a:lnR>
                    <a:lnT w="9525" cap="flat" cmpd="sng" algn="ctr">
                      <a:solidFill>
                        <a:srgbClr val="D5E2DF"/>
                      </a:solidFill>
                      <a:prstDash val="solid"/>
                      <a:round/>
                      <a:headEnd type="none" w="med" len="med"/>
                      <a:tailEnd type="none" w="med" len="med"/>
                    </a:lnT>
                    <a:lnB w="9525" cap="flat" cmpd="sng" algn="ctr">
                      <a:solidFill>
                        <a:srgbClr val="D5E2DF"/>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Se eliminan las contraseñas en texto plano</a:t>
                      </a:r>
                      <a:endParaRPr lang="en-US" sz="1100" dirty="0"/>
                    </a:p>
                  </a:txBody>
                  <a:tcPr marL="91440" marR="91440" marT="45720" marB="45720" anchor="ctr">
                    <a:lnL w="9525" cap="flat" cmpd="sng" algn="ctr">
                      <a:solidFill>
                        <a:srgbClr val="D5E2DF"/>
                      </a:solidFill>
                      <a:prstDash val="solid"/>
                      <a:round/>
                      <a:headEnd type="none" w="med" len="med"/>
                      <a:tailEnd type="none" w="med" len="med"/>
                    </a:lnL>
                    <a:lnR w="9525" cap="flat" cmpd="sng" algn="ctr">
                      <a:solidFill>
                        <a:srgbClr val="D5E2DF"/>
                      </a:solidFill>
                      <a:prstDash val="solid"/>
                      <a:round/>
                      <a:headEnd type="none" w="med" len="med"/>
                      <a:tailEnd type="none" w="med" len="med"/>
                    </a:lnR>
                    <a:lnT w="9525" cap="flat" cmpd="sng" algn="ctr">
                      <a:solidFill>
                        <a:srgbClr val="D5E2DF"/>
                      </a:solidFill>
                      <a:prstDash val="solid"/>
                      <a:round/>
                      <a:headEnd type="none" w="med" len="med"/>
                      <a:tailEnd type="none" w="med" len="med"/>
                    </a:lnT>
                    <a:lnB w="9525" cap="flat" cmpd="sng" algn="ctr">
                      <a:solidFill>
                        <a:srgbClr val="D5E2DF"/>
                      </a:solidFill>
                      <a:prstDash val="solid"/>
                      <a:round/>
                      <a:headEnd type="none" w="med" len="med"/>
                      <a:tailEnd type="none" w="med" len="med"/>
                    </a:lnB>
                    <a:solidFill>
                      <a:schemeClr val="bg1"/>
                    </a:solidFill>
                  </a:tcPr>
                </a:tc>
              </a:tr>
            </a:tbl>
          </a:graphicData>
        </a:graphic>
      </p:graphicFrame>
      <p:sp>
        <p:nvSpPr>
          <p:cNvPr id="8" name="Dato 4,106"/>
          <p:cNvSpPr/>
          <p:nvPr/>
        </p:nvSpPr>
        <p:spPr>
          <a:xfrm>
            <a:off x="6492240" y="1463040"/>
            <a:ext cx="2194560" cy="1143000"/>
          </a:xfrm>
          <a:prstGeom prst="roundRect">
            <a:avLst>
              <a:gd name="adj" fmla="val 6400"/>
            </a:avLst>
          </a:prstGeom>
          <a:solidFill>
            <a:schemeClr val="accent1">
              <a:alpha val="12000"/>
            </a:schemeClr>
          </a:solidFill>
          <a:ln/>
        </p:spPr>
      </p:sp>
      <p:sp>
        <p:nvSpPr>
          <p:cNvPr id="9" name="Text 5"/>
          <p:cNvSpPr txBox="1"/>
          <p:nvPr/>
        </p:nvSpPr>
        <p:spPr>
          <a:xfrm>
            <a:off x="6492240" y="1536192"/>
            <a:ext cx="2194560" cy="548640"/>
          </a:xfrm>
          <a:prstGeom prst="rect">
            <a:avLst/>
          </a:prstGeom>
          <a:noFill/>
          <a:ln/>
        </p:spPr>
        <p:txBody>
          <a:bodyPr wrap="square" lIns="0" tIns="0" rIns="0" bIns="0" rtlCol="0" anchor="ctr"/>
          <a:lstStyle/>
          <a:p>
            <a:pPr algn="ctr" indent="0" marL="0">
              <a:buNone/>
            </a:pPr>
            <a:r>
              <a:rPr lang="en-US" sz="3000" b="1" dirty="0">
                <a:solidFill>
                  <a:schemeClr val="accent1"/>
                </a:solidFill>
                <a:latin typeface="Cambria" pitchFamily="34" charset="0"/>
                <a:ea typeface="Cambria" pitchFamily="34" charset="-122"/>
                <a:cs typeface="Cambria" pitchFamily="34" charset="-120"/>
              </a:rPr>
              <a:t>4,106</a:t>
            </a:r>
            <a:endParaRPr lang="en-US" sz="3000" dirty="0"/>
          </a:p>
        </p:txBody>
      </p:sp>
      <p:sp>
        <p:nvSpPr>
          <p:cNvPr id="10" name="Text 6"/>
          <p:cNvSpPr txBox="1"/>
          <p:nvPr/>
        </p:nvSpPr>
        <p:spPr>
          <a:xfrm>
            <a:off x="6629400" y="2084832"/>
            <a:ext cx="1920240" cy="457200"/>
          </a:xfrm>
          <a:prstGeom prst="rect">
            <a:avLst/>
          </a:prstGeom>
          <a:noFill/>
          <a:ln/>
        </p:spPr>
        <p:txBody>
          <a:bodyPr wrap="square" lIns="0" tIns="0" rIns="0" bIns="0" rtlCol="0" anchor="ctr"/>
          <a:lstStyle/>
          <a:p>
            <a:pPr algn="ctr" indent="0" marL="0">
              <a:buNone/>
            </a:pPr>
            <a:r>
              <a:rPr lang="en-US" sz="1100" dirty="0">
                <a:solidFill>
                  <a:schemeClr val="tx1"/>
                </a:solidFill>
              </a:rPr>
              <a:t>personas consolidadas en Persona</a:t>
            </a:r>
            <a:endParaRPr lang="en-US" sz="1100" dirty="0"/>
          </a:p>
        </p:txBody>
      </p:sp>
      <p:sp>
        <p:nvSpPr>
          <p:cNvPr id="11" name="Dato 488"/>
          <p:cNvSpPr/>
          <p:nvPr/>
        </p:nvSpPr>
        <p:spPr>
          <a:xfrm>
            <a:off x="6492240" y="2743200"/>
            <a:ext cx="2194560" cy="1143000"/>
          </a:xfrm>
          <a:prstGeom prst="roundRect">
            <a:avLst>
              <a:gd name="adj" fmla="val 6400"/>
            </a:avLst>
          </a:prstGeom>
          <a:solidFill>
            <a:schemeClr val="accent1">
              <a:alpha val="12000"/>
            </a:schemeClr>
          </a:solidFill>
          <a:ln/>
        </p:spPr>
      </p:sp>
      <p:sp>
        <p:nvSpPr>
          <p:cNvPr id="12" name="Text 8"/>
          <p:cNvSpPr txBox="1"/>
          <p:nvPr/>
        </p:nvSpPr>
        <p:spPr>
          <a:xfrm>
            <a:off x="6492240" y="2816352"/>
            <a:ext cx="2194560" cy="548640"/>
          </a:xfrm>
          <a:prstGeom prst="rect">
            <a:avLst/>
          </a:prstGeom>
          <a:noFill/>
          <a:ln/>
        </p:spPr>
        <p:txBody>
          <a:bodyPr wrap="square" lIns="0" tIns="0" rIns="0" bIns="0" rtlCol="0" anchor="ctr"/>
          <a:lstStyle/>
          <a:p>
            <a:pPr algn="ctr" indent="0" marL="0">
              <a:buNone/>
            </a:pPr>
            <a:r>
              <a:rPr lang="en-US" sz="3000" b="1" dirty="0">
                <a:solidFill>
                  <a:schemeClr val="accent1"/>
                </a:solidFill>
                <a:latin typeface="Cambria" pitchFamily="34" charset="0"/>
                <a:ea typeface="Cambria" pitchFamily="34" charset="-122"/>
                <a:cs typeface="Cambria" pitchFamily="34" charset="-120"/>
              </a:rPr>
              <a:t>488</a:t>
            </a:r>
            <a:endParaRPr lang="en-US" sz="3000" dirty="0"/>
          </a:p>
        </p:txBody>
      </p:sp>
      <p:sp>
        <p:nvSpPr>
          <p:cNvPr id="13" name="Text 9"/>
          <p:cNvSpPr txBox="1"/>
          <p:nvPr/>
        </p:nvSpPr>
        <p:spPr>
          <a:xfrm>
            <a:off x="6629400" y="3364992"/>
            <a:ext cx="1920240" cy="457200"/>
          </a:xfrm>
          <a:prstGeom prst="rect">
            <a:avLst/>
          </a:prstGeom>
          <a:noFill/>
          <a:ln/>
        </p:spPr>
        <p:txBody>
          <a:bodyPr wrap="square" lIns="0" tIns="0" rIns="0" bIns="0" rtlCol="0" anchor="ctr"/>
          <a:lstStyle/>
          <a:p>
            <a:pPr algn="ctr" indent="0" marL="0">
              <a:buNone/>
            </a:pPr>
            <a:r>
              <a:rPr lang="en-US" sz="1100" dirty="0">
                <a:solidFill>
                  <a:schemeClr val="tx1"/>
                </a:solidFill>
              </a:rPr>
              <a:t>discrepancias auditadas en mig.Incidencia</a:t>
            </a:r>
            <a:endParaRPr lang="en-US" sz="1100" dirty="0"/>
          </a:p>
        </p:txBody>
      </p:sp>
      <p:sp>
        <p:nvSpPr>
          <p:cNvPr id="14" name="Text 10"/>
          <p:cNvSpPr txBox="1"/>
          <p:nvPr/>
        </p:nvSpPr>
        <p:spPr>
          <a:xfrm>
            <a:off x="457200" y="4343400"/>
            <a:ext cx="8229600" cy="320040"/>
          </a:xfrm>
          <a:prstGeom prst="rect">
            <a:avLst/>
          </a:prstGeom>
          <a:noFill/>
          <a:ln/>
        </p:spPr>
        <p:txBody>
          <a:bodyPr wrap="square" lIns="0" tIns="0" rIns="0" bIns="0" rtlCol="0" anchor="ctr"/>
          <a:lstStyle/>
          <a:p>
            <a:pPr indent="0" marL="0">
              <a:buNone/>
            </a:pPr>
            <a:r>
              <a:rPr lang="en-US" sz="1100" b="1" dirty="0">
                <a:solidFill>
                  <a:schemeClr val="accent1"/>
                </a:solidFill>
                <a:latin typeface="Calibri" pitchFamily="34" charset="0"/>
                <a:ea typeface="Calibri" pitchFamily="34" charset="-122"/>
                <a:cs typeface="Calibri" pitchFamily="34" charset="-120"/>
              </a:rPr>
              <a:t>Dónde: </a:t>
            </a:r>
            <a:pPr indent="0" marL="0">
              <a:buNone/>
            </a:pPr>
            <a:r>
              <a:rPr lang="en-US" sz="1100" dirty="0">
                <a:solidFill>
                  <a:schemeClr val="tx1"/>
                </a:solidFill>
                <a:latin typeface="Courier New" pitchFamily="34" charset="0"/>
                <a:ea typeface="Courier New" pitchFamily="34" charset="-122"/>
                <a:cs typeface="Courier New" pitchFamily="34" charset="-120"/>
              </a:rPr>
              <a:t>Scripts/bd-Normalizada/01-esquema · 02-migracion · NORMALIZACION.md</a:t>
            </a:r>
            <a:endParaRPr lang="en-US" sz="11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Insignia semana"/>
          <p:cNvSpPr/>
          <p:nvPr/>
        </p:nvSpPr>
        <p:spPr>
          <a:xfrm>
            <a:off x="457200" y="265176"/>
            <a:ext cx="548640" cy="548640"/>
          </a:xfrm>
          <a:prstGeom prst="ellipse">
            <a:avLst/>
          </a:prstGeom>
          <a:solidFill>
            <a:schemeClr val="accent2"/>
          </a:solidFill>
          <a:ln/>
        </p:spPr>
      </p:sp>
      <p:sp>
        <p:nvSpPr>
          <p:cNvPr id="4" name="Text 1"/>
          <p:cNvSpPr txBox="1"/>
          <p:nvPr/>
        </p:nvSpPr>
        <p:spPr>
          <a:xfrm>
            <a:off x="457200" y="265176"/>
            <a:ext cx="548640" cy="548640"/>
          </a:xfrm>
          <a:prstGeom prst="rect">
            <a:avLst/>
          </a:prstGeom>
          <a:noFill/>
          <a:ln/>
        </p:spPr>
        <p:txBody>
          <a:bodyPr wrap="square" lIns="0" tIns="0" rIns="0" bIns="0" rtlCol="0" anchor="ctr"/>
          <a:lstStyle/>
          <a:p>
            <a:pPr algn="ctr" indent="0" marL="0">
              <a:buNone/>
            </a:pPr>
            <a:r>
              <a:rPr lang="en-US" sz="1600" b="1" dirty="0">
                <a:solidFill>
                  <a:schemeClr val="tx2"/>
                </a:solidFill>
              </a:rPr>
              <a:t>S4</a:t>
            </a:r>
            <a:endParaRPr lang="en-US" sz="1600" dirty="0"/>
          </a:p>
        </p:txBody>
      </p:sp>
      <p:sp>
        <p:nvSpPr>
          <p:cNvPr id="5" name="Text 0"/>
          <p:cNvSpPr/>
          <p:nvPr>
            <p:ph idx="100" type="title" hasCustomPrompt="1"/>
          </p:nvPr>
        </p:nvSpPr>
        <p:spPr>
          <a:xfrm>
            <a:off x="1188720" y="256032"/>
            <a:ext cx="7498080" cy="566928"/>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Refactorización: SRP y DRY</a:t>
            </a:r>
            <a:endParaRPr lang="en-US" sz="2800" dirty="0"/>
          </a:p>
        </p:txBody>
      </p:sp>
      <p:sp>
        <p:nvSpPr>
          <p:cNvPr id="6" name="Text 3"/>
          <p:cNvSpPr txBox="1"/>
          <p:nvPr/>
        </p:nvSpPr>
        <p:spPr>
          <a:xfrm>
            <a:off x="457200" y="914400"/>
            <a:ext cx="8229600" cy="411480"/>
          </a:xfrm>
          <a:prstGeom prst="rect">
            <a:avLst/>
          </a:prstGeom>
          <a:noFill/>
          <a:ln/>
        </p:spPr>
        <p:txBody>
          <a:bodyPr wrap="square" lIns="0" tIns="0" rIns="0" bIns="0" rtlCol="0" anchor="ctr"/>
          <a:lstStyle/>
          <a:p>
            <a:pPr indent="0" marL="0">
              <a:buNone/>
            </a:pPr>
            <a:r>
              <a:rPr lang="en-US" sz="1400" b="1" dirty="0">
                <a:solidFill>
                  <a:schemeClr val="accent1"/>
                </a:solidFill>
              </a:rPr>
              <a:t>Concepto: </a:t>
            </a:r>
            <a:pPr indent="0" marL="0">
              <a:buNone/>
            </a:pPr>
            <a:r>
              <a:rPr lang="en-US" sz="1400" i="1" dirty="0">
                <a:solidFill>
                  <a:schemeClr val="tx1"/>
                </a:solidFill>
              </a:rPr>
              <a:t>DRY = cada regla en un solo lugar. SRP = cada clase tiene una sola razón para cambiar.</a:t>
            </a:r>
            <a:endParaRPr lang="en-US" sz="1400" dirty="0"/>
          </a:p>
        </p:txBody>
      </p:sp>
      <p:sp>
        <p:nvSpPr>
          <p:cNvPr id="7" name="Text 4"/>
          <p:cNvSpPr txBox="1"/>
          <p:nvPr/>
        </p:nvSpPr>
        <p:spPr>
          <a:xfrm>
            <a:off x="457200" y="1463040"/>
            <a:ext cx="868680" cy="731520"/>
          </a:xfrm>
          <a:prstGeom prst="rect">
            <a:avLst/>
          </a:prstGeom>
          <a:noFill/>
          <a:ln/>
        </p:spPr>
        <p:txBody>
          <a:bodyPr wrap="square" lIns="0" tIns="0" rIns="0" bIns="0" rtlCol="0" anchor="ctr"/>
          <a:lstStyle/>
          <a:p>
            <a:pPr algn="r" indent="0" marL="0">
              <a:buNone/>
            </a:pPr>
            <a:r>
              <a:rPr lang="en-US" sz="3200" b="1" dirty="0">
                <a:solidFill>
                  <a:schemeClr val="accent3"/>
                </a:solidFill>
                <a:latin typeface="Cambria" pitchFamily="34" charset="0"/>
                <a:ea typeface="Cambria" pitchFamily="34" charset="-122"/>
                <a:cs typeface="Cambria" pitchFamily="34" charset="-120"/>
              </a:rPr>
              <a:t>77</a:t>
            </a:r>
            <a:endParaRPr lang="en-US" sz="3200" dirty="0"/>
          </a:p>
        </p:txBody>
      </p:sp>
      <p:sp>
        <p:nvSpPr>
          <p:cNvPr id="8" name="Text 5"/>
          <p:cNvSpPr txBox="1"/>
          <p:nvPr/>
        </p:nvSpPr>
        <p:spPr>
          <a:xfrm>
            <a:off x="1463040" y="1463040"/>
            <a:ext cx="2377440" cy="731520"/>
          </a:xfrm>
          <a:prstGeom prst="rect">
            <a:avLst/>
          </a:prstGeom>
          <a:noFill/>
          <a:ln/>
        </p:spPr>
        <p:txBody>
          <a:bodyPr wrap="square" lIns="0" tIns="0" rIns="0" bIns="0" rtlCol="0" anchor="ctr"/>
          <a:lstStyle/>
          <a:p>
            <a:pPr indent="0" marL="0">
              <a:buNone/>
            </a:pPr>
            <a:r>
              <a:rPr lang="en-US" sz="1300" dirty="0">
                <a:solidFill>
                  <a:schemeClr val="tx1"/>
                </a:solidFill>
              </a:rPr>
              <a:t>clases *Data repetían el CRUD</a:t>
            </a:r>
            <a:endParaRPr lang="en-US" sz="1300" dirty="0"/>
          </a:p>
        </p:txBody>
      </p:sp>
      <p:sp>
        <p:nvSpPr>
          <p:cNvPr id="9" name="Shape 6"/>
          <p:cNvSpPr/>
          <p:nvPr/>
        </p:nvSpPr>
        <p:spPr>
          <a:xfrm>
            <a:off x="3931920" y="1828800"/>
            <a:ext cx="548640" cy="0"/>
          </a:xfrm>
          <a:prstGeom prst="line">
            <a:avLst/>
          </a:prstGeom>
          <a:noFill/>
          <a:ln w="19050">
            <a:solidFill>
              <a:schemeClr val="accent5"/>
            </a:solidFill>
            <a:prstDash val="solid"/>
            <a:tailEnd type="triangle"/>
          </a:ln>
        </p:spPr>
      </p:sp>
      <p:sp>
        <p:nvSpPr>
          <p:cNvPr id="10" name="Text 7"/>
          <p:cNvSpPr txBox="1"/>
          <p:nvPr/>
        </p:nvSpPr>
        <p:spPr>
          <a:xfrm>
            <a:off x="4572000" y="1463040"/>
            <a:ext cx="457200" cy="731520"/>
          </a:xfrm>
          <a:prstGeom prst="rect">
            <a:avLst/>
          </a:prstGeom>
          <a:noFill/>
          <a:ln/>
        </p:spPr>
        <p:txBody>
          <a:bodyPr wrap="square" lIns="0" tIns="0" rIns="0" bIns="0" rtlCol="0" anchor="ctr"/>
          <a:lstStyle/>
          <a:p>
            <a:pPr algn="r" indent="0" marL="0">
              <a:buNone/>
            </a:pPr>
            <a:r>
              <a:rPr lang="en-US" sz="3200" b="1" dirty="0">
                <a:solidFill>
                  <a:schemeClr val="accent1"/>
                </a:solidFill>
                <a:latin typeface="Cambria" pitchFamily="34" charset="0"/>
                <a:ea typeface="Cambria" pitchFamily="34" charset="-122"/>
                <a:cs typeface="Cambria" pitchFamily="34" charset="-120"/>
              </a:rPr>
              <a:t>1</a:t>
            </a:r>
            <a:endParaRPr lang="en-US" sz="3200" dirty="0"/>
          </a:p>
        </p:txBody>
      </p:sp>
      <p:sp>
        <p:nvSpPr>
          <p:cNvPr id="11" name="Text 8"/>
          <p:cNvSpPr txBox="1"/>
          <p:nvPr/>
        </p:nvSpPr>
        <p:spPr>
          <a:xfrm>
            <a:off x="5166360" y="1463040"/>
            <a:ext cx="1600200" cy="731520"/>
          </a:xfrm>
          <a:prstGeom prst="rect">
            <a:avLst/>
          </a:prstGeom>
          <a:noFill/>
          <a:ln/>
        </p:spPr>
        <p:txBody>
          <a:bodyPr wrap="square" lIns="0" tIns="0" rIns="0" bIns="0" rtlCol="0" anchor="ctr"/>
          <a:lstStyle/>
          <a:p>
            <a:pPr indent="0" marL="0">
              <a:buNone/>
            </a:pPr>
            <a:r>
              <a:rPr lang="en-US" sz="1100" b="1" dirty="0">
                <a:solidFill>
                  <a:schemeClr val="tx2"/>
                </a:solidFill>
                <a:latin typeface="Courier New" pitchFamily="34" charset="0"/>
                <a:ea typeface="Courier New" pitchFamily="34" charset="-122"/>
                <a:cs typeface="Courier New" pitchFamily="34" charset="-120"/>
              </a:rPr>
              <a:t>RepositorioBase&lt;T&gt;</a:t>
            </a:r>
            <a:endParaRPr lang="en-US" sz="1100" dirty="0"/>
          </a:p>
        </p:txBody>
      </p:sp>
      <p:sp>
        <p:nvSpPr>
          <p:cNvPr id="12" name="Text 9"/>
          <p:cNvSpPr txBox="1"/>
          <p:nvPr/>
        </p:nvSpPr>
        <p:spPr>
          <a:xfrm>
            <a:off x="457200" y="2331720"/>
            <a:ext cx="868680" cy="731520"/>
          </a:xfrm>
          <a:prstGeom prst="rect">
            <a:avLst/>
          </a:prstGeom>
          <a:noFill/>
          <a:ln/>
        </p:spPr>
        <p:txBody>
          <a:bodyPr wrap="square" lIns="0" tIns="0" rIns="0" bIns="0" rtlCol="0" anchor="ctr"/>
          <a:lstStyle/>
          <a:p>
            <a:pPr algn="r" indent="0" marL="0">
              <a:buNone/>
            </a:pPr>
            <a:r>
              <a:rPr lang="en-US" sz="3200" b="1" dirty="0">
                <a:solidFill>
                  <a:schemeClr val="accent3"/>
                </a:solidFill>
                <a:latin typeface="Cambria" pitchFamily="34" charset="0"/>
                <a:ea typeface="Cambria" pitchFamily="34" charset="-122"/>
                <a:cs typeface="Cambria" pitchFamily="34" charset="-120"/>
              </a:rPr>
              <a:t>27</a:t>
            </a:r>
            <a:endParaRPr lang="en-US" sz="3200" dirty="0"/>
          </a:p>
        </p:txBody>
      </p:sp>
      <p:sp>
        <p:nvSpPr>
          <p:cNvPr id="13" name="Text 10"/>
          <p:cNvSpPr txBox="1"/>
          <p:nvPr/>
        </p:nvSpPr>
        <p:spPr>
          <a:xfrm>
            <a:off x="1463040" y="2331720"/>
            <a:ext cx="2377440" cy="731520"/>
          </a:xfrm>
          <a:prstGeom prst="rect">
            <a:avLst/>
          </a:prstGeom>
          <a:noFill/>
          <a:ln/>
        </p:spPr>
        <p:txBody>
          <a:bodyPr wrap="square" lIns="0" tIns="0" rIns="0" bIns="0" rtlCol="0" anchor="ctr"/>
          <a:lstStyle/>
          <a:p>
            <a:pPr indent="0" marL="0">
              <a:buNone/>
            </a:pPr>
            <a:r>
              <a:rPr lang="en-US" sz="1300" dirty="0">
                <a:solidFill>
                  <a:schemeClr val="tx1"/>
                </a:solidFill>
              </a:rPr>
              <a:t>copias de "máximo + 1" en 14 controllers</a:t>
            </a:r>
            <a:endParaRPr lang="en-US" sz="1300" dirty="0"/>
          </a:p>
        </p:txBody>
      </p:sp>
      <p:sp>
        <p:nvSpPr>
          <p:cNvPr id="14" name="Shape 11"/>
          <p:cNvSpPr/>
          <p:nvPr/>
        </p:nvSpPr>
        <p:spPr>
          <a:xfrm>
            <a:off x="3931920" y="2697480"/>
            <a:ext cx="548640" cy="0"/>
          </a:xfrm>
          <a:prstGeom prst="line">
            <a:avLst/>
          </a:prstGeom>
          <a:noFill/>
          <a:ln w="19050">
            <a:solidFill>
              <a:schemeClr val="accent5"/>
            </a:solidFill>
            <a:prstDash val="solid"/>
            <a:tailEnd type="triangle"/>
          </a:ln>
        </p:spPr>
      </p:sp>
      <p:sp>
        <p:nvSpPr>
          <p:cNvPr id="15" name="Text 12"/>
          <p:cNvSpPr txBox="1"/>
          <p:nvPr/>
        </p:nvSpPr>
        <p:spPr>
          <a:xfrm>
            <a:off x="4572000" y="2331720"/>
            <a:ext cx="457200" cy="731520"/>
          </a:xfrm>
          <a:prstGeom prst="rect">
            <a:avLst/>
          </a:prstGeom>
          <a:noFill/>
          <a:ln/>
        </p:spPr>
        <p:txBody>
          <a:bodyPr wrap="square" lIns="0" tIns="0" rIns="0" bIns="0" rtlCol="0" anchor="ctr"/>
          <a:lstStyle/>
          <a:p>
            <a:pPr algn="r" indent="0" marL="0">
              <a:buNone/>
            </a:pPr>
            <a:r>
              <a:rPr lang="en-US" sz="3200" b="1" dirty="0">
                <a:solidFill>
                  <a:schemeClr val="accent1"/>
                </a:solidFill>
                <a:latin typeface="Cambria" pitchFamily="34" charset="0"/>
                <a:ea typeface="Cambria" pitchFamily="34" charset="-122"/>
                <a:cs typeface="Cambria" pitchFamily="34" charset="-120"/>
              </a:rPr>
              <a:t>1</a:t>
            </a:r>
            <a:endParaRPr lang="en-US" sz="3200" dirty="0"/>
          </a:p>
        </p:txBody>
      </p:sp>
      <p:sp>
        <p:nvSpPr>
          <p:cNvPr id="16" name="Text 13"/>
          <p:cNvSpPr txBox="1"/>
          <p:nvPr/>
        </p:nvSpPr>
        <p:spPr>
          <a:xfrm>
            <a:off x="5166360" y="2331720"/>
            <a:ext cx="1600200" cy="731520"/>
          </a:xfrm>
          <a:prstGeom prst="rect">
            <a:avLst/>
          </a:prstGeom>
          <a:noFill/>
          <a:ln/>
        </p:spPr>
        <p:txBody>
          <a:bodyPr wrap="square" lIns="0" tIns="0" rIns="0" bIns="0" rtlCol="0" anchor="ctr"/>
          <a:lstStyle/>
          <a:p>
            <a:pPr indent="0" marL="0">
              <a:buNone/>
            </a:pPr>
            <a:r>
              <a:rPr lang="en-US" sz="1100" b="1" dirty="0">
                <a:solidFill>
                  <a:schemeClr val="tx2"/>
                </a:solidFill>
                <a:latin typeface="Courier New" pitchFamily="34" charset="0"/>
                <a:ea typeface="Courier New" pitchFamily="34" charset="-122"/>
                <a:cs typeface="Courier New" pitchFamily="34" charset="-120"/>
              </a:rPr>
              <a:t>Numeracion.cs</a:t>
            </a:r>
            <a:endParaRPr lang="en-US" sz="1100" dirty="0"/>
          </a:p>
        </p:txBody>
      </p:sp>
      <p:sp>
        <p:nvSpPr>
          <p:cNvPr id="17" name="Text 14"/>
          <p:cNvSpPr txBox="1"/>
          <p:nvPr/>
        </p:nvSpPr>
        <p:spPr>
          <a:xfrm>
            <a:off x="457200" y="3200400"/>
            <a:ext cx="868680" cy="731520"/>
          </a:xfrm>
          <a:prstGeom prst="rect">
            <a:avLst/>
          </a:prstGeom>
          <a:noFill/>
          <a:ln/>
        </p:spPr>
        <p:txBody>
          <a:bodyPr wrap="square" lIns="0" tIns="0" rIns="0" bIns="0" rtlCol="0" anchor="ctr"/>
          <a:lstStyle/>
          <a:p>
            <a:pPr algn="r" indent="0" marL="0">
              <a:buNone/>
            </a:pPr>
            <a:r>
              <a:rPr lang="en-US" sz="3200" b="1" dirty="0">
                <a:solidFill>
                  <a:schemeClr val="accent3"/>
                </a:solidFill>
                <a:latin typeface="Cambria" pitchFamily="34" charset="0"/>
                <a:ea typeface="Cambria" pitchFamily="34" charset="-122"/>
                <a:cs typeface="Cambria" pitchFamily="34" charset="-120"/>
              </a:rPr>
              <a:t>10</a:t>
            </a:r>
            <a:endParaRPr lang="en-US" sz="3200" dirty="0"/>
          </a:p>
        </p:txBody>
      </p:sp>
      <p:sp>
        <p:nvSpPr>
          <p:cNvPr id="18" name="Text 15"/>
          <p:cNvSpPr txBox="1"/>
          <p:nvPr/>
        </p:nvSpPr>
        <p:spPr>
          <a:xfrm>
            <a:off x="1463040" y="3200400"/>
            <a:ext cx="2377440" cy="731520"/>
          </a:xfrm>
          <a:prstGeom prst="rect">
            <a:avLst/>
          </a:prstGeom>
          <a:noFill/>
          <a:ln/>
        </p:spPr>
        <p:txBody>
          <a:bodyPr wrap="square" lIns="0" tIns="0" rIns="0" bIns="0" rtlCol="0" anchor="ctr"/>
          <a:lstStyle/>
          <a:p>
            <a:pPr indent="0" marL="0">
              <a:buNone/>
            </a:pPr>
            <a:r>
              <a:rPr lang="en-US" sz="1300" dirty="0">
                <a:solidFill>
                  <a:schemeClr val="tx1"/>
                </a:solidFill>
              </a:rPr>
              <a:t>lugares armaban el nombre completo</a:t>
            </a:r>
            <a:endParaRPr lang="en-US" sz="1300" dirty="0"/>
          </a:p>
        </p:txBody>
      </p:sp>
      <p:sp>
        <p:nvSpPr>
          <p:cNvPr id="19" name="Shape 16"/>
          <p:cNvSpPr/>
          <p:nvPr/>
        </p:nvSpPr>
        <p:spPr>
          <a:xfrm>
            <a:off x="3931920" y="3566160"/>
            <a:ext cx="548640" cy="0"/>
          </a:xfrm>
          <a:prstGeom prst="line">
            <a:avLst/>
          </a:prstGeom>
          <a:noFill/>
          <a:ln w="19050">
            <a:solidFill>
              <a:schemeClr val="accent5"/>
            </a:solidFill>
            <a:prstDash val="solid"/>
            <a:tailEnd type="triangle"/>
          </a:ln>
        </p:spPr>
      </p:sp>
      <p:sp>
        <p:nvSpPr>
          <p:cNvPr id="20" name="Text 17"/>
          <p:cNvSpPr txBox="1"/>
          <p:nvPr/>
        </p:nvSpPr>
        <p:spPr>
          <a:xfrm>
            <a:off x="4572000" y="3200400"/>
            <a:ext cx="457200" cy="731520"/>
          </a:xfrm>
          <a:prstGeom prst="rect">
            <a:avLst/>
          </a:prstGeom>
          <a:noFill/>
          <a:ln/>
        </p:spPr>
        <p:txBody>
          <a:bodyPr wrap="square" lIns="0" tIns="0" rIns="0" bIns="0" rtlCol="0" anchor="ctr"/>
          <a:lstStyle/>
          <a:p>
            <a:pPr algn="r" indent="0" marL="0">
              <a:buNone/>
            </a:pPr>
            <a:r>
              <a:rPr lang="en-US" sz="3200" b="1" dirty="0">
                <a:solidFill>
                  <a:schemeClr val="accent1"/>
                </a:solidFill>
                <a:latin typeface="Cambria" pitchFamily="34" charset="0"/>
                <a:ea typeface="Cambria" pitchFamily="34" charset="-122"/>
                <a:cs typeface="Cambria" pitchFamily="34" charset="-120"/>
              </a:rPr>
              <a:t>1</a:t>
            </a:r>
            <a:endParaRPr lang="en-US" sz="3200" dirty="0"/>
          </a:p>
        </p:txBody>
      </p:sp>
      <p:sp>
        <p:nvSpPr>
          <p:cNvPr id="21" name="Text 18"/>
          <p:cNvSpPr txBox="1"/>
          <p:nvPr/>
        </p:nvSpPr>
        <p:spPr>
          <a:xfrm>
            <a:off x="5166360" y="3200400"/>
            <a:ext cx="1600200" cy="731520"/>
          </a:xfrm>
          <a:prstGeom prst="rect">
            <a:avLst/>
          </a:prstGeom>
          <a:noFill/>
          <a:ln/>
        </p:spPr>
        <p:txBody>
          <a:bodyPr wrap="square" lIns="0" tIns="0" rIns="0" bIns="0" rtlCol="0" anchor="ctr"/>
          <a:lstStyle/>
          <a:p>
            <a:pPr indent="0" marL="0">
              <a:buNone/>
            </a:pPr>
            <a:r>
              <a:rPr lang="en-US" sz="1100" b="1" dirty="0">
                <a:solidFill>
                  <a:schemeClr val="tx2"/>
                </a:solidFill>
                <a:latin typeface="Courier New" pitchFamily="34" charset="0"/>
                <a:ea typeface="Courier New" pitchFamily="34" charset="-122"/>
                <a:cs typeface="Courier New" pitchFamily="34" charset="-120"/>
              </a:rPr>
              <a:t>NombreCompleto()</a:t>
            </a:r>
            <a:endParaRPr lang="en-US" sz="1100" dirty="0"/>
          </a:p>
        </p:txBody>
      </p:sp>
      <p:sp>
        <p:nvSpPr>
          <p:cNvPr id="22" name="SRP"/>
          <p:cNvSpPr/>
          <p:nvPr/>
        </p:nvSpPr>
        <p:spPr>
          <a:xfrm>
            <a:off x="6858000" y="1463040"/>
            <a:ext cx="1828800" cy="2514600"/>
          </a:xfrm>
          <a:prstGeom prst="roundRect">
            <a:avLst>
              <a:gd name="adj" fmla="val 4000"/>
            </a:avLst>
          </a:prstGeom>
          <a:solidFill>
            <a:schemeClr val="accent1">
              <a:alpha val="12000"/>
            </a:schemeClr>
          </a:solidFill>
          <a:ln/>
        </p:spPr>
      </p:sp>
      <p:sp>
        <p:nvSpPr>
          <p:cNvPr id="23" name="Text 20"/>
          <p:cNvSpPr txBox="1"/>
          <p:nvPr/>
        </p:nvSpPr>
        <p:spPr>
          <a:xfrm>
            <a:off x="7040880" y="1572768"/>
            <a:ext cx="1463040"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SRP</a:t>
            </a:r>
            <a:endParaRPr lang="en-US" sz="1200" dirty="0"/>
          </a:p>
        </p:txBody>
      </p:sp>
      <p:sp>
        <p:nvSpPr>
          <p:cNvPr id="24" name="Text 21"/>
          <p:cNvSpPr txBox="1"/>
          <p:nvPr/>
        </p:nvSpPr>
        <p:spPr>
          <a:xfrm>
            <a:off x="7040880" y="1920240"/>
            <a:ext cx="1463040" cy="1947672"/>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chemeClr val="tx1"/>
                </a:solidFill>
              </a:rPr>
              <a:t>El controller de Familia y Salud abría la transacción</a:t>
            </a:r>
            <a:endParaRPr lang="en-US" sz="1200" dirty="0"/>
          </a:p>
          <a:p>
            <a:pPr marL="177800" indent="-177800">
              <a:spcAft>
                <a:spcPts val="500"/>
              </a:spcAft>
              <a:buSzPct val="100000"/>
              <a:buChar char="•"/>
            </a:pPr>
            <a:r>
              <a:rPr lang="en-US" sz="1200" dirty="0">
                <a:solidFill>
                  <a:schemeClr val="tx1"/>
                </a:solidFill>
              </a:rPr>
              <a:t>Ahora esa regla vive en la lógica de ficha social</a:t>
            </a:r>
            <a:endParaRPr lang="en-US" sz="1200" dirty="0"/>
          </a:p>
          <a:p>
            <a:pPr marL="177800" indent="-177800">
              <a:spcAft>
                <a:spcPts val="500"/>
              </a:spcAft>
              <a:buSzPct val="100000"/>
              <a:buChar char="•"/>
            </a:pPr>
            <a:r>
              <a:rPr lang="en-US" sz="1200" dirty="0">
                <a:solidFill>
                  <a:schemeClr val="tx1"/>
                </a:solidFill>
              </a:rPr>
              <a:t>El controller solo atiende HTTP</a:t>
            </a:r>
            <a:endParaRPr lang="en-US" sz="1200" dirty="0"/>
          </a:p>
        </p:txBody>
      </p:sp>
      <p:sp>
        <p:nvSpPr>
          <p:cNvPr id="25" name="Text 22"/>
          <p:cNvSpPr txBox="1"/>
          <p:nvPr/>
        </p:nvSpPr>
        <p:spPr>
          <a:xfrm>
            <a:off x="457200" y="4206240"/>
            <a:ext cx="8229600" cy="320040"/>
          </a:xfrm>
          <a:prstGeom prst="rect">
            <a:avLst/>
          </a:prstGeom>
          <a:noFill/>
          <a:ln/>
        </p:spPr>
        <p:txBody>
          <a:bodyPr wrap="square" lIns="0" tIns="0" rIns="0" bIns="0" rtlCol="0" anchor="ctr"/>
          <a:lstStyle/>
          <a:p>
            <a:pPr indent="0" marL="0">
              <a:buNone/>
            </a:pPr>
            <a:r>
              <a:rPr lang="en-US" sz="1100" b="1" dirty="0">
                <a:solidFill>
                  <a:schemeClr val="accent1"/>
                </a:solidFill>
                <a:latin typeface="Calibri" pitchFamily="34" charset="0"/>
                <a:ea typeface="Calibri" pitchFamily="34" charset="-122"/>
                <a:cs typeface="Calibri" pitchFamily="34" charset="-120"/>
              </a:rPr>
              <a:t>Dónde: </a:t>
            </a:r>
            <a:pPr indent="0" marL="0">
              <a:buNone/>
            </a:pPr>
            <a:r>
              <a:rPr lang="en-US" sz="1100" dirty="0">
                <a:solidFill>
                  <a:schemeClr val="tx1"/>
                </a:solidFill>
                <a:latin typeface="Courier New" pitchFamily="34" charset="0"/>
                <a:ea typeface="Courier New" pitchFamily="34" charset="-122"/>
                <a:cs typeface="Courier New" pitchFamily="34" charset="-120"/>
              </a:rPr>
              <a:t>RepositorioBase.cs · Numeracion.cs · LogicaBase.cs · FichaSocialLogica.cs</a:t>
            </a:r>
            <a:endParaRPr lang="en-US" sz="11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Insignia semana"/>
          <p:cNvSpPr/>
          <p:nvPr/>
        </p:nvSpPr>
        <p:spPr>
          <a:xfrm>
            <a:off x="457200" y="265176"/>
            <a:ext cx="548640" cy="548640"/>
          </a:xfrm>
          <a:prstGeom prst="ellipse">
            <a:avLst/>
          </a:prstGeom>
          <a:solidFill>
            <a:schemeClr val="accent2"/>
          </a:solidFill>
          <a:ln/>
        </p:spPr>
      </p:sp>
      <p:sp>
        <p:nvSpPr>
          <p:cNvPr id="4" name="Text 1"/>
          <p:cNvSpPr txBox="1"/>
          <p:nvPr/>
        </p:nvSpPr>
        <p:spPr>
          <a:xfrm>
            <a:off x="457200" y="265176"/>
            <a:ext cx="548640" cy="548640"/>
          </a:xfrm>
          <a:prstGeom prst="rect">
            <a:avLst/>
          </a:prstGeom>
          <a:noFill/>
          <a:ln/>
        </p:spPr>
        <p:txBody>
          <a:bodyPr wrap="square" lIns="0" tIns="0" rIns="0" bIns="0" rtlCol="0" anchor="ctr"/>
          <a:lstStyle/>
          <a:p>
            <a:pPr algn="ctr" indent="0" marL="0">
              <a:buNone/>
            </a:pPr>
            <a:r>
              <a:rPr lang="en-US" sz="1600" b="1" dirty="0">
                <a:solidFill>
                  <a:schemeClr val="tx2"/>
                </a:solidFill>
              </a:rPr>
              <a:t>S5</a:t>
            </a:r>
            <a:endParaRPr lang="en-US" sz="1600" dirty="0"/>
          </a:p>
        </p:txBody>
      </p:sp>
      <p:sp>
        <p:nvSpPr>
          <p:cNvPr id="5" name="Text 0"/>
          <p:cNvSpPr/>
          <p:nvPr>
            <p:ph idx="100" type="title" hasCustomPrompt="1"/>
          </p:nvPr>
        </p:nvSpPr>
        <p:spPr>
          <a:xfrm>
            <a:off x="1188720" y="256032"/>
            <a:ext cx="7498080" cy="566928"/>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Principio Abierto-Cerrado (OCP)</a:t>
            </a:r>
            <a:endParaRPr lang="en-US" sz="2800" dirty="0"/>
          </a:p>
        </p:txBody>
      </p:sp>
      <p:sp>
        <p:nvSpPr>
          <p:cNvPr id="6" name="Text 3"/>
          <p:cNvSpPr txBox="1"/>
          <p:nvPr/>
        </p:nvSpPr>
        <p:spPr>
          <a:xfrm>
            <a:off x="457200" y="914400"/>
            <a:ext cx="8229600" cy="411480"/>
          </a:xfrm>
          <a:prstGeom prst="rect">
            <a:avLst/>
          </a:prstGeom>
          <a:noFill/>
          <a:ln/>
        </p:spPr>
        <p:txBody>
          <a:bodyPr wrap="square" lIns="0" tIns="0" rIns="0" bIns="0" rtlCol="0" anchor="ctr"/>
          <a:lstStyle/>
          <a:p>
            <a:pPr indent="0" marL="0">
              <a:buNone/>
            </a:pPr>
            <a:r>
              <a:rPr lang="en-US" sz="1400" b="1" dirty="0">
                <a:solidFill>
                  <a:schemeClr val="accent1"/>
                </a:solidFill>
              </a:rPr>
              <a:t>Concepto: </a:t>
            </a:r>
            <a:pPr indent="0" marL="0">
              <a:buNone/>
            </a:pPr>
            <a:r>
              <a:rPr lang="en-US" sz="1400" i="1" dirty="0">
                <a:solidFill>
                  <a:schemeClr val="tx1"/>
                </a:solidFill>
              </a:rPr>
              <a:t>abierto a la extensión, cerrado a la modificación: un formato nuevo es una clase nueva.</a:t>
            </a:r>
            <a:endParaRPr lang="en-US" sz="1400" dirty="0"/>
          </a:p>
        </p:txBody>
      </p:sp>
      <p:sp>
        <p:nvSpPr>
          <p:cNvPr id="7" name="Text 4"/>
          <p:cNvSpPr txBox="1"/>
          <p:nvPr/>
        </p:nvSpPr>
        <p:spPr>
          <a:xfrm>
            <a:off x="457200" y="1371600"/>
            <a:ext cx="8229600" cy="365760"/>
          </a:xfrm>
          <a:prstGeom prst="rect">
            <a:avLst/>
          </a:prstGeom>
          <a:noFill/>
          <a:ln/>
        </p:spPr>
        <p:txBody>
          <a:bodyPr wrap="square" lIns="0" tIns="0" rIns="0" bIns="0" rtlCol="0" anchor="ctr"/>
          <a:lstStyle/>
          <a:p>
            <a:pPr indent="0" marL="0">
              <a:buNone/>
            </a:pPr>
            <a:r>
              <a:rPr lang="en-US" sz="1400" b="1" dirty="0">
                <a:solidFill>
                  <a:schemeClr val="accent3"/>
                </a:solidFill>
              </a:rPr>
              <a:t>Antes: </a:t>
            </a:r>
            <a:pPr indent="0" marL="0">
              <a:buNone/>
            </a:pPr>
            <a:r>
              <a:rPr lang="en-US" sz="1400" dirty="0">
                <a:solidFill>
                  <a:schemeClr val="tx1"/>
                </a:solidFill>
              </a:rPr>
              <a:t>la exportación dependía directamente de Interop.Excel; otro formato = modificar código existente.</a:t>
            </a:r>
            <a:endParaRPr lang="en-US" sz="1400" dirty="0"/>
          </a:p>
        </p:txBody>
      </p:sp>
      <p:sp>
        <p:nvSpPr>
          <p:cNvPr id="8" name="Controllers"/>
          <p:cNvSpPr/>
          <p:nvPr/>
        </p:nvSpPr>
        <p:spPr>
          <a:xfrm>
            <a:off x="457200" y="2377440"/>
            <a:ext cx="1828800" cy="822960"/>
          </a:xfrm>
          <a:prstGeom prst="roundRect">
            <a:avLst>
              <a:gd name="adj" fmla="val 8889"/>
            </a:avLst>
          </a:prstGeom>
          <a:solidFill>
            <a:schemeClr val="tx2"/>
          </a:solidFill>
          <a:ln/>
        </p:spPr>
      </p:sp>
      <p:sp>
        <p:nvSpPr>
          <p:cNvPr id="9" name="Text 6"/>
          <p:cNvSpPr txBox="1"/>
          <p:nvPr/>
        </p:nvSpPr>
        <p:spPr>
          <a:xfrm>
            <a:off x="548640" y="2377440"/>
            <a:ext cx="1645920" cy="822960"/>
          </a:xfrm>
          <a:prstGeom prst="rect">
            <a:avLst/>
          </a:prstGeom>
          <a:noFill/>
          <a:ln/>
        </p:spPr>
        <p:txBody>
          <a:bodyPr wrap="square" lIns="0" tIns="0" rIns="0" bIns="0" rtlCol="0" anchor="ctr"/>
          <a:lstStyle/>
          <a:p>
            <a:pPr algn="ctr" indent="0" marL="0">
              <a:buNone/>
            </a:pPr>
            <a:r>
              <a:rPr lang="en-US" sz="1400" b="1" dirty="0">
                <a:solidFill>
                  <a:schemeClr val="bg1"/>
                </a:solidFill>
              </a:rPr>
              <a:t>Controllers</a:t>
            </a:r>
            <a:endParaRPr lang="en-US" sz="1400" dirty="0"/>
          </a:p>
          <a:p>
            <a:pPr algn="ctr" indent="0" marL="0">
              <a:buNone/>
            </a:pPr>
            <a:r>
              <a:rPr lang="en-US" sz="1100" dirty="0">
                <a:solidFill>
                  <a:schemeClr val="accent6"/>
                </a:solidFill>
              </a:rPr>
              <a:t>Empleado, Catálogo</a:t>
            </a:r>
            <a:endParaRPr lang="en-US" sz="1400" dirty="0"/>
          </a:p>
        </p:txBody>
      </p:sp>
      <p:sp>
        <p:nvSpPr>
          <p:cNvPr id="10" name="ExportadorTablas"/>
          <p:cNvSpPr/>
          <p:nvPr/>
        </p:nvSpPr>
        <p:spPr>
          <a:xfrm>
            <a:off x="2743200" y="2377440"/>
            <a:ext cx="1828800" cy="822960"/>
          </a:xfrm>
          <a:prstGeom prst="roundRect">
            <a:avLst>
              <a:gd name="adj" fmla="val 8889"/>
            </a:avLst>
          </a:prstGeom>
          <a:solidFill>
            <a:schemeClr val="accent1"/>
          </a:solidFill>
          <a:ln/>
        </p:spPr>
      </p:sp>
      <p:sp>
        <p:nvSpPr>
          <p:cNvPr id="11" name="Text 8"/>
          <p:cNvSpPr txBox="1"/>
          <p:nvPr/>
        </p:nvSpPr>
        <p:spPr>
          <a:xfrm>
            <a:off x="2834640" y="2377440"/>
            <a:ext cx="1645920" cy="822960"/>
          </a:xfrm>
          <a:prstGeom prst="rect">
            <a:avLst/>
          </a:prstGeom>
          <a:noFill/>
          <a:ln/>
        </p:spPr>
        <p:txBody>
          <a:bodyPr wrap="square" lIns="0" tIns="0" rIns="0" bIns="0" rtlCol="0" anchor="ctr"/>
          <a:lstStyle/>
          <a:p>
            <a:pPr algn="ctr" indent="0" marL="0">
              <a:buNone/>
            </a:pPr>
            <a:r>
              <a:rPr lang="en-US" sz="1400" b="1" dirty="0">
                <a:solidFill>
                  <a:schemeClr val="bg1"/>
                </a:solidFill>
              </a:rPr>
              <a:t>ExportadorTablas</a:t>
            </a:r>
            <a:endParaRPr lang="en-US" sz="1400" dirty="0"/>
          </a:p>
          <a:p>
            <a:pPr algn="ctr" indent="0" marL="0">
              <a:buNone/>
            </a:pPr>
            <a:r>
              <a:rPr lang="en-US" sz="1100" dirty="0">
                <a:solidFill>
                  <a:schemeClr val="accent6"/>
                </a:solidFill>
              </a:rPr>
              <a:t>elige por formato</a:t>
            </a:r>
            <a:endParaRPr lang="en-US" sz="1400" dirty="0"/>
          </a:p>
        </p:txBody>
      </p:sp>
      <p:sp>
        <p:nvSpPr>
          <p:cNvPr id="12" name="IExportadorTabla"/>
          <p:cNvSpPr/>
          <p:nvPr/>
        </p:nvSpPr>
        <p:spPr>
          <a:xfrm>
            <a:off x="5029200" y="2377440"/>
            <a:ext cx="1828800" cy="822960"/>
          </a:xfrm>
          <a:prstGeom prst="roundRect">
            <a:avLst>
              <a:gd name="adj" fmla="val 8889"/>
            </a:avLst>
          </a:prstGeom>
          <a:solidFill>
            <a:schemeClr val="accent2"/>
          </a:solidFill>
          <a:ln/>
        </p:spPr>
      </p:sp>
      <p:sp>
        <p:nvSpPr>
          <p:cNvPr id="13" name="Text 10"/>
          <p:cNvSpPr txBox="1"/>
          <p:nvPr/>
        </p:nvSpPr>
        <p:spPr>
          <a:xfrm>
            <a:off x="5120640" y="2377440"/>
            <a:ext cx="1645920" cy="822960"/>
          </a:xfrm>
          <a:prstGeom prst="rect">
            <a:avLst/>
          </a:prstGeom>
          <a:noFill/>
          <a:ln/>
        </p:spPr>
        <p:txBody>
          <a:bodyPr wrap="square" lIns="0" tIns="0" rIns="0" bIns="0" rtlCol="0" anchor="ctr"/>
          <a:lstStyle/>
          <a:p>
            <a:pPr algn="ctr" indent="0" marL="0">
              <a:buNone/>
            </a:pPr>
            <a:r>
              <a:rPr lang="en-US" sz="1400" b="1" dirty="0">
                <a:solidFill>
                  <a:schemeClr val="tx2"/>
                </a:solidFill>
              </a:rPr>
              <a:t>IExportadorTabla</a:t>
            </a:r>
            <a:endParaRPr lang="en-US" sz="1400" dirty="0"/>
          </a:p>
          <a:p>
            <a:pPr algn="ctr" indent="0" marL="0">
              <a:buNone/>
            </a:pPr>
            <a:r>
              <a:rPr lang="en-US" sz="1100" dirty="0">
                <a:solidFill>
                  <a:schemeClr val="tx2"/>
                </a:solidFill>
              </a:rPr>
              <a:t>contrato</a:t>
            </a:r>
            <a:endParaRPr lang="en-US" sz="1400" dirty="0"/>
          </a:p>
        </p:txBody>
      </p:sp>
      <p:sp>
        <p:nvSpPr>
          <p:cNvPr id="14" name="ExportadorCsv"/>
          <p:cNvSpPr/>
          <p:nvPr/>
        </p:nvSpPr>
        <p:spPr>
          <a:xfrm>
            <a:off x="7269480" y="1874520"/>
            <a:ext cx="1417320" cy="685800"/>
          </a:xfrm>
          <a:prstGeom prst="roundRect">
            <a:avLst>
              <a:gd name="adj" fmla="val 10667"/>
            </a:avLst>
          </a:prstGeom>
          <a:solidFill>
            <a:schemeClr val="accent5"/>
          </a:solidFill>
          <a:ln/>
        </p:spPr>
      </p:sp>
      <p:sp>
        <p:nvSpPr>
          <p:cNvPr id="15" name="Text 12"/>
          <p:cNvSpPr txBox="1"/>
          <p:nvPr/>
        </p:nvSpPr>
        <p:spPr>
          <a:xfrm>
            <a:off x="7360920" y="1874520"/>
            <a:ext cx="1234440" cy="685800"/>
          </a:xfrm>
          <a:prstGeom prst="rect">
            <a:avLst/>
          </a:prstGeom>
          <a:noFill/>
          <a:ln/>
        </p:spPr>
        <p:txBody>
          <a:bodyPr wrap="square" lIns="0" tIns="0" rIns="0" bIns="0" rtlCol="0" anchor="ctr"/>
          <a:lstStyle/>
          <a:p>
            <a:pPr algn="ctr" indent="0" marL="0">
              <a:buNone/>
            </a:pPr>
            <a:r>
              <a:rPr lang="en-US" sz="1400" b="1" dirty="0">
                <a:solidFill>
                  <a:schemeClr val="bg1"/>
                </a:solidFill>
              </a:rPr>
              <a:t>ExportadorCsv</a:t>
            </a:r>
            <a:endParaRPr lang="en-US" sz="1400" dirty="0"/>
          </a:p>
        </p:txBody>
      </p:sp>
      <p:sp>
        <p:nvSpPr>
          <p:cNvPr id="16" name="Excel / PDF"/>
          <p:cNvSpPr/>
          <p:nvPr/>
        </p:nvSpPr>
        <p:spPr>
          <a:xfrm>
            <a:off x="7269480" y="3017520"/>
            <a:ext cx="1417320" cy="685800"/>
          </a:xfrm>
          <a:prstGeom prst="roundRect">
            <a:avLst>
              <a:gd name="adj" fmla="val 10667"/>
            </a:avLst>
          </a:prstGeom>
          <a:solidFill>
            <a:schemeClr val="bg1"/>
          </a:solidFill>
          <a:ln w="15875">
            <a:solidFill>
              <a:schemeClr val="accent5"/>
            </a:solidFill>
            <a:prstDash val="dash"/>
          </a:ln>
        </p:spPr>
      </p:sp>
      <p:sp>
        <p:nvSpPr>
          <p:cNvPr id="17" name="Text 14"/>
          <p:cNvSpPr txBox="1"/>
          <p:nvPr/>
        </p:nvSpPr>
        <p:spPr>
          <a:xfrm>
            <a:off x="7360920" y="3017520"/>
            <a:ext cx="1234440" cy="685800"/>
          </a:xfrm>
          <a:prstGeom prst="rect">
            <a:avLst/>
          </a:prstGeom>
          <a:noFill/>
          <a:ln/>
        </p:spPr>
        <p:txBody>
          <a:bodyPr wrap="square" lIns="0" tIns="0" rIns="0" bIns="0" rtlCol="0" anchor="ctr"/>
          <a:lstStyle/>
          <a:p>
            <a:pPr algn="ctr" indent="0" marL="0">
              <a:buNone/>
            </a:pPr>
            <a:r>
              <a:rPr lang="en-US" sz="1400" b="1" dirty="0">
                <a:solidFill>
                  <a:schemeClr val="accent5"/>
                </a:solidFill>
              </a:rPr>
              <a:t>Excel / PDF</a:t>
            </a:r>
            <a:endParaRPr lang="en-US" sz="1400" dirty="0"/>
          </a:p>
          <a:p>
            <a:pPr algn="ctr" indent="0" marL="0">
              <a:buNone/>
            </a:pPr>
            <a:r>
              <a:rPr lang="en-US" sz="1100" dirty="0">
                <a:solidFill>
                  <a:schemeClr val="accent5"/>
                </a:solidFill>
              </a:rPr>
              <a:t>extensión futura</a:t>
            </a:r>
            <a:endParaRPr lang="en-US" sz="1400" dirty="0"/>
          </a:p>
        </p:txBody>
      </p:sp>
      <p:sp>
        <p:nvSpPr>
          <p:cNvPr id="18" name="Shape 15"/>
          <p:cNvSpPr/>
          <p:nvPr/>
        </p:nvSpPr>
        <p:spPr>
          <a:xfrm>
            <a:off x="2286000" y="2788920"/>
            <a:ext cx="457200" cy="0"/>
          </a:xfrm>
          <a:prstGeom prst="line">
            <a:avLst/>
          </a:prstGeom>
          <a:noFill/>
          <a:ln w="19050">
            <a:solidFill>
              <a:schemeClr val="accent5"/>
            </a:solidFill>
            <a:prstDash val="solid"/>
            <a:tailEnd type="triangle"/>
          </a:ln>
        </p:spPr>
      </p:sp>
      <p:sp>
        <p:nvSpPr>
          <p:cNvPr id="19" name="Shape 16"/>
          <p:cNvSpPr/>
          <p:nvPr/>
        </p:nvSpPr>
        <p:spPr>
          <a:xfrm>
            <a:off x="4572000" y="2788920"/>
            <a:ext cx="457200" cy="0"/>
          </a:xfrm>
          <a:prstGeom prst="line">
            <a:avLst/>
          </a:prstGeom>
          <a:noFill/>
          <a:ln w="19050">
            <a:solidFill>
              <a:schemeClr val="accent5"/>
            </a:solidFill>
            <a:prstDash val="solid"/>
            <a:tailEnd type="triangle"/>
          </a:ln>
        </p:spPr>
      </p:sp>
      <p:sp>
        <p:nvSpPr>
          <p:cNvPr id="20" name="Shape 17"/>
          <p:cNvSpPr/>
          <p:nvPr/>
        </p:nvSpPr>
        <p:spPr>
          <a:xfrm flipH="1">
            <a:off x="6858000" y="2221992"/>
            <a:ext cx="411480" cy="384048"/>
          </a:xfrm>
          <a:prstGeom prst="line">
            <a:avLst/>
          </a:prstGeom>
          <a:noFill/>
          <a:ln w="19050">
            <a:solidFill>
              <a:schemeClr val="accent5"/>
            </a:solidFill>
            <a:prstDash val="solid"/>
            <a:tailEnd type="triangle"/>
          </a:ln>
        </p:spPr>
      </p:sp>
      <p:sp>
        <p:nvSpPr>
          <p:cNvPr id="21" name="Shape 18"/>
          <p:cNvSpPr/>
          <p:nvPr/>
        </p:nvSpPr>
        <p:spPr>
          <a:xfrm flipH="1" flipV="1">
            <a:off x="6858000" y="2971800"/>
            <a:ext cx="411480" cy="384048"/>
          </a:xfrm>
          <a:prstGeom prst="line">
            <a:avLst/>
          </a:prstGeom>
          <a:noFill/>
          <a:ln w="19050">
            <a:solidFill>
              <a:schemeClr val="accent5"/>
            </a:solidFill>
            <a:prstDash val="solid"/>
            <a:tailEnd type="triangle"/>
          </a:ln>
        </p:spPr>
      </p:sp>
      <p:sp>
        <p:nvSpPr>
          <p:cNvPr id="22" name="Text 19"/>
          <p:cNvSpPr txBox="1"/>
          <p:nvPr/>
        </p:nvSpPr>
        <p:spPr>
          <a:xfrm>
            <a:off x="457200" y="3840480"/>
            <a:ext cx="8229600" cy="365760"/>
          </a:xfrm>
          <a:prstGeom prst="rect">
            <a:avLst/>
          </a:prstGeom>
          <a:noFill/>
          <a:ln/>
        </p:spPr>
        <p:txBody>
          <a:bodyPr wrap="square" lIns="0" tIns="0" rIns="0" bIns="0" rtlCol="0" anchor="ctr"/>
          <a:lstStyle/>
          <a:p>
            <a:pPr indent="0" marL="0">
              <a:buNone/>
            </a:pPr>
            <a:r>
              <a:rPr lang="en-US" sz="1300" b="1" dirty="0">
                <a:solidFill>
                  <a:schemeClr val="accent1"/>
                </a:solidFill>
              </a:rPr>
              <a:t>Prueba: </a:t>
            </a:r>
            <a:pPr indent="0" marL="0">
              <a:buNone/>
            </a:pPr>
            <a:r>
              <a:rPr lang="en-US" sz="1300" dirty="0">
                <a:solidFill>
                  <a:schemeClr val="tx1"/>
                </a:solidFill>
              </a:rPr>
              <a:t>ExportacionTests registra un formato TSV ficticio y funciona sin modificar ninguna clase existente.</a:t>
            </a:r>
            <a:endParaRPr lang="en-US" sz="1300" dirty="0"/>
          </a:p>
        </p:txBody>
      </p:sp>
      <p:sp>
        <p:nvSpPr>
          <p:cNvPr id="23" name="Text 20"/>
          <p:cNvSpPr txBox="1"/>
          <p:nvPr/>
        </p:nvSpPr>
        <p:spPr>
          <a:xfrm>
            <a:off x="457200" y="4251960"/>
            <a:ext cx="8229600" cy="320040"/>
          </a:xfrm>
          <a:prstGeom prst="rect">
            <a:avLst/>
          </a:prstGeom>
          <a:noFill/>
          <a:ln/>
        </p:spPr>
        <p:txBody>
          <a:bodyPr wrap="square" lIns="0" tIns="0" rIns="0" bIns="0" rtlCol="0" anchor="ctr"/>
          <a:lstStyle/>
          <a:p>
            <a:pPr indent="0" marL="0">
              <a:buNone/>
            </a:pPr>
            <a:r>
              <a:rPr lang="en-US" sz="1100" b="1" dirty="0">
                <a:solidFill>
                  <a:schemeClr val="accent1"/>
                </a:solidFill>
                <a:latin typeface="Calibri" pitchFamily="34" charset="0"/>
                <a:ea typeface="Calibri" pitchFamily="34" charset="-122"/>
                <a:cs typeface="Calibri" pitchFamily="34" charset="-120"/>
              </a:rPr>
              <a:t>Dónde: </a:t>
            </a:r>
            <a:pPr indent="0" marL="0">
              <a:buNone/>
            </a:pPr>
            <a:r>
              <a:rPr lang="en-US" sz="1100" dirty="0">
                <a:solidFill>
                  <a:schemeClr val="tx1"/>
                </a:solidFill>
                <a:latin typeface="Courier New" pitchFamily="34" charset="0"/>
                <a:ea typeface="Courier New" pitchFamily="34" charset="-122"/>
                <a:cs typeface="Courier New" pitchFamily="34" charset="-120"/>
              </a:rPr>
              <a:t>Capa Logica/Exportacion/ · Utilidades/RegistroCapas.cs · ExportacionTests.cs</a:t>
            </a:r>
            <a:endParaRPr lang="en-US" sz="11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Insignia semana"/>
          <p:cNvSpPr/>
          <p:nvPr/>
        </p:nvSpPr>
        <p:spPr>
          <a:xfrm>
            <a:off x="457200" y="265176"/>
            <a:ext cx="548640" cy="548640"/>
          </a:xfrm>
          <a:prstGeom prst="ellipse">
            <a:avLst/>
          </a:prstGeom>
          <a:solidFill>
            <a:schemeClr val="accent2"/>
          </a:solidFill>
          <a:ln/>
        </p:spPr>
      </p:sp>
      <p:sp>
        <p:nvSpPr>
          <p:cNvPr id="4" name="Text 1"/>
          <p:cNvSpPr txBox="1"/>
          <p:nvPr/>
        </p:nvSpPr>
        <p:spPr>
          <a:xfrm>
            <a:off x="457200" y="265176"/>
            <a:ext cx="548640" cy="548640"/>
          </a:xfrm>
          <a:prstGeom prst="rect">
            <a:avLst/>
          </a:prstGeom>
          <a:noFill/>
          <a:ln/>
        </p:spPr>
        <p:txBody>
          <a:bodyPr wrap="square" lIns="0" tIns="0" rIns="0" bIns="0" rtlCol="0" anchor="ctr"/>
          <a:lstStyle/>
          <a:p>
            <a:pPr algn="ctr" indent="0" marL="0">
              <a:buNone/>
            </a:pPr>
            <a:r>
              <a:rPr lang="en-US" sz="1600" b="1" dirty="0">
                <a:solidFill>
                  <a:schemeClr val="tx2"/>
                </a:solidFill>
              </a:rPr>
              <a:t>S6</a:t>
            </a:r>
            <a:endParaRPr lang="en-US" sz="1600" dirty="0"/>
          </a:p>
        </p:txBody>
      </p:sp>
      <p:sp>
        <p:nvSpPr>
          <p:cNvPr id="5" name="Text 0"/>
          <p:cNvSpPr/>
          <p:nvPr>
            <p:ph idx="100" type="title" hasCustomPrompt="1"/>
          </p:nvPr>
        </p:nvSpPr>
        <p:spPr>
          <a:xfrm>
            <a:off x="1188720" y="256032"/>
            <a:ext cx="7498080" cy="566928"/>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Clean Code</a:t>
            </a:r>
            <a:endParaRPr lang="en-US" sz="2800" dirty="0"/>
          </a:p>
        </p:txBody>
      </p:sp>
      <p:sp>
        <p:nvSpPr>
          <p:cNvPr id="6" name="Text 3"/>
          <p:cNvSpPr txBox="1"/>
          <p:nvPr/>
        </p:nvSpPr>
        <p:spPr>
          <a:xfrm>
            <a:off x="457200" y="914400"/>
            <a:ext cx="8229600" cy="411480"/>
          </a:xfrm>
          <a:prstGeom prst="rect">
            <a:avLst/>
          </a:prstGeom>
          <a:noFill/>
          <a:ln/>
        </p:spPr>
        <p:txBody>
          <a:bodyPr wrap="square" lIns="0" tIns="0" rIns="0" bIns="0" rtlCol="0" anchor="ctr"/>
          <a:lstStyle/>
          <a:p>
            <a:pPr indent="0" marL="0">
              <a:buNone/>
            </a:pPr>
            <a:r>
              <a:rPr lang="en-US" sz="1400" b="1" dirty="0">
                <a:solidFill>
                  <a:schemeClr val="accent1"/>
                </a:solidFill>
              </a:rPr>
              <a:t>Concepto: </a:t>
            </a:r>
            <a:pPr indent="0" marL="0">
              <a:buNone/>
            </a:pPr>
            <a:r>
              <a:rPr lang="en-US" sz="1400" i="1" dirty="0">
                <a:solidFill>
                  <a:schemeClr val="tx1"/>
                </a:solidFill>
              </a:rPr>
              <a:t>nombres que revelan la intención, funciones cortas y sin valores mágicos.</a:t>
            </a:r>
            <a:endParaRPr lang="en-US" sz="1400" dirty="0"/>
          </a:p>
        </p:txBody>
      </p:sp>
      <p:sp>
        <p:nvSpPr>
          <p:cNvPr id="7" name="ANTES"/>
          <p:cNvSpPr/>
          <p:nvPr/>
        </p:nvSpPr>
        <p:spPr>
          <a:xfrm>
            <a:off x="457200" y="1463040"/>
            <a:ext cx="3977640" cy="1463040"/>
          </a:xfrm>
          <a:prstGeom prst="roundRect">
            <a:avLst>
              <a:gd name="adj" fmla="val 3750"/>
            </a:avLst>
          </a:prstGeom>
          <a:solidFill>
            <a:schemeClr val="tx1"/>
          </a:solidFill>
          <a:ln/>
        </p:spPr>
      </p:sp>
      <p:sp>
        <p:nvSpPr>
          <p:cNvPr id="8" name="Text 5"/>
          <p:cNvSpPr txBox="1"/>
          <p:nvPr/>
        </p:nvSpPr>
        <p:spPr>
          <a:xfrm>
            <a:off x="640080" y="1554480"/>
            <a:ext cx="3611880" cy="256032"/>
          </a:xfrm>
          <a:prstGeom prst="rect">
            <a:avLst/>
          </a:prstGeom>
          <a:noFill/>
          <a:ln/>
        </p:spPr>
        <p:txBody>
          <a:bodyPr wrap="square" lIns="0" tIns="0" rIns="0" bIns="0" rtlCol="0" anchor="ctr"/>
          <a:lstStyle/>
          <a:p>
            <a:pPr indent="0" marL="0">
              <a:buNone/>
            </a:pPr>
            <a:r>
              <a:rPr lang="en-US" sz="1100" b="1" dirty="0">
                <a:solidFill>
                  <a:schemeClr val="accent6"/>
                </a:solidFill>
              </a:rPr>
              <a:t>ANTES</a:t>
            </a:r>
            <a:endParaRPr lang="en-US" sz="1100" dirty="0"/>
          </a:p>
        </p:txBody>
      </p:sp>
      <p:sp>
        <p:nvSpPr>
          <p:cNvPr id="9" name="Text 6"/>
          <p:cNvSpPr txBox="1"/>
          <p:nvPr/>
        </p:nvSpPr>
        <p:spPr>
          <a:xfrm>
            <a:off x="640080" y="1874520"/>
            <a:ext cx="3611880" cy="960120"/>
          </a:xfrm>
          <a:prstGeom prst="rect">
            <a:avLst/>
          </a:prstGeom>
          <a:noFill/>
          <a:ln/>
        </p:spPr>
        <p:txBody>
          <a:bodyPr wrap="square" lIns="0" tIns="0" rIns="0" bIns="0" rtlCol="0" anchor="t"/>
          <a:lstStyle/>
          <a:p>
            <a:pPr indent="0" marL="0">
              <a:buNone/>
            </a:pPr>
            <a:r>
              <a:rPr lang="en-US" sz="1050" dirty="0">
                <a:solidFill>
                  <a:schemeClr val="bg2"/>
                </a:solidFill>
                <a:latin typeface="Courier New" pitchFamily="34" charset="0"/>
                <a:ea typeface="Courier New" pitchFamily="34" charset="-122"/>
                <a:cs typeface="Courier New" pitchFamily="34" charset="-120"/>
              </a:rPr>
              <a:t>if (e.Estado == "A") ...</a:t>
            </a:r>
            <a:endParaRPr lang="en-US" sz="1050" dirty="0"/>
          </a:p>
          <a:p>
            <a:pPr indent="0" marL="0">
              <a:buNone/>
            </a:pPr>
            <a:r>
              <a:rPr lang="en-US" sz="1050" dirty="0">
                <a:solidFill>
                  <a:schemeClr val="bg2"/>
                </a:solidFill>
                <a:latin typeface="Courier New" pitchFamily="34" charset="0"/>
                <a:ea typeface="Courier New" pitchFamily="34" charset="-122"/>
                <a:cs typeface="Courier New" pitchFamily="34" charset="-120"/>
              </a:rPr>
              <a:t>rol.IdSistema == "0500000"</a:t>
            </a:r>
            <a:endParaRPr lang="en-US" sz="1050" dirty="0"/>
          </a:p>
          <a:p>
            <a:pPr indent="0" marL="0">
              <a:buNone/>
            </a:pPr>
            <a:r>
              <a:rPr lang="en-US" sz="1050" dirty="0">
                <a:solidFill>
                  <a:schemeClr val="bg2"/>
                </a:solidFill>
                <a:latin typeface="Courier New" pitchFamily="34" charset="0"/>
                <a:ea typeface="Courier New" pitchFamily="34" charset="-122"/>
                <a:cs typeface="Courier New" pitchFamily="34" charset="-120"/>
              </a:rPr>
              <a:t>.Take(25)</a:t>
            </a:r>
            <a:endParaRPr lang="en-US" sz="1050" dirty="0"/>
          </a:p>
          <a:p>
            <a:pPr indent="0" marL="0">
              <a:buNone/>
            </a:pPr>
            <a:r>
              <a:rPr lang="en-US" sz="1050" dirty="0">
                <a:solidFill>
                  <a:schemeClr val="bg2"/>
                </a:solidFill>
                <a:latin typeface="Courier New" pitchFamily="34" charset="0"/>
                <a:ea typeface="Courier New" pitchFamily="34" charset="-122"/>
                <a:cs typeface="Courier New" pitchFamily="34" charset="-120"/>
              </a:rPr>
              <a:t>"...where pers_dni='" &amp; dni &amp; "'"</a:t>
            </a:r>
            <a:endParaRPr lang="en-US" sz="1050" dirty="0"/>
          </a:p>
        </p:txBody>
      </p:sp>
      <p:sp>
        <p:nvSpPr>
          <p:cNvPr id="10" name="AHORA"/>
          <p:cNvSpPr/>
          <p:nvPr/>
        </p:nvSpPr>
        <p:spPr>
          <a:xfrm>
            <a:off x="4709160" y="1463040"/>
            <a:ext cx="3977640" cy="1463040"/>
          </a:xfrm>
          <a:prstGeom prst="roundRect">
            <a:avLst>
              <a:gd name="adj" fmla="val 3750"/>
            </a:avLst>
          </a:prstGeom>
          <a:solidFill>
            <a:schemeClr val="tx1"/>
          </a:solidFill>
          <a:ln/>
        </p:spPr>
      </p:sp>
      <p:sp>
        <p:nvSpPr>
          <p:cNvPr id="11" name="Text 8"/>
          <p:cNvSpPr txBox="1"/>
          <p:nvPr/>
        </p:nvSpPr>
        <p:spPr>
          <a:xfrm>
            <a:off x="4892040" y="1554480"/>
            <a:ext cx="3611880" cy="256032"/>
          </a:xfrm>
          <a:prstGeom prst="rect">
            <a:avLst/>
          </a:prstGeom>
          <a:noFill/>
          <a:ln/>
        </p:spPr>
        <p:txBody>
          <a:bodyPr wrap="square" lIns="0" tIns="0" rIns="0" bIns="0" rtlCol="0" anchor="ctr"/>
          <a:lstStyle/>
          <a:p>
            <a:pPr indent="0" marL="0">
              <a:buNone/>
            </a:pPr>
            <a:r>
              <a:rPr lang="en-US" sz="1100" b="1" dirty="0">
                <a:solidFill>
                  <a:schemeClr val="accent2"/>
                </a:solidFill>
              </a:rPr>
              <a:t>AHORA</a:t>
            </a:r>
            <a:endParaRPr lang="en-US" sz="1100" dirty="0"/>
          </a:p>
        </p:txBody>
      </p:sp>
      <p:sp>
        <p:nvSpPr>
          <p:cNvPr id="12" name="Text 9"/>
          <p:cNvSpPr txBox="1"/>
          <p:nvPr/>
        </p:nvSpPr>
        <p:spPr>
          <a:xfrm>
            <a:off x="4892040" y="1874520"/>
            <a:ext cx="3611880" cy="960120"/>
          </a:xfrm>
          <a:prstGeom prst="rect">
            <a:avLst/>
          </a:prstGeom>
          <a:noFill/>
          <a:ln/>
        </p:spPr>
        <p:txBody>
          <a:bodyPr wrap="square" lIns="0" tIns="0" rIns="0" bIns="0" rtlCol="0" anchor="t"/>
          <a:lstStyle/>
          <a:p>
            <a:pPr indent="0" marL="0">
              <a:buNone/>
            </a:pPr>
            <a:r>
              <a:rPr lang="en-US" sz="1050" dirty="0">
                <a:solidFill>
                  <a:schemeClr val="bg2"/>
                </a:solidFill>
                <a:latin typeface="Courier New" pitchFamily="34" charset="0"/>
                <a:ea typeface="Courier New" pitchFamily="34" charset="-122"/>
                <a:cs typeface="Courier New" pitchFamily="34" charset="-120"/>
              </a:rPr>
              <a:t>if (e.Estado == EstadosEmpleado.Activo)</a:t>
            </a:r>
            <a:endParaRPr lang="en-US" sz="1050" dirty="0"/>
          </a:p>
          <a:p>
            <a:pPr indent="0" marL="0">
              <a:buNone/>
            </a:pPr>
            <a:r>
              <a:rPr lang="en-US" sz="1050" dirty="0">
                <a:solidFill>
                  <a:schemeClr val="bg2"/>
                </a:solidFill>
                <a:latin typeface="Courier New" pitchFamily="34" charset="0"/>
                <a:ea typeface="Courier New" pitchFamily="34" charset="-122"/>
                <a:cs typeface="Courier New" pitchFamily="34" charset="-120"/>
              </a:rPr>
              <a:t>ConstantesSeguridad.SistemaRRHH</a:t>
            </a:r>
            <a:endParaRPr lang="en-US" sz="1050" dirty="0"/>
          </a:p>
          <a:p>
            <a:pPr indent="0" marL="0">
              <a:buNone/>
            </a:pPr>
            <a:r>
              <a:rPr lang="en-US" sz="1050" dirty="0">
                <a:solidFill>
                  <a:schemeClr val="bg2"/>
                </a:solidFill>
                <a:latin typeface="Courier New" pitchFamily="34" charset="0"/>
                <a:ea typeface="Courier New" pitchFamily="34" charset="-122"/>
                <a:cs typeface="Courier New" pitchFamily="34" charset="-120"/>
              </a:rPr>
              <a:t>.Take(Paginacion.TamanoPagina)</a:t>
            </a:r>
            <a:endParaRPr lang="en-US" sz="1050" dirty="0"/>
          </a:p>
          <a:p>
            <a:pPr indent="0" marL="0">
              <a:buNone/>
            </a:pPr>
            <a:r>
              <a:rPr lang="en-US" sz="1050" dirty="0">
                <a:solidFill>
                  <a:schemeClr val="bg2"/>
                </a:solidFill>
                <a:latin typeface="Courier New" pitchFamily="34" charset="0"/>
                <a:ea typeface="Courier New" pitchFamily="34" charset="-122"/>
                <a:cs typeface="Courier New" pitchFamily="34" charset="-120"/>
              </a:rPr>
              <a:t>consultas parametrizadas con EF Core</a:t>
            </a:r>
            <a:endParaRPr lang="en-US" sz="1050" dirty="0"/>
          </a:p>
        </p:txBody>
      </p:sp>
      <p:sp>
        <p:nvSpPr>
          <p:cNvPr id="13" name="Text 10"/>
          <p:cNvSpPr txBox="1"/>
          <p:nvPr/>
        </p:nvSpPr>
        <p:spPr>
          <a:xfrm>
            <a:off x="457200" y="3108960"/>
            <a:ext cx="8229600" cy="109728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Un verbo por concepto: Listar, Obtener, Crear, Actualizar, Eliminar</a:t>
            </a:r>
            <a:endParaRPr lang="en-US" sz="1400" dirty="0"/>
          </a:p>
          <a:p>
            <a:pPr marL="177800" indent="-177800">
              <a:spcAft>
                <a:spcPts val="500"/>
              </a:spcAft>
              <a:buSzPct val="100000"/>
              <a:buChar char="•"/>
            </a:pPr>
            <a:r>
              <a:rPr lang="en-US" sz="1400" dirty="0">
                <a:solidFill>
                  <a:schemeClr val="tx1"/>
                </a:solidFill>
              </a:rPr>
              <a:t>26 dependencias inyectadas y nunca usadas → eliminadas</a:t>
            </a:r>
            <a:endParaRPr lang="en-US" sz="1400" dirty="0"/>
          </a:p>
          <a:p>
            <a:pPr marL="177800" indent="-177800">
              <a:spcAft>
                <a:spcPts val="500"/>
              </a:spcAft>
              <a:buSzPct val="100000"/>
              <a:buChar char="•"/>
            </a:pPr>
            <a:r>
              <a:rPr lang="en-US" sz="1400" dirty="0">
                <a:solidFill>
                  <a:schemeClr val="tx1"/>
                </a:solidFill>
              </a:rPr>
              <a:t>Campos _xxxData que eran de tipo Logica → renombrados a _xxxLogica</a:t>
            </a:r>
            <a:endParaRPr lang="en-US" sz="1400" dirty="0"/>
          </a:p>
        </p:txBody>
      </p:sp>
      <p:sp>
        <p:nvSpPr>
          <p:cNvPr id="14" name="Text 11"/>
          <p:cNvSpPr txBox="1"/>
          <p:nvPr/>
        </p:nvSpPr>
        <p:spPr>
          <a:xfrm>
            <a:off x="457200" y="4343400"/>
            <a:ext cx="8229600" cy="320040"/>
          </a:xfrm>
          <a:prstGeom prst="rect">
            <a:avLst/>
          </a:prstGeom>
          <a:noFill/>
          <a:ln/>
        </p:spPr>
        <p:txBody>
          <a:bodyPr wrap="square" lIns="0" tIns="0" rIns="0" bIns="0" rtlCol="0" anchor="ctr"/>
          <a:lstStyle/>
          <a:p>
            <a:pPr indent="0" marL="0">
              <a:buNone/>
            </a:pPr>
            <a:r>
              <a:rPr lang="en-US" sz="1100" b="1" dirty="0">
                <a:solidFill>
                  <a:schemeClr val="accent1"/>
                </a:solidFill>
                <a:latin typeface="Calibri" pitchFamily="34" charset="0"/>
                <a:ea typeface="Calibri" pitchFamily="34" charset="-122"/>
                <a:cs typeface="Calibri" pitchFamily="34" charset="-120"/>
              </a:rPr>
              <a:t>Dónde: </a:t>
            </a:r>
            <a:pPr indent="0" marL="0">
              <a:buNone/>
            </a:pPr>
            <a:r>
              <a:rPr lang="en-US" sz="1100" dirty="0">
                <a:solidFill>
                  <a:schemeClr val="tx1"/>
                </a:solidFill>
                <a:latin typeface="Courier New" pitchFamily="34" charset="0"/>
                <a:ea typeface="Courier New" pitchFamily="34" charset="-122"/>
                <a:cs typeface="Courier New" pitchFamily="34" charset="-120"/>
              </a:rPr>
              <a:t>Capa Entidades/Constantes/ · Utilidades/Paginacion.cs · Controllers/</a:t>
            </a:r>
            <a:endParaRPr lang="en-US" sz="11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Insignia semana"/>
          <p:cNvSpPr/>
          <p:nvPr/>
        </p:nvSpPr>
        <p:spPr>
          <a:xfrm>
            <a:off x="457200" y="265176"/>
            <a:ext cx="548640" cy="548640"/>
          </a:xfrm>
          <a:prstGeom prst="ellipse">
            <a:avLst/>
          </a:prstGeom>
          <a:solidFill>
            <a:schemeClr val="accent2"/>
          </a:solidFill>
          <a:ln/>
        </p:spPr>
      </p:sp>
      <p:sp>
        <p:nvSpPr>
          <p:cNvPr id="4" name="Text 1"/>
          <p:cNvSpPr txBox="1"/>
          <p:nvPr/>
        </p:nvSpPr>
        <p:spPr>
          <a:xfrm>
            <a:off x="457200" y="265176"/>
            <a:ext cx="548640" cy="548640"/>
          </a:xfrm>
          <a:prstGeom prst="rect">
            <a:avLst/>
          </a:prstGeom>
          <a:noFill/>
          <a:ln/>
        </p:spPr>
        <p:txBody>
          <a:bodyPr wrap="square" lIns="0" tIns="0" rIns="0" bIns="0" rtlCol="0" anchor="ctr"/>
          <a:lstStyle/>
          <a:p>
            <a:pPr algn="ctr" indent="0" marL="0">
              <a:buNone/>
            </a:pPr>
            <a:r>
              <a:rPr lang="en-US" sz="1600" b="1" dirty="0">
                <a:solidFill>
                  <a:schemeClr val="tx2"/>
                </a:solidFill>
              </a:rPr>
              <a:t>S7</a:t>
            </a:r>
            <a:endParaRPr lang="en-US" sz="1600" dirty="0"/>
          </a:p>
        </p:txBody>
      </p:sp>
      <p:sp>
        <p:nvSpPr>
          <p:cNvPr id="5" name="Text 0"/>
          <p:cNvSpPr/>
          <p:nvPr>
            <p:ph idx="100" type="title" hasCustomPrompt="1"/>
          </p:nvPr>
        </p:nvSpPr>
        <p:spPr>
          <a:xfrm>
            <a:off x="1188720" y="256032"/>
            <a:ext cx="7498080" cy="566928"/>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Inversión de Control (IoC)</a:t>
            </a:r>
            <a:endParaRPr lang="en-US" sz="2800" dirty="0"/>
          </a:p>
        </p:txBody>
      </p:sp>
      <p:sp>
        <p:nvSpPr>
          <p:cNvPr id="6" name="Text 3"/>
          <p:cNvSpPr txBox="1"/>
          <p:nvPr/>
        </p:nvSpPr>
        <p:spPr>
          <a:xfrm>
            <a:off x="457200" y="914400"/>
            <a:ext cx="8229600" cy="411480"/>
          </a:xfrm>
          <a:prstGeom prst="rect">
            <a:avLst/>
          </a:prstGeom>
          <a:noFill/>
          <a:ln/>
        </p:spPr>
        <p:txBody>
          <a:bodyPr wrap="square" lIns="0" tIns="0" rIns="0" bIns="0" rtlCol="0" anchor="ctr"/>
          <a:lstStyle/>
          <a:p>
            <a:pPr indent="0" marL="0">
              <a:buNone/>
            </a:pPr>
            <a:r>
              <a:rPr lang="en-US" sz="1400" b="1" dirty="0">
                <a:solidFill>
                  <a:schemeClr val="accent1"/>
                </a:solidFill>
              </a:rPr>
              <a:t>Concepto: </a:t>
            </a:r>
            <a:pPr indent="0" marL="0">
              <a:buNone/>
            </a:pPr>
            <a:r>
              <a:rPr lang="en-US" sz="1400" i="1" dirty="0">
                <a:solidFill>
                  <a:schemeClr val="tx1"/>
                </a:solidFill>
              </a:rPr>
              <a:t>la clase no crea sus dependencias: las recibe como interfaces y el contenedor decide la implementación.</a:t>
            </a:r>
            <a:endParaRPr lang="en-US" sz="1400" dirty="0"/>
          </a:p>
        </p:txBody>
      </p:sp>
      <p:sp>
        <p:nvSpPr>
          <p:cNvPr id="7" name="Text 4"/>
          <p:cNvSpPr txBox="1"/>
          <p:nvPr/>
        </p:nvSpPr>
        <p:spPr>
          <a:xfrm>
            <a:off x="457200" y="1371600"/>
            <a:ext cx="8229600" cy="365760"/>
          </a:xfrm>
          <a:prstGeom prst="rect">
            <a:avLst/>
          </a:prstGeom>
          <a:noFill/>
          <a:ln/>
        </p:spPr>
        <p:txBody>
          <a:bodyPr wrap="square" lIns="0" tIns="0" rIns="0" bIns="0" rtlCol="0" anchor="ctr"/>
          <a:lstStyle/>
          <a:p>
            <a:pPr indent="0" marL="0">
              <a:buNone/>
            </a:pPr>
            <a:r>
              <a:rPr lang="en-US" sz="1400" b="1" dirty="0">
                <a:solidFill>
                  <a:schemeClr val="accent3"/>
                </a:solidFill>
              </a:rPr>
              <a:t>Antes: </a:t>
            </a:r>
            <a:pPr indent="0" marL="0">
              <a:buNone/>
            </a:pPr>
            <a:r>
              <a:rPr lang="en-US" sz="1400" dirty="0">
                <a:solidFill>
                  <a:schemeClr val="tx1"/>
                </a:solidFill>
              </a:rPr>
              <a:t>cada formulario creaba su TableAdapter y su conexión con New; imposible probar sin SQL Server.</a:t>
            </a:r>
            <a:endParaRPr lang="en-US" sz="1400" dirty="0"/>
          </a:p>
        </p:txBody>
      </p:sp>
      <p:sp>
        <p:nvSpPr>
          <p:cNvPr id="8" name="Capa Logica · recibe contratos"/>
          <p:cNvSpPr/>
          <p:nvPr/>
        </p:nvSpPr>
        <p:spPr>
          <a:xfrm>
            <a:off x="457200" y="1874520"/>
            <a:ext cx="4206240" cy="2286000"/>
          </a:xfrm>
          <a:prstGeom prst="roundRect">
            <a:avLst>
              <a:gd name="adj" fmla="val 2400"/>
            </a:avLst>
          </a:prstGeom>
          <a:solidFill>
            <a:schemeClr val="tx1"/>
          </a:solidFill>
          <a:ln/>
        </p:spPr>
      </p:sp>
      <p:sp>
        <p:nvSpPr>
          <p:cNvPr id="9" name="Text 6"/>
          <p:cNvSpPr txBox="1"/>
          <p:nvPr/>
        </p:nvSpPr>
        <p:spPr>
          <a:xfrm>
            <a:off x="640080" y="1965960"/>
            <a:ext cx="3840480" cy="256032"/>
          </a:xfrm>
          <a:prstGeom prst="rect">
            <a:avLst/>
          </a:prstGeom>
          <a:noFill/>
          <a:ln/>
        </p:spPr>
        <p:txBody>
          <a:bodyPr wrap="square" lIns="0" tIns="0" rIns="0" bIns="0" rtlCol="0" anchor="ctr"/>
          <a:lstStyle/>
          <a:p>
            <a:pPr indent="0" marL="0">
              <a:buNone/>
            </a:pPr>
            <a:r>
              <a:rPr lang="en-US" sz="1100" b="1" dirty="0">
                <a:solidFill>
                  <a:schemeClr val="accent2"/>
                </a:solidFill>
              </a:rPr>
              <a:t>Capa Logica · recibe contratos</a:t>
            </a:r>
            <a:endParaRPr lang="en-US" sz="1100" dirty="0"/>
          </a:p>
        </p:txBody>
      </p:sp>
      <p:sp>
        <p:nvSpPr>
          <p:cNvPr id="10" name="Text 7"/>
          <p:cNvSpPr txBox="1"/>
          <p:nvPr/>
        </p:nvSpPr>
        <p:spPr>
          <a:xfrm>
            <a:off x="640080" y="2286000"/>
            <a:ext cx="3840480" cy="1783080"/>
          </a:xfrm>
          <a:prstGeom prst="rect">
            <a:avLst/>
          </a:prstGeom>
          <a:noFill/>
          <a:ln/>
        </p:spPr>
        <p:txBody>
          <a:bodyPr wrap="square" lIns="0" tIns="0" rIns="0" bIns="0" rtlCol="0" anchor="t"/>
          <a:lstStyle/>
          <a:p>
            <a:pPr indent="0" marL="0">
              <a:buNone/>
            </a:pPr>
            <a:r>
              <a:rPr lang="en-US" sz="1050" dirty="0">
                <a:solidFill>
                  <a:schemeClr val="bg2"/>
                </a:solidFill>
                <a:latin typeface="Courier New" pitchFamily="34" charset="0"/>
                <a:ea typeface="Courier New" pitchFamily="34" charset="-122"/>
                <a:cs typeface="Courier New" pitchFamily="34" charset="-120"/>
              </a:rPr>
              <a:t>public PermisoLogica(</a:t>
            </a:r>
            <a:endParaRPr lang="en-US" sz="1050" dirty="0"/>
          </a:p>
          <a:p>
            <a:pPr indent="0" marL="0">
              <a:buNone/>
            </a:pPr>
            <a:r>
              <a:rPr lang="en-US" sz="1050" dirty="0">
                <a:solidFill>
                  <a:schemeClr val="bg2"/>
                </a:solidFill>
                <a:latin typeface="Courier New" pitchFamily="34" charset="0"/>
                <a:ea typeface="Courier New" pitchFamily="34" charset="-122"/>
                <a:cs typeface="Courier New" pitchFamily="34" charset="-120"/>
              </a:rPr>
              <a:t>    IRepositorio&lt;Permiso&gt; data,</a:t>
            </a:r>
            <a:endParaRPr lang="en-US" sz="1050" dirty="0"/>
          </a:p>
          <a:p>
            <a:pPr indent="0" marL="0">
              <a:buNone/>
            </a:pPr>
            <a:r>
              <a:rPr lang="en-US" sz="1050" dirty="0">
                <a:solidFill>
                  <a:schemeClr val="bg2"/>
                </a:solidFill>
                <a:latin typeface="Courier New" pitchFamily="34" charset="0"/>
                <a:ea typeface="Courier New" pitchFamily="34" charset="-122"/>
                <a:cs typeface="Courier New" pitchFamily="34" charset="-120"/>
              </a:rPr>
              <a:t>    IUnidadDeTrabajo unidad)</a:t>
            </a:r>
            <a:endParaRPr lang="en-US" sz="1050" dirty="0"/>
          </a:p>
          <a:p>
            <a:pPr indent="0" marL="0">
              <a:buNone/>
            </a:pPr>
            <a:endParaRPr lang="en-US" sz="1050" dirty="0"/>
          </a:p>
          <a:p>
            <a:pPr indent="0" marL="0">
              <a:buNone/>
            </a:pPr>
            <a:r>
              <a:rPr lang="en-US" sz="1050" dirty="0">
                <a:solidFill>
                  <a:schemeClr val="bg2"/>
                </a:solidFill>
                <a:latin typeface="Courier New" pitchFamily="34" charset="0"/>
                <a:ea typeface="Courier New" pitchFamily="34" charset="-122"/>
                <a:cs typeface="Courier New" pitchFamily="34" charset="-120"/>
              </a:rPr>
              <a:t>// Program.cs: raíz de composición</a:t>
            </a:r>
            <a:endParaRPr lang="en-US" sz="1050" dirty="0"/>
          </a:p>
          <a:p>
            <a:pPr indent="0" marL="0">
              <a:buNone/>
            </a:pPr>
            <a:r>
              <a:rPr lang="en-US" sz="1050" dirty="0">
                <a:solidFill>
                  <a:schemeClr val="bg2"/>
                </a:solidFill>
                <a:latin typeface="Courier New" pitchFamily="34" charset="0"/>
                <a:ea typeface="Courier New" pitchFamily="34" charset="-122"/>
                <a:cs typeface="Courier New" pitchFamily="34" charset="-120"/>
              </a:rPr>
              <a:t>services.AgregarCapaDatos(conexion);</a:t>
            </a:r>
            <a:endParaRPr lang="en-US" sz="1050" dirty="0"/>
          </a:p>
          <a:p>
            <a:pPr indent="0" marL="0">
              <a:buNone/>
            </a:pPr>
            <a:r>
              <a:rPr lang="en-US" sz="1050" dirty="0">
                <a:solidFill>
                  <a:schemeClr val="bg2"/>
                </a:solidFill>
                <a:latin typeface="Courier New" pitchFamily="34" charset="0"/>
                <a:ea typeface="Courier New" pitchFamily="34" charset="-122"/>
                <a:cs typeface="Courier New" pitchFamily="34" charset="-120"/>
              </a:rPr>
              <a:t>services.AgregarServiciosDeAplicacion();</a:t>
            </a:r>
            <a:endParaRPr lang="en-US" sz="1050" dirty="0"/>
          </a:p>
        </p:txBody>
      </p:sp>
      <p:sp>
        <p:nvSpPr>
          <p:cNvPr id="11" name="QUÉ GANAMOS"/>
          <p:cNvSpPr/>
          <p:nvPr/>
        </p:nvSpPr>
        <p:spPr>
          <a:xfrm>
            <a:off x="4937760" y="1874520"/>
            <a:ext cx="3749040" cy="2286000"/>
          </a:xfrm>
          <a:prstGeom prst="roundRect">
            <a:avLst>
              <a:gd name="adj" fmla="val 3200"/>
            </a:avLst>
          </a:prstGeom>
          <a:solidFill>
            <a:schemeClr val="accent1">
              <a:alpha val="12000"/>
            </a:schemeClr>
          </a:solidFill>
          <a:ln/>
        </p:spPr>
      </p:sp>
      <p:sp>
        <p:nvSpPr>
          <p:cNvPr id="12" name="Text 9"/>
          <p:cNvSpPr txBox="1"/>
          <p:nvPr/>
        </p:nvSpPr>
        <p:spPr>
          <a:xfrm>
            <a:off x="5120640" y="1984248"/>
            <a:ext cx="3383280"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QUÉ GANAMOS</a:t>
            </a:r>
            <a:endParaRPr lang="en-US" sz="1200" dirty="0"/>
          </a:p>
        </p:txBody>
      </p:sp>
      <p:sp>
        <p:nvSpPr>
          <p:cNvPr id="13" name="Text 10"/>
          <p:cNvSpPr txBox="1"/>
          <p:nvPr/>
        </p:nvSpPr>
        <p:spPr>
          <a:xfrm>
            <a:off x="5120640" y="2331720"/>
            <a:ext cx="3383280" cy="1719072"/>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tx1"/>
                </a:solidFill>
              </a:rPr>
              <a:t>Contratos en Capa Entidades/Contratos: IRepositorio&lt;T&gt;, IUnidadDeTrabajo, IEmpleadoData…</a:t>
            </a:r>
            <a:endParaRPr lang="en-US" sz="1300" dirty="0"/>
          </a:p>
          <a:p>
            <a:pPr marL="177800" indent="-177800">
              <a:spcAft>
                <a:spcPts val="500"/>
              </a:spcAft>
              <a:buSzPct val="100000"/>
              <a:buChar char="•"/>
            </a:pPr>
            <a:r>
              <a:rPr lang="en-US" sz="1300" dirty="0">
                <a:solidFill>
                  <a:schemeClr val="tx1"/>
                </a:solidFill>
              </a:rPr>
              <a:t>Cambiar de BD = cambiar solo la implementación</a:t>
            </a:r>
            <a:endParaRPr lang="en-US" sz="1300" dirty="0"/>
          </a:p>
          <a:p>
            <a:pPr marL="177800" indent="-177800">
              <a:spcAft>
                <a:spcPts val="500"/>
              </a:spcAft>
              <a:buSzPct val="100000"/>
              <a:buChar char="•"/>
            </a:pPr>
            <a:r>
              <a:rPr lang="en-US" sz="1300" dirty="0">
                <a:solidFill>
                  <a:schemeClr val="tx1"/>
                </a:solidFill>
              </a:rPr>
              <a:t>EmpleadoServicioTests usa clases falsas, sin BD</a:t>
            </a:r>
            <a:endParaRPr lang="en-US" sz="1300" dirty="0"/>
          </a:p>
        </p:txBody>
      </p:sp>
      <p:sp>
        <p:nvSpPr>
          <p:cNvPr id="14" name="Text 11"/>
          <p:cNvSpPr txBox="1"/>
          <p:nvPr/>
        </p:nvSpPr>
        <p:spPr>
          <a:xfrm>
            <a:off x="457200" y="4297680"/>
            <a:ext cx="8229600" cy="320040"/>
          </a:xfrm>
          <a:prstGeom prst="rect">
            <a:avLst/>
          </a:prstGeom>
          <a:noFill/>
          <a:ln/>
        </p:spPr>
        <p:txBody>
          <a:bodyPr wrap="square" lIns="0" tIns="0" rIns="0" bIns="0" rtlCol="0" anchor="ctr"/>
          <a:lstStyle/>
          <a:p>
            <a:pPr indent="0" marL="0">
              <a:buNone/>
            </a:pPr>
            <a:r>
              <a:rPr lang="en-US" sz="1100" b="1" dirty="0">
                <a:solidFill>
                  <a:schemeClr val="accent1"/>
                </a:solidFill>
                <a:latin typeface="Calibri" pitchFamily="34" charset="0"/>
                <a:ea typeface="Calibri" pitchFamily="34" charset="-122"/>
                <a:cs typeface="Calibri" pitchFamily="34" charset="-120"/>
              </a:rPr>
              <a:t>Dónde: </a:t>
            </a:r>
            <a:pPr indent="0" marL="0">
              <a:buNone/>
            </a:pPr>
            <a:r>
              <a:rPr lang="en-US" sz="1100" dirty="0">
                <a:solidFill>
                  <a:schemeClr val="tx1"/>
                </a:solidFill>
                <a:latin typeface="Courier New" pitchFamily="34" charset="0"/>
                <a:ea typeface="Courier New" pitchFamily="34" charset="-122"/>
                <a:cs typeface="Courier New" pitchFamily="34" charset="-120"/>
              </a:rPr>
              <a:t>Capa Entidades/Contratos/ · ConfiguracionCapaDatos.cs · Program.cs · EmpleadoServicio.cs</a:t>
            </a:r>
            <a:endParaRPr lang="en-US" sz="11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Insignia semana"/>
          <p:cNvSpPr/>
          <p:nvPr/>
        </p:nvSpPr>
        <p:spPr>
          <a:xfrm>
            <a:off x="457200" y="265176"/>
            <a:ext cx="548640" cy="548640"/>
          </a:xfrm>
          <a:prstGeom prst="ellipse">
            <a:avLst/>
          </a:prstGeom>
          <a:solidFill>
            <a:schemeClr val="accent2"/>
          </a:solidFill>
          <a:ln/>
        </p:spPr>
      </p:sp>
      <p:sp>
        <p:nvSpPr>
          <p:cNvPr id="4" name="Text 1"/>
          <p:cNvSpPr txBox="1"/>
          <p:nvPr/>
        </p:nvSpPr>
        <p:spPr>
          <a:xfrm>
            <a:off x="457200" y="265176"/>
            <a:ext cx="548640" cy="548640"/>
          </a:xfrm>
          <a:prstGeom prst="rect">
            <a:avLst/>
          </a:prstGeom>
          <a:noFill/>
          <a:ln/>
        </p:spPr>
        <p:txBody>
          <a:bodyPr wrap="square" lIns="0" tIns="0" rIns="0" bIns="0" rtlCol="0" anchor="ctr"/>
          <a:lstStyle/>
          <a:p>
            <a:pPr algn="ctr" indent="0" marL="0">
              <a:buNone/>
            </a:pPr>
            <a:r>
              <a:rPr lang="en-US" sz="1600" b="1" dirty="0">
                <a:solidFill>
                  <a:schemeClr val="tx2"/>
                </a:solidFill>
              </a:rPr>
              <a:t>S8</a:t>
            </a:r>
            <a:endParaRPr lang="en-US" sz="1600" dirty="0"/>
          </a:p>
        </p:txBody>
      </p:sp>
      <p:sp>
        <p:nvSpPr>
          <p:cNvPr id="5" name="Text 0"/>
          <p:cNvSpPr/>
          <p:nvPr>
            <p:ph idx="100" type="title" hasCustomPrompt="1"/>
          </p:nvPr>
        </p:nvSpPr>
        <p:spPr>
          <a:xfrm>
            <a:off x="1188720" y="256032"/>
            <a:ext cx="7498080" cy="566928"/>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Gestión de la configuración</a:t>
            </a:r>
            <a:endParaRPr lang="en-US" sz="2800" dirty="0"/>
          </a:p>
        </p:txBody>
      </p:sp>
      <p:sp>
        <p:nvSpPr>
          <p:cNvPr id="6" name="Text 3"/>
          <p:cNvSpPr txBox="1"/>
          <p:nvPr/>
        </p:nvSpPr>
        <p:spPr>
          <a:xfrm>
            <a:off x="457200" y="914400"/>
            <a:ext cx="8229600" cy="411480"/>
          </a:xfrm>
          <a:prstGeom prst="rect">
            <a:avLst/>
          </a:prstGeom>
          <a:noFill/>
          <a:ln/>
        </p:spPr>
        <p:txBody>
          <a:bodyPr wrap="square" lIns="0" tIns="0" rIns="0" bIns="0" rtlCol="0" anchor="ctr"/>
          <a:lstStyle/>
          <a:p>
            <a:pPr indent="0" marL="0">
              <a:buNone/>
            </a:pPr>
            <a:r>
              <a:rPr lang="en-US" sz="1400" b="1" dirty="0">
                <a:solidFill>
                  <a:schemeClr val="accent1"/>
                </a:solidFill>
              </a:rPr>
              <a:t>Concepto: </a:t>
            </a:r>
            <a:pPr indent="0" marL="0">
              <a:buNone/>
            </a:pPr>
            <a:r>
              <a:rPr lang="en-US" sz="1400" i="1" dirty="0">
                <a:solidFill>
                  <a:schemeClr val="tx1"/>
                </a:solidFill>
              </a:rPr>
              <a:t>identificar los elementos del sistema, controlar sus versiones y registrar cada cambio.</a:t>
            </a:r>
            <a:endParaRPr lang="en-US" sz="1400" dirty="0"/>
          </a:p>
        </p:txBody>
      </p:sp>
      <p:sp>
        <p:nvSpPr>
          <p:cNvPr id="7" name="ANTES · SISTEMA LEGADO"/>
          <p:cNvSpPr/>
          <p:nvPr/>
        </p:nvSpPr>
        <p:spPr>
          <a:xfrm>
            <a:off x="457200" y="1463040"/>
            <a:ext cx="3977640" cy="2788920"/>
          </a:xfrm>
          <a:prstGeom prst="roundRect">
            <a:avLst>
              <a:gd name="adj" fmla="val 2623"/>
            </a:avLst>
          </a:prstGeom>
          <a:solidFill>
            <a:schemeClr val="accent3">
              <a:alpha val="12000"/>
            </a:schemeClr>
          </a:solidFill>
          <a:ln/>
        </p:spPr>
      </p:sp>
      <p:sp>
        <p:nvSpPr>
          <p:cNvPr id="8" name="Text 5"/>
          <p:cNvSpPr txBox="1"/>
          <p:nvPr/>
        </p:nvSpPr>
        <p:spPr>
          <a:xfrm>
            <a:off x="640080" y="1572768"/>
            <a:ext cx="3611880" cy="274320"/>
          </a:xfrm>
          <a:prstGeom prst="rect">
            <a:avLst/>
          </a:prstGeom>
          <a:noFill/>
          <a:ln/>
        </p:spPr>
        <p:txBody>
          <a:bodyPr wrap="square" lIns="0" tIns="0" rIns="0" bIns="0" rtlCol="0" anchor="ctr"/>
          <a:lstStyle/>
          <a:p>
            <a:pPr indent="0" marL="0">
              <a:buNone/>
            </a:pPr>
            <a:r>
              <a:rPr lang="en-US" sz="1200" b="1" spc="100" kern="0" dirty="0">
                <a:solidFill>
                  <a:schemeClr val="accent3"/>
                </a:solidFill>
              </a:rPr>
              <a:t>ANTES · SISTEMA LEGADO</a:t>
            </a:r>
            <a:endParaRPr lang="en-US" sz="1200" dirty="0"/>
          </a:p>
        </p:txBody>
      </p:sp>
      <p:sp>
        <p:nvSpPr>
          <p:cNvPr id="9" name="Text 6"/>
          <p:cNvSpPr txBox="1"/>
          <p:nvPr/>
        </p:nvSpPr>
        <p:spPr>
          <a:xfrm>
            <a:off x="640080" y="1920240"/>
            <a:ext cx="3611880" cy="2221992"/>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Instalador ClickOnce con DLL sueltas</a:t>
            </a:r>
            <a:endParaRPr lang="en-US" sz="1400" dirty="0"/>
          </a:p>
          <a:p>
            <a:pPr marL="177800" indent="-177800">
              <a:spcAft>
                <a:spcPts val="500"/>
              </a:spcAft>
              <a:buSzPct val="100000"/>
              <a:buChar char="•"/>
            </a:pPr>
            <a:r>
              <a:rPr lang="en-US" sz="1400" dirty="0">
                <a:solidFill>
                  <a:schemeClr val="tx1"/>
                </a:solidFill>
              </a:rPr>
              <a:t>Sin control de versiones ni historial</a:t>
            </a:r>
            <a:endParaRPr lang="en-US" sz="1400" dirty="0"/>
          </a:p>
          <a:p>
            <a:pPr marL="177800" indent="-177800">
              <a:spcAft>
                <a:spcPts val="500"/>
              </a:spcAft>
              <a:buSzPct val="100000"/>
              <a:buChar char="•"/>
            </a:pPr>
            <a:r>
              <a:rPr lang="en-US" sz="1400" dirty="0">
                <a:solidFill>
                  <a:schemeClr val="tx1"/>
                </a:solidFill>
              </a:rPr>
              <a:t>Contraseña de la BD dentro del .exe.config</a:t>
            </a:r>
            <a:endParaRPr lang="en-US" sz="1400" dirty="0"/>
          </a:p>
          <a:p>
            <a:pPr marL="177800" indent="-177800">
              <a:spcAft>
                <a:spcPts val="500"/>
              </a:spcAft>
              <a:buSzPct val="100000"/>
              <a:buChar char="•"/>
            </a:pPr>
            <a:r>
              <a:rPr lang="en-US" sz="1400" dirty="0">
                <a:solidFill>
                  <a:schemeClr val="tx1"/>
                </a:solidFill>
              </a:rPr>
              <a:t>No se sabía qué versión de la BD iba con qué versión del sistema</a:t>
            </a:r>
            <a:endParaRPr lang="en-US" sz="1400" dirty="0"/>
          </a:p>
        </p:txBody>
      </p:sp>
      <p:sp>
        <p:nvSpPr>
          <p:cNvPr id="10" name="APLICADO EN EVO-RRHH"/>
          <p:cNvSpPr/>
          <p:nvPr/>
        </p:nvSpPr>
        <p:spPr>
          <a:xfrm>
            <a:off x="4709160" y="1463040"/>
            <a:ext cx="3977640" cy="2788920"/>
          </a:xfrm>
          <a:prstGeom prst="roundRect">
            <a:avLst>
              <a:gd name="adj" fmla="val 2623"/>
            </a:avLst>
          </a:prstGeom>
          <a:solidFill>
            <a:schemeClr val="accent1">
              <a:alpha val="12000"/>
            </a:schemeClr>
          </a:solidFill>
          <a:ln/>
        </p:spPr>
      </p:sp>
      <p:sp>
        <p:nvSpPr>
          <p:cNvPr id="11" name="Text 8"/>
          <p:cNvSpPr txBox="1"/>
          <p:nvPr/>
        </p:nvSpPr>
        <p:spPr>
          <a:xfrm>
            <a:off x="4892040" y="1572768"/>
            <a:ext cx="3611880"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APLICADO EN EVO-RRHH</a:t>
            </a:r>
            <a:endParaRPr lang="en-US" sz="1200" dirty="0"/>
          </a:p>
        </p:txBody>
      </p:sp>
      <p:sp>
        <p:nvSpPr>
          <p:cNvPr id="12" name="Text 9"/>
          <p:cNvSpPr txBox="1"/>
          <p:nvPr/>
        </p:nvSpPr>
        <p:spPr>
          <a:xfrm>
            <a:off x="4892040" y="1920240"/>
            <a:ext cx="3611880" cy="2221992"/>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Git + GitHub: main · dev_branch · rama por tarea</a:t>
            </a:r>
            <a:endParaRPr lang="en-US" sz="1400" dirty="0"/>
          </a:p>
          <a:p>
            <a:pPr marL="177800" indent="-177800">
              <a:spcAft>
                <a:spcPts val="500"/>
              </a:spcAft>
              <a:buSzPct val="100000"/>
              <a:buChar char="•"/>
            </a:pPr>
            <a:r>
              <a:rPr lang="en-US" sz="1400" dirty="0">
                <a:solidFill>
                  <a:schemeClr val="tx1"/>
                </a:solidFill>
              </a:rPr>
              <a:t>Commits con prefijo: Fix:, refactor(…), Doc:</a:t>
            </a:r>
            <a:endParaRPr lang="en-US" sz="1400" dirty="0"/>
          </a:p>
          <a:p>
            <a:pPr marL="177800" indent="-177800">
              <a:spcAft>
                <a:spcPts val="500"/>
              </a:spcAft>
              <a:buSzPct val="100000"/>
              <a:buChar char="•"/>
            </a:pPr>
            <a:r>
              <a:rPr lang="en-US" sz="1400" dirty="0">
                <a:solidFill>
                  <a:schemeClr val="tx1"/>
                </a:solidFill>
              </a:rPr>
              <a:t>Scripts de BD versionados junto al código</a:t>
            </a:r>
            <a:endParaRPr lang="en-US" sz="1400" dirty="0"/>
          </a:p>
          <a:p>
            <a:pPr marL="177800" indent="-177800">
              <a:spcAft>
                <a:spcPts val="500"/>
              </a:spcAft>
              <a:buSzPct val="100000"/>
              <a:buChar char="•"/>
            </a:pPr>
            <a:r>
              <a:rPr lang="en-US" sz="1400" dirty="0">
                <a:solidFill>
                  <a:schemeClr val="tx1"/>
                </a:solidFill>
              </a:rPr>
              <a:t>.gitignore: sin compilados, sin credenciales, sin archivos &gt; 100 MB</a:t>
            </a:r>
            <a:endParaRPr lang="en-US" sz="1400" dirty="0"/>
          </a:p>
        </p:txBody>
      </p:sp>
      <p:sp>
        <p:nvSpPr>
          <p:cNvPr id="13" name="Text 10"/>
          <p:cNvSpPr txBox="1"/>
          <p:nvPr/>
        </p:nvSpPr>
        <p:spPr>
          <a:xfrm>
            <a:off x="457200" y="4343400"/>
            <a:ext cx="8229600" cy="320040"/>
          </a:xfrm>
          <a:prstGeom prst="rect">
            <a:avLst/>
          </a:prstGeom>
          <a:noFill/>
          <a:ln/>
        </p:spPr>
        <p:txBody>
          <a:bodyPr wrap="square" lIns="0" tIns="0" rIns="0" bIns="0" rtlCol="0" anchor="ctr"/>
          <a:lstStyle/>
          <a:p>
            <a:pPr indent="0" marL="0">
              <a:buNone/>
            </a:pPr>
            <a:r>
              <a:rPr lang="en-US" sz="1100" b="1" dirty="0">
                <a:solidFill>
                  <a:schemeClr val="accent1"/>
                </a:solidFill>
                <a:latin typeface="Calibri" pitchFamily="34" charset="0"/>
                <a:ea typeface="Calibri" pitchFamily="34" charset="-122"/>
                <a:cs typeface="Calibri" pitchFamily="34" charset="-120"/>
              </a:rPr>
              <a:t>Dónde: </a:t>
            </a:r>
            <a:pPr indent="0" marL="0">
              <a:buNone/>
            </a:pPr>
            <a:r>
              <a:rPr lang="en-US" sz="1100" dirty="0">
                <a:solidFill>
                  <a:schemeClr val="tx1"/>
                </a:solidFill>
                <a:latin typeface="Courier New" pitchFamily="34" charset="0"/>
                <a:ea typeface="Courier New" pitchFamily="34" charset="-122"/>
                <a:cs typeface="Courier New" pitchFamily="34" charset="-120"/>
              </a:rPr>
              <a:t>docs/GESTION-CONFIGURACION.md · .gitignore · Scripts/ · appsettings.json</a:t>
            </a:r>
            <a:endParaRPr lang="en-US" sz="11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Insignia semana"/>
          <p:cNvSpPr/>
          <p:nvPr/>
        </p:nvSpPr>
        <p:spPr>
          <a:xfrm>
            <a:off x="457200" y="265176"/>
            <a:ext cx="548640" cy="548640"/>
          </a:xfrm>
          <a:prstGeom prst="ellipse">
            <a:avLst/>
          </a:prstGeom>
          <a:solidFill>
            <a:schemeClr val="accent2"/>
          </a:solidFill>
          <a:ln/>
        </p:spPr>
      </p:sp>
      <p:sp>
        <p:nvSpPr>
          <p:cNvPr id="4" name="Text 1"/>
          <p:cNvSpPr txBox="1"/>
          <p:nvPr/>
        </p:nvSpPr>
        <p:spPr>
          <a:xfrm>
            <a:off x="457200" y="265176"/>
            <a:ext cx="548640" cy="548640"/>
          </a:xfrm>
          <a:prstGeom prst="rect">
            <a:avLst/>
          </a:prstGeom>
          <a:noFill/>
          <a:ln/>
        </p:spPr>
        <p:txBody>
          <a:bodyPr wrap="square" lIns="0" tIns="0" rIns="0" bIns="0" rtlCol="0" anchor="ctr"/>
          <a:lstStyle/>
          <a:p>
            <a:pPr algn="ctr" indent="0" marL="0">
              <a:buNone/>
            </a:pPr>
            <a:r>
              <a:rPr lang="en-US" sz="1600" b="1" dirty="0">
                <a:solidFill>
                  <a:schemeClr val="tx2"/>
                </a:solidFill>
              </a:rPr>
              <a:t>S8</a:t>
            </a:r>
            <a:endParaRPr lang="en-US" sz="1600" dirty="0"/>
          </a:p>
        </p:txBody>
      </p:sp>
      <p:sp>
        <p:nvSpPr>
          <p:cNvPr id="5" name="Text 0"/>
          <p:cNvSpPr/>
          <p:nvPr>
            <p:ph idx="100" type="title" hasCustomPrompt="1"/>
          </p:nvPr>
        </p:nvSpPr>
        <p:spPr>
          <a:xfrm>
            <a:off x="1188720" y="256032"/>
            <a:ext cx="7498080" cy="566928"/>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Pruebas que respaldan la configuración</a:t>
            </a:r>
            <a:endParaRPr lang="en-US" sz="2800" dirty="0"/>
          </a:p>
        </p:txBody>
      </p:sp>
      <p:graphicFrame>
        <p:nvGraphicFramePr>
          <p:cNvPr id="6" name="Chart 0" descr=""/>
          <p:cNvGraphicFramePr/>
          <p:nvPr/>
        </p:nvGraphicFramePr>
        <p:xfrm>
          <a:off x="457200" y="1005840"/>
          <a:ext cx="4572000" cy="3200400"/>
        </p:xfrm>
        <a:graphic xmlns:a="http://schemas.openxmlformats.org/drawingml/2006/main">
          <a:graphicData uri="http://schemas.openxmlformats.org/drawingml/2006/chart">
            <c:chart xmlns:c="http://schemas.openxmlformats.org/drawingml/2006/chart" r:id="rId1"/>
          </a:graphicData>
        </a:graphic>
      </p:graphicFrame>
      <p:sp>
        <p:nvSpPr>
          <p:cNvPr id="7" name="41 pruebas"/>
          <p:cNvSpPr/>
          <p:nvPr/>
        </p:nvSpPr>
        <p:spPr>
          <a:xfrm>
            <a:off x="5394960" y="1005840"/>
            <a:ext cx="3291840" cy="1188720"/>
          </a:xfrm>
          <a:prstGeom prst="roundRect">
            <a:avLst>
              <a:gd name="adj" fmla="val 6154"/>
            </a:avLst>
          </a:prstGeom>
          <a:solidFill>
            <a:schemeClr val="accent1">
              <a:alpha val="12000"/>
            </a:schemeClr>
          </a:solidFill>
          <a:ln/>
        </p:spPr>
      </p:sp>
      <p:sp>
        <p:nvSpPr>
          <p:cNvPr id="8" name="Text 4"/>
          <p:cNvSpPr txBox="1"/>
          <p:nvPr/>
        </p:nvSpPr>
        <p:spPr>
          <a:xfrm>
            <a:off x="5394960" y="1051560"/>
            <a:ext cx="3291840" cy="685800"/>
          </a:xfrm>
          <a:prstGeom prst="rect">
            <a:avLst/>
          </a:prstGeom>
          <a:noFill/>
          <a:ln/>
        </p:spPr>
        <p:txBody>
          <a:bodyPr wrap="square" lIns="0" tIns="0" rIns="0" bIns="0" rtlCol="0" anchor="ctr"/>
          <a:lstStyle/>
          <a:p>
            <a:pPr algn="ctr" indent="0" marL="0">
              <a:buNone/>
            </a:pPr>
            <a:r>
              <a:rPr lang="en-US" sz="3600" b="1" dirty="0">
                <a:solidFill>
                  <a:schemeClr val="accent1"/>
                </a:solidFill>
                <a:latin typeface="Cambria" pitchFamily="34" charset="0"/>
                <a:ea typeface="Cambria" pitchFamily="34" charset="-122"/>
                <a:cs typeface="Cambria" pitchFamily="34" charset="-120"/>
              </a:rPr>
              <a:t>41 / 41</a:t>
            </a:r>
            <a:endParaRPr lang="en-US" sz="3600" dirty="0"/>
          </a:p>
        </p:txBody>
      </p:sp>
      <p:sp>
        <p:nvSpPr>
          <p:cNvPr id="9" name="Text 5"/>
          <p:cNvSpPr txBox="1"/>
          <p:nvPr/>
        </p:nvSpPr>
        <p:spPr>
          <a:xfrm>
            <a:off x="5532120" y="1719072"/>
            <a:ext cx="3017520" cy="411480"/>
          </a:xfrm>
          <a:prstGeom prst="rect">
            <a:avLst/>
          </a:prstGeom>
          <a:noFill/>
          <a:ln/>
        </p:spPr>
        <p:txBody>
          <a:bodyPr wrap="square" lIns="0" tIns="0" rIns="0" bIns="0" rtlCol="0" anchor="ctr"/>
          <a:lstStyle/>
          <a:p>
            <a:pPr algn="ctr" indent="0" marL="0">
              <a:buNone/>
            </a:pPr>
            <a:r>
              <a:rPr lang="en-US" sz="1200" dirty="0">
                <a:solidFill>
                  <a:schemeClr val="tx1"/>
                </a:solidFill>
              </a:rPr>
              <a:t>pruebas en verde con dotnet test, sin SQL Server</a:t>
            </a:r>
            <a:endParaRPr lang="en-US" sz="1200" dirty="0"/>
          </a:p>
        </p:txBody>
      </p:sp>
      <p:sp>
        <p:nvSpPr>
          <p:cNvPr id="10" name="Text 6"/>
          <p:cNvSpPr txBox="1"/>
          <p:nvPr/>
        </p:nvSpPr>
        <p:spPr>
          <a:xfrm>
            <a:off x="5394960" y="2377440"/>
            <a:ext cx="3291840" cy="182880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tx1"/>
                </a:solidFill>
              </a:rPr>
              <a:t>Caja blanca: xUnit + SQLite en memoria</a:t>
            </a:r>
            <a:endParaRPr lang="en-US" sz="1300" dirty="0"/>
          </a:p>
          <a:p>
            <a:pPr marL="177800" indent="-177800">
              <a:spcAft>
                <a:spcPts val="500"/>
              </a:spcAft>
              <a:buSzPct val="100000"/>
              <a:buChar char="•"/>
            </a:pPr>
            <a:r>
              <a:rPr lang="en-US" sz="1300" dirty="0">
                <a:solidFill>
                  <a:schemeClr val="tx1"/>
                </a:solidFill>
              </a:rPr>
              <a:t>Caja negra: pruebas funcionales por módulo</a:t>
            </a:r>
            <a:endParaRPr lang="en-US" sz="1300" dirty="0"/>
          </a:p>
          <a:p>
            <a:pPr marL="177800" indent="-177800">
              <a:spcAft>
                <a:spcPts val="500"/>
              </a:spcAft>
              <a:buSzPct val="100000"/>
              <a:buChar char="•"/>
            </a:pPr>
            <a:r>
              <a:rPr lang="en-US" sz="1300" dirty="0">
                <a:solidFill>
                  <a:schemeClr val="tx1"/>
                </a:solidFill>
              </a:rPr>
              <a:t>Caja gris: RegistroCapasTests con el contenedor real</a:t>
            </a:r>
            <a:endParaRPr lang="en-US" sz="1300" dirty="0"/>
          </a:p>
          <a:p>
            <a:pPr marL="177800" indent="-177800">
              <a:spcAft>
                <a:spcPts val="500"/>
              </a:spcAft>
              <a:buSzPct val="100000"/>
              <a:buChar char="•"/>
            </a:pPr>
            <a:r>
              <a:rPr lang="en-US" sz="1300" dirty="0">
                <a:solidFill>
                  <a:schemeClr val="tx1"/>
                </a:solidFill>
              </a:rPr>
              <a:t>Seguridad: PasswordHasher y roles</a:t>
            </a:r>
            <a:endParaRPr lang="en-US" sz="1300" dirty="0"/>
          </a:p>
        </p:txBody>
      </p:sp>
      <p:sp>
        <p:nvSpPr>
          <p:cNvPr id="11" name="Text 7"/>
          <p:cNvSpPr txBox="1"/>
          <p:nvPr/>
        </p:nvSpPr>
        <p:spPr>
          <a:xfrm>
            <a:off x="457200" y="4343400"/>
            <a:ext cx="8229600" cy="320040"/>
          </a:xfrm>
          <a:prstGeom prst="rect">
            <a:avLst/>
          </a:prstGeom>
          <a:noFill/>
          <a:ln/>
        </p:spPr>
        <p:txBody>
          <a:bodyPr wrap="square" lIns="0" tIns="0" rIns="0" bIns="0" rtlCol="0" anchor="ctr"/>
          <a:lstStyle/>
          <a:p>
            <a:pPr indent="0" marL="0">
              <a:buNone/>
            </a:pPr>
            <a:r>
              <a:rPr lang="en-US" sz="1100" b="1" dirty="0">
                <a:solidFill>
                  <a:schemeClr val="accent1"/>
                </a:solidFill>
                <a:latin typeface="Calibri" pitchFamily="34" charset="0"/>
                <a:ea typeface="Calibri" pitchFamily="34" charset="-122"/>
                <a:cs typeface="Calibri" pitchFamily="34" charset="-120"/>
              </a:rPr>
              <a:t>Dónde: </a:t>
            </a:r>
            <a:pPr indent="0" marL="0">
              <a:buNone/>
            </a:pPr>
            <a:r>
              <a:rPr lang="en-US" sz="1100" dirty="0">
                <a:solidFill>
                  <a:schemeClr val="tx1"/>
                </a:solidFill>
                <a:latin typeface="Courier New" pitchFamily="34" charset="0"/>
                <a:ea typeface="Courier New" pitchFamily="34" charset="-122"/>
                <a:cs typeface="Courier New" pitchFamily="34" charset="-120"/>
              </a:rPr>
              <a:t>Capa Logica.Tests/ (xUnit) · Soporte/BaseDatosPrueba.cs</a:t>
            </a:r>
            <a:endParaRPr lang="en-US" sz="11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Insignia semana"/>
          <p:cNvSpPr/>
          <p:nvPr/>
        </p:nvSpPr>
        <p:spPr>
          <a:xfrm>
            <a:off x="457200" y="265176"/>
            <a:ext cx="548640" cy="548640"/>
          </a:xfrm>
          <a:prstGeom prst="ellipse">
            <a:avLst/>
          </a:prstGeom>
          <a:solidFill>
            <a:schemeClr val="accent2"/>
          </a:solidFill>
          <a:ln/>
        </p:spPr>
      </p:sp>
      <p:sp>
        <p:nvSpPr>
          <p:cNvPr id="4" name="Text 1"/>
          <p:cNvSpPr txBox="1"/>
          <p:nvPr/>
        </p:nvSpPr>
        <p:spPr>
          <a:xfrm>
            <a:off x="457200" y="265176"/>
            <a:ext cx="548640" cy="548640"/>
          </a:xfrm>
          <a:prstGeom prst="rect">
            <a:avLst/>
          </a:prstGeom>
          <a:noFill/>
          <a:ln/>
        </p:spPr>
        <p:txBody>
          <a:bodyPr wrap="square" lIns="0" tIns="0" rIns="0" bIns="0" rtlCol="0" anchor="ctr"/>
          <a:lstStyle/>
          <a:p>
            <a:pPr algn="ctr" indent="0" marL="0">
              <a:buNone/>
            </a:pPr>
            <a:r>
              <a:rPr lang="en-US" sz="1600" b="1" dirty="0">
                <a:solidFill>
                  <a:schemeClr val="tx2"/>
                </a:solidFill>
              </a:rPr>
              <a:t>S9</a:t>
            </a:r>
            <a:endParaRPr lang="en-US" sz="1600" dirty="0"/>
          </a:p>
        </p:txBody>
      </p:sp>
      <p:sp>
        <p:nvSpPr>
          <p:cNvPr id="5" name="Text 0"/>
          <p:cNvSpPr/>
          <p:nvPr>
            <p:ph idx="100" type="title" hasCustomPrompt="1"/>
          </p:nvPr>
        </p:nvSpPr>
        <p:spPr>
          <a:xfrm>
            <a:off x="1188720" y="256032"/>
            <a:ext cx="7498080" cy="566928"/>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Gestión del cambio</a:t>
            </a:r>
            <a:endParaRPr lang="en-US" sz="2800" dirty="0"/>
          </a:p>
        </p:txBody>
      </p:sp>
      <p:sp>
        <p:nvSpPr>
          <p:cNvPr id="6" name="Text 3"/>
          <p:cNvSpPr txBox="1"/>
          <p:nvPr/>
        </p:nvSpPr>
        <p:spPr>
          <a:xfrm>
            <a:off x="457200" y="914400"/>
            <a:ext cx="8229600" cy="411480"/>
          </a:xfrm>
          <a:prstGeom prst="rect">
            <a:avLst/>
          </a:prstGeom>
          <a:noFill/>
          <a:ln/>
        </p:spPr>
        <p:txBody>
          <a:bodyPr wrap="square" lIns="0" tIns="0" rIns="0" bIns="0" rtlCol="0" anchor="ctr"/>
          <a:lstStyle/>
          <a:p>
            <a:pPr indent="0" marL="0">
              <a:buNone/>
            </a:pPr>
            <a:r>
              <a:rPr lang="en-US" sz="1400" b="1" dirty="0">
                <a:solidFill>
                  <a:schemeClr val="accent1"/>
                </a:solidFill>
              </a:rPr>
              <a:t>Concepto: </a:t>
            </a:r>
            <a:pPr indent="0" marL="0">
              <a:buNone/>
            </a:pPr>
            <a:r>
              <a:rPr lang="en-US" sz="1400" i="1" dirty="0">
                <a:solidFill>
                  <a:schemeClr val="tx1"/>
                </a:solidFill>
              </a:rPr>
              <a:t>todo cambio se solicita, se evalúa su impacto, se aprueba y se verifica antes de integrarse.</a:t>
            </a:r>
            <a:endParaRPr lang="en-US" sz="1400" dirty="0"/>
          </a:p>
        </p:txBody>
      </p:sp>
      <p:sp>
        <p:nvSpPr>
          <p:cNvPr id="7" name="Solicitud"/>
          <p:cNvSpPr/>
          <p:nvPr/>
        </p:nvSpPr>
        <p:spPr>
          <a:xfrm>
            <a:off x="457200" y="1463040"/>
            <a:ext cx="1828800" cy="502920"/>
          </a:xfrm>
          <a:prstGeom prst="roundRect">
            <a:avLst>
              <a:gd name="adj" fmla="val 14545"/>
            </a:avLst>
          </a:prstGeom>
          <a:solidFill>
            <a:schemeClr val="accent1">
              <a:alpha val="15000"/>
            </a:schemeClr>
          </a:solidFill>
          <a:ln/>
        </p:spPr>
      </p:sp>
      <p:sp>
        <p:nvSpPr>
          <p:cNvPr id="8" name="Text 5"/>
          <p:cNvSpPr txBox="1"/>
          <p:nvPr/>
        </p:nvSpPr>
        <p:spPr>
          <a:xfrm>
            <a:off x="566928" y="1463040"/>
            <a:ext cx="1691640" cy="502920"/>
          </a:xfrm>
          <a:prstGeom prst="rect">
            <a:avLst/>
          </a:prstGeom>
          <a:noFill/>
          <a:ln/>
        </p:spPr>
        <p:txBody>
          <a:bodyPr wrap="square" lIns="0" tIns="0" rIns="0" bIns="0" rtlCol="0" anchor="ctr"/>
          <a:lstStyle/>
          <a:p>
            <a:pPr indent="0" marL="0">
              <a:buNone/>
            </a:pPr>
            <a:r>
              <a:rPr lang="en-US" sz="1300" b="1" dirty="0">
                <a:solidFill>
                  <a:schemeClr val="accent3"/>
                </a:solidFill>
              </a:rPr>
              <a:t>1  </a:t>
            </a:r>
            <a:pPr indent="0" marL="0">
              <a:buNone/>
            </a:pPr>
            <a:r>
              <a:rPr lang="en-US" sz="1300" b="1" dirty="0">
                <a:solidFill>
                  <a:schemeClr val="tx2"/>
                </a:solidFill>
              </a:rPr>
              <a:t>Solicitud</a:t>
            </a:r>
            <a:endParaRPr lang="en-US" sz="1300" dirty="0"/>
          </a:p>
        </p:txBody>
      </p:sp>
      <p:sp>
        <p:nvSpPr>
          <p:cNvPr id="9" name="Análisis"/>
          <p:cNvSpPr/>
          <p:nvPr/>
        </p:nvSpPr>
        <p:spPr>
          <a:xfrm>
            <a:off x="2468880" y="1463040"/>
            <a:ext cx="1828800" cy="502920"/>
          </a:xfrm>
          <a:prstGeom prst="roundRect">
            <a:avLst>
              <a:gd name="adj" fmla="val 14545"/>
            </a:avLst>
          </a:prstGeom>
          <a:solidFill>
            <a:schemeClr val="accent1">
              <a:alpha val="15000"/>
            </a:schemeClr>
          </a:solidFill>
          <a:ln/>
        </p:spPr>
      </p:sp>
      <p:sp>
        <p:nvSpPr>
          <p:cNvPr id="10" name="Text 7"/>
          <p:cNvSpPr txBox="1"/>
          <p:nvPr/>
        </p:nvSpPr>
        <p:spPr>
          <a:xfrm>
            <a:off x="2578608" y="1463040"/>
            <a:ext cx="1691640" cy="502920"/>
          </a:xfrm>
          <a:prstGeom prst="rect">
            <a:avLst/>
          </a:prstGeom>
          <a:noFill/>
          <a:ln/>
        </p:spPr>
        <p:txBody>
          <a:bodyPr wrap="square" lIns="0" tIns="0" rIns="0" bIns="0" rtlCol="0" anchor="ctr"/>
          <a:lstStyle/>
          <a:p>
            <a:pPr indent="0" marL="0">
              <a:buNone/>
            </a:pPr>
            <a:r>
              <a:rPr lang="en-US" sz="1300" b="1" dirty="0">
                <a:solidFill>
                  <a:schemeClr val="accent3"/>
                </a:solidFill>
              </a:rPr>
              <a:t>2  </a:t>
            </a:r>
            <a:pPr indent="0" marL="0">
              <a:buNone/>
            </a:pPr>
            <a:r>
              <a:rPr lang="en-US" sz="1300" b="1" dirty="0">
                <a:solidFill>
                  <a:schemeClr val="tx2"/>
                </a:solidFill>
              </a:rPr>
              <a:t>Análisis</a:t>
            </a:r>
            <a:endParaRPr lang="en-US" sz="1300" dirty="0"/>
          </a:p>
        </p:txBody>
      </p:sp>
      <p:sp>
        <p:nvSpPr>
          <p:cNvPr id="11" name="Impacto"/>
          <p:cNvSpPr/>
          <p:nvPr/>
        </p:nvSpPr>
        <p:spPr>
          <a:xfrm>
            <a:off x="457200" y="2121408"/>
            <a:ext cx="1828800" cy="502920"/>
          </a:xfrm>
          <a:prstGeom prst="roundRect">
            <a:avLst>
              <a:gd name="adj" fmla="val 14545"/>
            </a:avLst>
          </a:prstGeom>
          <a:solidFill>
            <a:schemeClr val="accent1">
              <a:alpha val="15000"/>
            </a:schemeClr>
          </a:solidFill>
          <a:ln/>
        </p:spPr>
      </p:sp>
      <p:sp>
        <p:nvSpPr>
          <p:cNvPr id="12" name="Text 9"/>
          <p:cNvSpPr txBox="1"/>
          <p:nvPr/>
        </p:nvSpPr>
        <p:spPr>
          <a:xfrm>
            <a:off x="566928" y="2121408"/>
            <a:ext cx="1691640" cy="502920"/>
          </a:xfrm>
          <a:prstGeom prst="rect">
            <a:avLst/>
          </a:prstGeom>
          <a:noFill/>
          <a:ln/>
        </p:spPr>
        <p:txBody>
          <a:bodyPr wrap="square" lIns="0" tIns="0" rIns="0" bIns="0" rtlCol="0" anchor="ctr"/>
          <a:lstStyle/>
          <a:p>
            <a:pPr indent="0" marL="0">
              <a:buNone/>
            </a:pPr>
            <a:r>
              <a:rPr lang="en-US" sz="1300" b="1" dirty="0">
                <a:solidFill>
                  <a:schemeClr val="accent3"/>
                </a:solidFill>
              </a:rPr>
              <a:t>3  </a:t>
            </a:r>
            <a:pPr indent="0" marL="0">
              <a:buNone/>
            </a:pPr>
            <a:r>
              <a:rPr lang="en-US" sz="1300" b="1" dirty="0">
                <a:solidFill>
                  <a:schemeClr val="tx2"/>
                </a:solidFill>
              </a:rPr>
              <a:t>Impacto</a:t>
            </a:r>
            <a:endParaRPr lang="en-US" sz="1300" dirty="0"/>
          </a:p>
        </p:txBody>
      </p:sp>
      <p:sp>
        <p:nvSpPr>
          <p:cNvPr id="13" name="Aprobación (CCB)"/>
          <p:cNvSpPr/>
          <p:nvPr/>
        </p:nvSpPr>
        <p:spPr>
          <a:xfrm>
            <a:off x="2468880" y="2121408"/>
            <a:ext cx="1828800" cy="502920"/>
          </a:xfrm>
          <a:prstGeom prst="roundRect">
            <a:avLst>
              <a:gd name="adj" fmla="val 14545"/>
            </a:avLst>
          </a:prstGeom>
          <a:solidFill>
            <a:schemeClr val="accent2"/>
          </a:solidFill>
          <a:ln/>
        </p:spPr>
      </p:sp>
      <p:sp>
        <p:nvSpPr>
          <p:cNvPr id="14" name="Text 11"/>
          <p:cNvSpPr txBox="1"/>
          <p:nvPr/>
        </p:nvSpPr>
        <p:spPr>
          <a:xfrm>
            <a:off x="2578608" y="2121408"/>
            <a:ext cx="1691640" cy="502920"/>
          </a:xfrm>
          <a:prstGeom prst="rect">
            <a:avLst/>
          </a:prstGeom>
          <a:noFill/>
          <a:ln/>
        </p:spPr>
        <p:txBody>
          <a:bodyPr wrap="square" lIns="0" tIns="0" rIns="0" bIns="0" rtlCol="0" anchor="ctr"/>
          <a:lstStyle/>
          <a:p>
            <a:pPr indent="0" marL="0">
              <a:buNone/>
            </a:pPr>
            <a:r>
              <a:rPr lang="en-US" sz="1300" b="1" dirty="0">
                <a:solidFill>
                  <a:schemeClr val="accent3"/>
                </a:solidFill>
              </a:rPr>
              <a:t>4  </a:t>
            </a:r>
            <a:pPr indent="0" marL="0">
              <a:buNone/>
            </a:pPr>
            <a:r>
              <a:rPr lang="en-US" sz="1300" b="1" dirty="0">
                <a:solidFill>
                  <a:schemeClr val="tx2"/>
                </a:solidFill>
              </a:rPr>
              <a:t>Aprobación (CCB)</a:t>
            </a:r>
            <a:endParaRPr lang="en-US" sz="1300" dirty="0"/>
          </a:p>
        </p:txBody>
      </p:sp>
      <p:sp>
        <p:nvSpPr>
          <p:cNvPr id="15" name="Planificación"/>
          <p:cNvSpPr/>
          <p:nvPr/>
        </p:nvSpPr>
        <p:spPr>
          <a:xfrm>
            <a:off x="457200" y="2779776"/>
            <a:ext cx="1828800" cy="502920"/>
          </a:xfrm>
          <a:prstGeom prst="roundRect">
            <a:avLst>
              <a:gd name="adj" fmla="val 14545"/>
            </a:avLst>
          </a:prstGeom>
          <a:solidFill>
            <a:schemeClr val="accent1">
              <a:alpha val="15000"/>
            </a:schemeClr>
          </a:solidFill>
          <a:ln/>
        </p:spPr>
      </p:sp>
      <p:sp>
        <p:nvSpPr>
          <p:cNvPr id="16" name="Text 13"/>
          <p:cNvSpPr txBox="1"/>
          <p:nvPr/>
        </p:nvSpPr>
        <p:spPr>
          <a:xfrm>
            <a:off x="566928" y="2779776"/>
            <a:ext cx="1691640" cy="502920"/>
          </a:xfrm>
          <a:prstGeom prst="rect">
            <a:avLst/>
          </a:prstGeom>
          <a:noFill/>
          <a:ln/>
        </p:spPr>
        <p:txBody>
          <a:bodyPr wrap="square" lIns="0" tIns="0" rIns="0" bIns="0" rtlCol="0" anchor="ctr"/>
          <a:lstStyle/>
          <a:p>
            <a:pPr indent="0" marL="0">
              <a:buNone/>
            </a:pPr>
            <a:r>
              <a:rPr lang="en-US" sz="1300" b="1" dirty="0">
                <a:solidFill>
                  <a:schemeClr val="accent3"/>
                </a:solidFill>
              </a:rPr>
              <a:t>5  </a:t>
            </a:r>
            <a:pPr indent="0" marL="0">
              <a:buNone/>
            </a:pPr>
            <a:r>
              <a:rPr lang="en-US" sz="1300" b="1" dirty="0">
                <a:solidFill>
                  <a:schemeClr val="tx2"/>
                </a:solidFill>
              </a:rPr>
              <a:t>Planificación</a:t>
            </a:r>
            <a:endParaRPr lang="en-US" sz="1300" dirty="0"/>
          </a:p>
        </p:txBody>
      </p:sp>
      <p:sp>
        <p:nvSpPr>
          <p:cNvPr id="17" name="Rama + PR"/>
          <p:cNvSpPr/>
          <p:nvPr/>
        </p:nvSpPr>
        <p:spPr>
          <a:xfrm>
            <a:off x="2468880" y="2779776"/>
            <a:ext cx="1828800" cy="502920"/>
          </a:xfrm>
          <a:prstGeom prst="roundRect">
            <a:avLst>
              <a:gd name="adj" fmla="val 14545"/>
            </a:avLst>
          </a:prstGeom>
          <a:solidFill>
            <a:schemeClr val="accent1">
              <a:alpha val="15000"/>
            </a:schemeClr>
          </a:solidFill>
          <a:ln/>
        </p:spPr>
      </p:sp>
      <p:sp>
        <p:nvSpPr>
          <p:cNvPr id="18" name="Text 15"/>
          <p:cNvSpPr txBox="1"/>
          <p:nvPr/>
        </p:nvSpPr>
        <p:spPr>
          <a:xfrm>
            <a:off x="2578608" y="2779776"/>
            <a:ext cx="1691640" cy="502920"/>
          </a:xfrm>
          <a:prstGeom prst="rect">
            <a:avLst/>
          </a:prstGeom>
          <a:noFill/>
          <a:ln/>
        </p:spPr>
        <p:txBody>
          <a:bodyPr wrap="square" lIns="0" tIns="0" rIns="0" bIns="0" rtlCol="0" anchor="ctr"/>
          <a:lstStyle/>
          <a:p>
            <a:pPr indent="0" marL="0">
              <a:buNone/>
            </a:pPr>
            <a:r>
              <a:rPr lang="en-US" sz="1300" b="1" dirty="0">
                <a:solidFill>
                  <a:schemeClr val="accent3"/>
                </a:solidFill>
              </a:rPr>
              <a:t>6  </a:t>
            </a:r>
            <a:pPr indent="0" marL="0">
              <a:buNone/>
            </a:pPr>
            <a:r>
              <a:rPr lang="en-US" sz="1300" b="1" dirty="0">
                <a:solidFill>
                  <a:schemeClr val="tx2"/>
                </a:solidFill>
              </a:rPr>
              <a:t>Rama + PR</a:t>
            </a:r>
            <a:endParaRPr lang="en-US" sz="1300" dirty="0"/>
          </a:p>
        </p:txBody>
      </p:sp>
      <p:sp>
        <p:nvSpPr>
          <p:cNvPr id="19" name="Verificación"/>
          <p:cNvSpPr/>
          <p:nvPr/>
        </p:nvSpPr>
        <p:spPr>
          <a:xfrm>
            <a:off x="457200" y="3438144"/>
            <a:ext cx="1828800" cy="502920"/>
          </a:xfrm>
          <a:prstGeom prst="roundRect">
            <a:avLst>
              <a:gd name="adj" fmla="val 14545"/>
            </a:avLst>
          </a:prstGeom>
          <a:solidFill>
            <a:schemeClr val="accent1">
              <a:alpha val="15000"/>
            </a:schemeClr>
          </a:solidFill>
          <a:ln/>
        </p:spPr>
      </p:sp>
      <p:sp>
        <p:nvSpPr>
          <p:cNvPr id="20" name="Text 17"/>
          <p:cNvSpPr txBox="1"/>
          <p:nvPr/>
        </p:nvSpPr>
        <p:spPr>
          <a:xfrm>
            <a:off x="566928" y="3438144"/>
            <a:ext cx="1691640" cy="502920"/>
          </a:xfrm>
          <a:prstGeom prst="rect">
            <a:avLst/>
          </a:prstGeom>
          <a:noFill/>
          <a:ln/>
        </p:spPr>
        <p:txBody>
          <a:bodyPr wrap="square" lIns="0" tIns="0" rIns="0" bIns="0" rtlCol="0" anchor="ctr"/>
          <a:lstStyle/>
          <a:p>
            <a:pPr indent="0" marL="0">
              <a:buNone/>
            </a:pPr>
            <a:r>
              <a:rPr lang="en-US" sz="1300" b="1" dirty="0">
                <a:solidFill>
                  <a:schemeClr val="accent3"/>
                </a:solidFill>
              </a:rPr>
              <a:t>7  </a:t>
            </a:r>
            <a:pPr indent="0" marL="0">
              <a:buNone/>
            </a:pPr>
            <a:r>
              <a:rPr lang="en-US" sz="1300" b="1" dirty="0">
                <a:solidFill>
                  <a:schemeClr val="tx2"/>
                </a:solidFill>
              </a:rPr>
              <a:t>Verificación</a:t>
            </a:r>
            <a:endParaRPr lang="en-US" sz="1300" dirty="0"/>
          </a:p>
        </p:txBody>
      </p:sp>
      <p:sp>
        <p:nvSpPr>
          <p:cNvPr id="21" name="Cierre"/>
          <p:cNvSpPr/>
          <p:nvPr/>
        </p:nvSpPr>
        <p:spPr>
          <a:xfrm>
            <a:off x="2468880" y="3438144"/>
            <a:ext cx="1828800" cy="502920"/>
          </a:xfrm>
          <a:prstGeom prst="roundRect">
            <a:avLst>
              <a:gd name="adj" fmla="val 14545"/>
            </a:avLst>
          </a:prstGeom>
          <a:solidFill>
            <a:schemeClr val="accent1">
              <a:alpha val="15000"/>
            </a:schemeClr>
          </a:solidFill>
          <a:ln/>
        </p:spPr>
      </p:sp>
      <p:sp>
        <p:nvSpPr>
          <p:cNvPr id="22" name="Text 19"/>
          <p:cNvSpPr txBox="1"/>
          <p:nvPr/>
        </p:nvSpPr>
        <p:spPr>
          <a:xfrm>
            <a:off x="2578608" y="3438144"/>
            <a:ext cx="1691640" cy="502920"/>
          </a:xfrm>
          <a:prstGeom prst="rect">
            <a:avLst/>
          </a:prstGeom>
          <a:noFill/>
          <a:ln/>
        </p:spPr>
        <p:txBody>
          <a:bodyPr wrap="square" lIns="0" tIns="0" rIns="0" bIns="0" rtlCol="0" anchor="ctr"/>
          <a:lstStyle/>
          <a:p>
            <a:pPr indent="0" marL="0">
              <a:buNone/>
            </a:pPr>
            <a:r>
              <a:rPr lang="en-US" sz="1300" b="1" dirty="0">
                <a:solidFill>
                  <a:schemeClr val="accent3"/>
                </a:solidFill>
              </a:rPr>
              <a:t>8  </a:t>
            </a:r>
            <a:pPr indent="0" marL="0">
              <a:buNone/>
            </a:pPr>
            <a:r>
              <a:rPr lang="en-US" sz="1300" b="1" dirty="0">
                <a:solidFill>
                  <a:schemeClr val="tx2"/>
                </a:solidFill>
              </a:rPr>
              <a:t>Cierre</a:t>
            </a:r>
            <a:endParaRPr lang="en-US" sz="13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0" y="1463040"/>
          <a:ext cx="4114800" cy="914400"/>
        </p:xfrm>
        <a:graphic>
          <a:graphicData uri="http://schemas.openxmlformats.org/drawingml/2006/table">
            <a:tbl>
              <a:tblPr/>
              <a:tblGrid>
                <a:gridCol w="640080"/>
                <a:gridCol w="868680"/>
                <a:gridCol w="1508760"/>
                <a:gridCol w="1097280"/>
              </a:tblGrid>
              <a:tr h="411480">
                <a:tc>
                  <a:txBody>
                    <a:bodyPr/>
                    <a:lstStyle/>
                    <a:p>
                      <a:pPr indent="0" marL="0">
                        <a:buNone/>
                      </a:pPr>
                      <a:r>
                        <a:rPr lang="en-US" sz="1050" b="1" dirty="0">
                          <a:solidFill>
                            <a:schemeClr val="bg1"/>
                          </a:solidFill>
                        </a:rPr>
                        <a:t>SC</a:t>
                      </a:r>
                      <a:endParaRPr lang="en-US" sz="1050" dirty="0"/>
                    </a:p>
                  </a:txBody>
                  <a:tcPr marL="91440" marR="91440" marT="45720" marB="45720" anchor="ctr">
                    <a:lnL w="9525" cap="flat" cmpd="sng" algn="ctr">
                      <a:solidFill>
                        <a:srgbClr val="D5E2DF"/>
                      </a:solidFill>
                      <a:prstDash val="solid"/>
                      <a:round/>
                      <a:headEnd type="none" w="med" len="med"/>
                      <a:tailEnd type="none" w="med" len="med"/>
                    </a:lnL>
                    <a:lnR w="9525" cap="flat" cmpd="sng" algn="ctr">
                      <a:solidFill>
                        <a:srgbClr val="D5E2DF"/>
                      </a:solidFill>
                      <a:prstDash val="solid"/>
                      <a:round/>
                      <a:headEnd type="none" w="med" len="med"/>
                      <a:tailEnd type="none" w="med" len="med"/>
                    </a:lnR>
                    <a:lnT w="9525" cap="flat" cmpd="sng" algn="ctr">
                      <a:solidFill>
                        <a:srgbClr val="D5E2DF"/>
                      </a:solidFill>
                      <a:prstDash val="solid"/>
                      <a:round/>
                      <a:headEnd type="none" w="med" len="med"/>
                      <a:tailEnd type="none" w="med" len="med"/>
                    </a:lnT>
                    <a:lnB w="9525" cap="flat" cmpd="sng" algn="ctr">
                      <a:solidFill>
                        <a:srgbClr val="D5E2DF"/>
                      </a:solidFill>
                      <a:prstDash val="solid"/>
                      <a:round/>
                      <a:headEnd type="none" w="med" len="med"/>
                      <a:tailEnd type="none" w="med" len="med"/>
                    </a:lnB>
                    <a:solidFill>
                      <a:schemeClr val="tx2"/>
                    </a:solidFill>
                  </a:tcPr>
                </a:tc>
                <a:tc>
                  <a:txBody>
                    <a:bodyPr/>
                    <a:lstStyle/>
                    <a:p>
                      <a:pPr indent="0" marL="0">
                        <a:buNone/>
                      </a:pPr>
                      <a:r>
                        <a:rPr lang="en-US" sz="1050" b="1" dirty="0">
                          <a:solidFill>
                            <a:schemeClr val="bg1"/>
                          </a:solidFill>
                        </a:rPr>
                        <a:t>Tipo</a:t>
                      </a:r>
                      <a:endParaRPr lang="en-US" sz="1050" dirty="0"/>
                    </a:p>
                  </a:txBody>
                  <a:tcPr marL="91440" marR="91440" marT="45720" marB="45720" anchor="ctr">
                    <a:lnL w="9525" cap="flat" cmpd="sng" algn="ctr">
                      <a:solidFill>
                        <a:srgbClr val="D5E2DF"/>
                      </a:solidFill>
                      <a:prstDash val="solid"/>
                      <a:round/>
                      <a:headEnd type="none" w="med" len="med"/>
                      <a:tailEnd type="none" w="med" len="med"/>
                    </a:lnL>
                    <a:lnR w="9525" cap="flat" cmpd="sng" algn="ctr">
                      <a:solidFill>
                        <a:srgbClr val="D5E2DF"/>
                      </a:solidFill>
                      <a:prstDash val="solid"/>
                      <a:round/>
                      <a:headEnd type="none" w="med" len="med"/>
                      <a:tailEnd type="none" w="med" len="med"/>
                    </a:lnR>
                    <a:lnT w="9525" cap="flat" cmpd="sng" algn="ctr">
                      <a:solidFill>
                        <a:srgbClr val="D5E2DF"/>
                      </a:solidFill>
                      <a:prstDash val="solid"/>
                      <a:round/>
                      <a:headEnd type="none" w="med" len="med"/>
                      <a:tailEnd type="none" w="med" len="med"/>
                    </a:lnT>
                    <a:lnB w="9525" cap="flat" cmpd="sng" algn="ctr">
                      <a:solidFill>
                        <a:srgbClr val="D5E2DF"/>
                      </a:solidFill>
                      <a:prstDash val="solid"/>
                      <a:round/>
                      <a:headEnd type="none" w="med" len="med"/>
                      <a:tailEnd type="none" w="med" len="med"/>
                    </a:lnB>
                    <a:solidFill>
                      <a:schemeClr val="tx2"/>
                    </a:solidFill>
                  </a:tcPr>
                </a:tc>
                <a:tc>
                  <a:txBody>
                    <a:bodyPr/>
                    <a:lstStyle/>
                    <a:p>
                      <a:pPr indent="0" marL="0">
                        <a:buNone/>
                      </a:pPr>
                      <a:r>
                        <a:rPr lang="en-US" sz="1050" b="1" dirty="0">
                          <a:solidFill>
                            <a:schemeClr val="bg1"/>
                          </a:solidFill>
                        </a:rPr>
                        <a:t>Cambio</a:t>
                      </a:r>
                      <a:endParaRPr lang="en-US" sz="1050" dirty="0"/>
                    </a:p>
                  </a:txBody>
                  <a:tcPr marL="91440" marR="91440" marT="45720" marB="45720" anchor="ctr">
                    <a:lnL w="9525" cap="flat" cmpd="sng" algn="ctr">
                      <a:solidFill>
                        <a:srgbClr val="D5E2DF"/>
                      </a:solidFill>
                      <a:prstDash val="solid"/>
                      <a:round/>
                      <a:headEnd type="none" w="med" len="med"/>
                      <a:tailEnd type="none" w="med" len="med"/>
                    </a:lnL>
                    <a:lnR w="9525" cap="flat" cmpd="sng" algn="ctr">
                      <a:solidFill>
                        <a:srgbClr val="D5E2DF"/>
                      </a:solidFill>
                      <a:prstDash val="solid"/>
                      <a:round/>
                      <a:headEnd type="none" w="med" len="med"/>
                      <a:tailEnd type="none" w="med" len="med"/>
                    </a:lnR>
                    <a:lnT w="9525" cap="flat" cmpd="sng" algn="ctr">
                      <a:solidFill>
                        <a:srgbClr val="D5E2DF"/>
                      </a:solidFill>
                      <a:prstDash val="solid"/>
                      <a:round/>
                      <a:headEnd type="none" w="med" len="med"/>
                      <a:tailEnd type="none" w="med" len="med"/>
                    </a:lnT>
                    <a:lnB w="9525" cap="flat" cmpd="sng" algn="ctr">
                      <a:solidFill>
                        <a:srgbClr val="D5E2DF"/>
                      </a:solidFill>
                      <a:prstDash val="solid"/>
                      <a:round/>
                      <a:headEnd type="none" w="med" len="med"/>
                      <a:tailEnd type="none" w="med" len="med"/>
                    </a:lnB>
                    <a:solidFill>
                      <a:schemeClr val="tx2"/>
                    </a:solidFill>
                  </a:tcPr>
                </a:tc>
                <a:tc>
                  <a:txBody>
                    <a:bodyPr/>
                    <a:lstStyle/>
                    <a:p>
                      <a:pPr indent="0" marL="0">
                        <a:buNone/>
                      </a:pPr>
                      <a:r>
                        <a:rPr lang="en-US" sz="1050" b="1" dirty="0">
                          <a:solidFill>
                            <a:schemeClr val="bg1"/>
                          </a:solidFill>
                        </a:rPr>
                        <a:t>Estado</a:t>
                      </a:r>
                      <a:endParaRPr lang="en-US" sz="1050" dirty="0"/>
                    </a:p>
                  </a:txBody>
                  <a:tcPr marL="91440" marR="91440" marT="45720" marB="45720" anchor="ctr">
                    <a:lnL w="9525" cap="flat" cmpd="sng" algn="ctr">
                      <a:solidFill>
                        <a:srgbClr val="D5E2DF"/>
                      </a:solidFill>
                      <a:prstDash val="solid"/>
                      <a:round/>
                      <a:headEnd type="none" w="med" len="med"/>
                      <a:tailEnd type="none" w="med" len="med"/>
                    </a:lnL>
                    <a:lnR w="9525" cap="flat" cmpd="sng" algn="ctr">
                      <a:solidFill>
                        <a:srgbClr val="D5E2DF"/>
                      </a:solidFill>
                      <a:prstDash val="solid"/>
                      <a:round/>
                      <a:headEnd type="none" w="med" len="med"/>
                      <a:tailEnd type="none" w="med" len="med"/>
                    </a:lnR>
                    <a:lnT w="9525" cap="flat" cmpd="sng" algn="ctr">
                      <a:solidFill>
                        <a:srgbClr val="D5E2DF"/>
                      </a:solidFill>
                      <a:prstDash val="solid"/>
                      <a:round/>
                      <a:headEnd type="none" w="med" len="med"/>
                      <a:tailEnd type="none" w="med" len="med"/>
                    </a:lnT>
                    <a:lnB w="9525" cap="flat" cmpd="sng" algn="ctr">
                      <a:solidFill>
                        <a:srgbClr val="D5E2DF"/>
                      </a:solidFill>
                      <a:prstDash val="solid"/>
                      <a:round/>
                      <a:headEnd type="none" w="med" len="med"/>
                      <a:tailEnd type="none" w="med" len="med"/>
                    </a:lnB>
                    <a:solidFill>
                      <a:schemeClr val="tx2"/>
                    </a:solidFill>
                  </a:tcPr>
                </a:tc>
              </a:tr>
              <a:tr h="411480">
                <a:tc>
                  <a:txBody>
                    <a:bodyPr/>
                    <a:lstStyle/>
                    <a:p>
                      <a:pPr indent="0" marL="0">
                        <a:buNone/>
                      </a:pPr>
                      <a:r>
                        <a:rPr lang="en-US" sz="1050" dirty="0">
                          <a:solidFill>
                            <a:schemeClr val="tx1"/>
                          </a:solidFill>
                        </a:rPr>
                        <a:t>SC-001</a:t>
                      </a:r>
                      <a:endParaRPr lang="en-US" sz="1050" dirty="0"/>
                    </a:p>
                  </a:txBody>
                  <a:tcPr marL="91440" marR="91440" marT="45720" marB="45720" anchor="ctr">
                    <a:lnL w="9525" cap="flat" cmpd="sng" algn="ctr">
                      <a:solidFill>
                        <a:srgbClr val="D5E2DF"/>
                      </a:solidFill>
                      <a:prstDash val="solid"/>
                      <a:round/>
                      <a:headEnd type="none" w="med" len="med"/>
                      <a:tailEnd type="none" w="med" len="med"/>
                    </a:lnL>
                    <a:lnR w="9525" cap="flat" cmpd="sng" algn="ctr">
                      <a:solidFill>
                        <a:srgbClr val="D5E2DF"/>
                      </a:solidFill>
                      <a:prstDash val="solid"/>
                      <a:round/>
                      <a:headEnd type="none" w="med" len="med"/>
                      <a:tailEnd type="none" w="med" len="med"/>
                    </a:lnR>
                    <a:lnT w="9525" cap="flat" cmpd="sng" algn="ctr">
                      <a:solidFill>
                        <a:srgbClr val="D5E2DF"/>
                      </a:solidFill>
                      <a:prstDash val="solid"/>
                      <a:round/>
                      <a:headEnd type="none" w="med" len="med"/>
                      <a:tailEnd type="none" w="med" len="med"/>
                    </a:lnT>
                    <a:lnB w="9525" cap="flat" cmpd="sng" algn="ctr">
                      <a:solidFill>
                        <a:srgbClr val="D5E2DF"/>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Correctivo</a:t>
                      </a:r>
                      <a:endParaRPr lang="en-US" sz="1050" dirty="0"/>
                    </a:p>
                  </a:txBody>
                  <a:tcPr marL="91440" marR="91440" marT="45720" marB="45720" anchor="ctr">
                    <a:lnL w="9525" cap="flat" cmpd="sng" algn="ctr">
                      <a:solidFill>
                        <a:srgbClr val="D5E2DF"/>
                      </a:solidFill>
                      <a:prstDash val="solid"/>
                      <a:round/>
                      <a:headEnd type="none" w="med" len="med"/>
                      <a:tailEnd type="none" w="med" len="med"/>
                    </a:lnL>
                    <a:lnR w="9525" cap="flat" cmpd="sng" algn="ctr">
                      <a:solidFill>
                        <a:srgbClr val="D5E2DF"/>
                      </a:solidFill>
                      <a:prstDash val="solid"/>
                      <a:round/>
                      <a:headEnd type="none" w="med" len="med"/>
                      <a:tailEnd type="none" w="med" len="med"/>
                    </a:lnR>
                    <a:lnT w="9525" cap="flat" cmpd="sng" algn="ctr">
                      <a:solidFill>
                        <a:srgbClr val="D5E2DF"/>
                      </a:solidFill>
                      <a:prstDash val="solid"/>
                      <a:round/>
                      <a:headEnd type="none" w="med" len="med"/>
                      <a:tailEnd type="none" w="med" len="med"/>
                    </a:lnT>
                    <a:lnB w="9525" cap="flat" cmpd="sng" algn="ctr">
                      <a:solidFill>
                        <a:srgbClr val="D5E2DF"/>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Validar fechas de permisos</a:t>
                      </a:r>
                      <a:endParaRPr lang="en-US" sz="1050" dirty="0"/>
                    </a:p>
                  </a:txBody>
                  <a:tcPr marL="91440" marR="91440" marT="45720" marB="45720" anchor="ctr">
                    <a:lnL w="9525" cap="flat" cmpd="sng" algn="ctr">
                      <a:solidFill>
                        <a:srgbClr val="D5E2DF"/>
                      </a:solidFill>
                      <a:prstDash val="solid"/>
                      <a:round/>
                      <a:headEnd type="none" w="med" len="med"/>
                      <a:tailEnd type="none" w="med" len="med"/>
                    </a:lnL>
                    <a:lnR w="9525" cap="flat" cmpd="sng" algn="ctr">
                      <a:solidFill>
                        <a:srgbClr val="D5E2DF"/>
                      </a:solidFill>
                      <a:prstDash val="solid"/>
                      <a:round/>
                      <a:headEnd type="none" w="med" len="med"/>
                      <a:tailEnd type="none" w="med" len="med"/>
                    </a:lnR>
                    <a:lnT w="9525" cap="flat" cmpd="sng" algn="ctr">
                      <a:solidFill>
                        <a:srgbClr val="D5E2DF"/>
                      </a:solidFill>
                      <a:prstDash val="solid"/>
                      <a:round/>
                      <a:headEnd type="none" w="med" len="med"/>
                      <a:tailEnd type="none" w="med" len="med"/>
                    </a:lnT>
                    <a:lnB w="9525" cap="flat" cmpd="sng" algn="ctr">
                      <a:solidFill>
                        <a:srgbClr val="D5E2DF"/>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Aprobado</a:t>
                      </a:r>
                      <a:endParaRPr lang="en-US" sz="1050" dirty="0"/>
                    </a:p>
                  </a:txBody>
                  <a:tcPr marL="91440" marR="91440" marT="45720" marB="45720" anchor="ctr">
                    <a:lnL w="9525" cap="flat" cmpd="sng" algn="ctr">
                      <a:solidFill>
                        <a:srgbClr val="D5E2DF"/>
                      </a:solidFill>
                      <a:prstDash val="solid"/>
                      <a:round/>
                      <a:headEnd type="none" w="med" len="med"/>
                      <a:tailEnd type="none" w="med" len="med"/>
                    </a:lnL>
                    <a:lnR w="9525" cap="flat" cmpd="sng" algn="ctr">
                      <a:solidFill>
                        <a:srgbClr val="D5E2DF"/>
                      </a:solidFill>
                      <a:prstDash val="solid"/>
                      <a:round/>
                      <a:headEnd type="none" w="med" len="med"/>
                      <a:tailEnd type="none" w="med" len="med"/>
                    </a:lnR>
                    <a:lnT w="9525" cap="flat" cmpd="sng" algn="ctr">
                      <a:solidFill>
                        <a:srgbClr val="D5E2DF"/>
                      </a:solidFill>
                      <a:prstDash val="solid"/>
                      <a:round/>
                      <a:headEnd type="none" w="med" len="med"/>
                      <a:tailEnd type="none" w="med" len="med"/>
                    </a:lnT>
                    <a:lnB w="9525" cap="flat" cmpd="sng" algn="ctr">
                      <a:solidFill>
                        <a:srgbClr val="D5E2DF"/>
                      </a:solidFill>
                      <a:prstDash val="solid"/>
                      <a:round/>
                      <a:headEnd type="none" w="med" len="med"/>
                      <a:tailEnd type="none" w="med" len="med"/>
                    </a:lnB>
                    <a:solidFill>
                      <a:schemeClr val="bg1"/>
                    </a:solidFill>
                  </a:tcPr>
                </a:tc>
              </a:tr>
              <a:tr h="411480">
                <a:tc>
                  <a:txBody>
                    <a:bodyPr/>
                    <a:lstStyle/>
                    <a:p>
                      <a:pPr indent="0" marL="0">
                        <a:buNone/>
                      </a:pPr>
                      <a:r>
                        <a:rPr lang="en-US" sz="1050" dirty="0">
                          <a:solidFill>
                            <a:schemeClr val="tx1"/>
                          </a:solidFill>
                        </a:rPr>
                        <a:t>SC-002</a:t>
                      </a:r>
                      <a:endParaRPr lang="en-US" sz="1050" dirty="0"/>
                    </a:p>
                  </a:txBody>
                  <a:tcPr marL="91440" marR="91440" marT="45720" marB="45720" anchor="ctr">
                    <a:lnL w="9525" cap="flat" cmpd="sng" algn="ctr">
                      <a:solidFill>
                        <a:srgbClr val="D5E2DF"/>
                      </a:solidFill>
                      <a:prstDash val="solid"/>
                      <a:round/>
                      <a:headEnd type="none" w="med" len="med"/>
                      <a:tailEnd type="none" w="med" len="med"/>
                    </a:lnL>
                    <a:lnR w="9525" cap="flat" cmpd="sng" algn="ctr">
                      <a:solidFill>
                        <a:srgbClr val="D5E2DF"/>
                      </a:solidFill>
                      <a:prstDash val="solid"/>
                      <a:round/>
                      <a:headEnd type="none" w="med" len="med"/>
                      <a:tailEnd type="none" w="med" len="med"/>
                    </a:lnR>
                    <a:lnT w="9525" cap="flat" cmpd="sng" algn="ctr">
                      <a:solidFill>
                        <a:srgbClr val="D5E2DF"/>
                      </a:solidFill>
                      <a:prstDash val="solid"/>
                      <a:round/>
                      <a:headEnd type="none" w="med" len="med"/>
                      <a:tailEnd type="none" w="med" len="med"/>
                    </a:lnT>
                    <a:lnB w="9525" cap="flat" cmpd="sng" algn="ctr">
                      <a:solidFill>
                        <a:srgbClr val="D5E2DF"/>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Preventivo</a:t>
                      </a:r>
                      <a:endParaRPr lang="en-US" sz="1050" dirty="0"/>
                    </a:p>
                  </a:txBody>
                  <a:tcPr marL="91440" marR="91440" marT="45720" marB="45720" anchor="ctr">
                    <a:lnL w="9525" cap="flat" cmpd="sng" algn="ctr">
                      <a:solidFill>
                        <a:srgbClr val="D5E2DF"/>
                      </a:solidFill>
                      <a:prstDash val="solid"/>
                      <a:round/>
                      <a:headEnd type="none" w="med" len="med"/>
                      <a:tailEnd type="none" w="med" len="med"/>
                    </a:lnL>
                    <a:lnR w="9525" cap="flat" cmpd="sng" algn="ctr">
                      <a:solidFill>
                        <a:srgbClr val="D5E2DF"/>
                      </a:solidFill>
                      <a:prstDash val="solid"/>
                      <a:round/>
                      <a:headEnd type="none" w="med" len="med"/>
                      <a:tailEnd type="none" w="med" len="med"/>
                    </a:lnR>
                    <a:lnT w="9525" cap="flat" cmpd="sng" algn="ctr">
                      <a:solidFill>
                        <a:srgbClr val="D5E2DF"/>
                      </a:solidFill>
                      <a:prstDash val="solid"/>
                      <a:round/>
                      <a:headEnd type="none" w="med" len="med"/>
                      <a:tailEnd type="none" w="med" len="med"/>
                    </a:lnT>
                    <a:lnB w="9525" cap="flat" cmpd="sng" algn="ctr">
                      <a:solidFill>
                        <a:srgbClr val="D5E2DF"/>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Bloqueo tras intentos fallidos</a:t>
                      </a:r>
                      <a:endParaRPr lang="en-US" sz="1050" dirty="0"/>
                    </a:p>
                  </a:txBody>
                  <a:tcPr marL="91440" marR="91440" marT="45720" marB="45720" anchor="ctr">
                    <a:lnL w="9525" cap="flat" cmpd="sng" algn="ctr">
                      <a:solidFill>
                        <a:srgbClr val="D5E2DF"/>
                      </a:solidFill>
                      <a:prstDash val="solid"/>
                      <a:round/>
                      <a:headEnd type="none" w="med" len="med"/>
                      <a:tailEnd type="none" w="med" len="med"/>
                    </a:lnL>
                    <a:lnR w="9525" cap="flat" cmpd="sng" algn="ctr">
                      <a:solidFill>
                        <a:srgbClr val="D5E2DF"/>
                      </a:solidFill>
                      <a:prstDash val="solid"/>
                      <a:round/>
                      <a:headEnd type="none" w="med" len="med"/>
                      <a:tailEnd type="none" w="med" len="med"/>
                    </a:lnR>
                    <a:lnT w="9525" cap="flat" cmpd="sng" algn="ctr">
                      <a:solidFill>
                        <a:srgbClr val="D5E2DF"/>
                      </a:solidFill>
                      <a:prstDash val="solid"/>
                      <a:round/>
                      <a:headEnd type="none" w="med" len="med"/>
                      <a:tailEnd type="none" w="med" len="med"/>
                    </a:lnT>
                    <a:lnB w="9525" cap="flat" cmpd="sng" algn="ctr">
                      <a:solidFill>
                        <a:srgbClr val="D5E2DF"/>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Aprobado</a:t>
                      </a:r>
                      <a:endParaRPr lang="en-US" sz="1050" dirty="0"/>
                    </a:p>
                  </a:txBody>
                  <a:tcPr marL="91440" marR="91440" marT="45720" marB="45720" anchor="ctr">
                    <a:lnL w="9525" cap="flat" cmpd="sng" algn="ctr">
                      <a:solidFill>
                        <a:srgbClr val="D5E2DF"/>
                      </a:solidFill>
                      <a:prstDash val="solid"/>
                      <a:round/>
                      <a:headEnd type="none" w="med" len="med"/>
                      <a:tailEnd type="none" w="med" len="med"/>
                    </a:lnL>
                    <a:lnR w="9525" cap="flat" cmpd="sng" algn="ctr">
                      <a:solidFill>
                        <a:srgbClr val="D5E2DF"/>
                      </a:solidFill>
                      <a:prstDash val="solid"/>
                      <a:round/>
                      <a:headEnd type="none" w="med" len="med"/>
                      <a:tailEnd type="none" w="med" len="med"/>
                    </a:lnR>
                    <a:lnT w="9525" cap="flat" cmpd="sng" algn="ctr">
                      <a:solidFill>
                        <a:srgbClr val="D5E2DF"/>
                      </a:solidFill>
                      <a:prstDash val="solid"/>
                      <a:round/>
                      <a:headEnd type="none" w="med" len="med"/>
                      <a:tailEnd type="none" w="med" len="med"/>
                    </a:lnT>
                    <a:lnB w="9525" cap="flat" cmpd="sng" algn="ctr">
                      <a:solidFill>
                        <a:srgbClr val="D5E2DF"/>
                      </a:solidFill>
                      <a:prstDash val="solid"/>
                      <a:round/>
                      <a:headEnd type="none" w="med" len="med"/>
                      <a:tailEnd type="none" w="med" len="med"/>
                    </a:lnB>
                    <a:solidFill>
                      <a:schemeClr val="bg1"/>
                    </a:solidFill>
                  </a:tcPr>
                </a:tc>
              </a:tr>
              <a:tr h="411480">
                <a:tc>
                  <a:txBody>
                    <a:bodyPr/>
                    <a:lstStyle/>
                    <a:p>
                      <a:pPr indent="0" marL="0">
                        <a:buNone/>
                      </a:pPr>
                      <a:r>
                        <a:rPr lang="en-US" sz="1050" dirty="0">
                          <a:solidFill>
                            <a:schemeClr val="tx1"/>
                          </a:solidFill>
                        </a:rPr>
                        <a:t>SC-004</a:t>
                      </a:r>
                      <a:endParaRPr lang="en-US" sz="1050" dirty="0"/>
                    </a:p>
                  </a:txBody>
                  <a:tcPr marL="91440" marR="91440" marT="45720" marB="45720" anchor="ctr">
                    <a:lnL w="9525" cap="flat" cmpd="sng" algn="ctr">
                      <a:solidFill>
                        <a:srgbClr val="D5E2DF"/>
                      </a:solidFill>
                      <a:prstDash val="solid"/>
                      <a:round/>
                      <a:headEnd type="none" w="med" len="med"/>
                      <a:tailEnd type="none" w="med" len="med"/>
                    </a:lnL>
                    <a:lnR w="9525" cap="flat" cmpd="sng" algn="ctr">
                      <a:solidFill>
                        <a:srgbClr val="D5E2DF"/>
                      </a:solidFill>
                      <a:prstDash val="solid"/>
                      <a:round/>
                      <a:headEnd type="none" w="med" len="med"/>
                      <a:tailEnd type="none" w="med" len="med"/>
                    </a:lnR>
                    <a:lnT w="9525" cap="flat" cmpd="sng" algn="ctr">
                      <a:solidFill>
                        <a:srgbClr val="D5E2DF"/>
                      </a:solidFill>
                      <a:prstDash val="solid"/>
                      <a:round/>
                      <a:headEnd type="none" w="med" len="med"/>
                      <a:tailEnd type="none" w="med" len="med"/>
                    </a:lnT>
                    <a:lnB w="9525" cap="flat" cmpd="sng" algn="ctr">
                      <a:solidFill>
                        <a:srgbClr val="D5E2DF"/>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Adaptativo</a:t>
                      </a:r>
                      <a:endParaRPr lang="en-US" sz="1050" dirty="0"/>
                    </a:p>
                  </a:txBody>
                  <a:tcPr marL="91440" marR="91440" marT="45720" marB="45720" anchor="ctr">
                    <a:lnL w="9525" cap="flat" cmpd="sng" algn="ctr">
                      <a:solidFill>
                        <a:srgbClr val="D5E2DF"/>
                      </a:solidFill>
                      <a:prstDash val="solid"/>
                      <a:round/>
                      <a:headEnd type="none" w="med" len="med"/>
                      <a:tailEnd type="none" w="med" len="med"/>
                    </a:lnL>
                    <a:lnR w="9525" cap="flat" cmpd="sng" algn="ctr">
                      <a:solidFill>
                        <a:srgbClr val="D5E2DF"/>
                      </a:solidFill>
                      <a:prstDash val="solid"/>
                      <a:round/>
                      <a:headEnd type="none" w="med" len="med"/>
                      <a:tailEnd type="none" w="med" len="med"/>
                    </a:lnR>
                    <a:lnT w="9525" cap="flat" cmpd="sng" algn="ctr">
                      <a:solidFill>
                        <a:srgbClr val="D5E2DF"/>
                      </a:solidFill>
                      <a:prstDash val="solid"/>
                      <a:round/>
                      <a:headEnd type="none" w="med" len="med"/>
                      <a:tailEnd type="none" w="med" len="med"/>
                    </a:lnT>
                    <a:lnB w="9525" cap="flat" cmpd="sng" algn="ctr">
                      <a:solidFill>
                        <a:srgbClr val="D5E2DF"/>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Conexión por variable de entorno</a:t>
                      </a:r>
                      <a:endParaRPr lang="en-US" sz="1050" dirty="0"/>
                    </a:p>
                  </a:txBody>
                  <a:tcPr marL="91440" marR="91440" marT="45720" marB="45720" anchor="ctr">
                    <a:lnL w="9525" cap="flat" cmpd="sng" algn="ctr">
                      <a:solidFill>
                        <a:srgbClr val="D5E2DF"/>
                      </a:solidFill>
                      <a:prstDash val="solid"/>
                      <a:round/>
                      <a:headEnd type="none" w="med" len="med"/>
                      <a:tailEnd type="none" w="med" len="med"/>
                    </a:lnL>
                    <a:lnR w="9525" cap="flat" cmpd="sng" algn="ctr">
                      <a:solidFill>
                        <a:srgbClr val="D5E2DF"/>
                      </a:solidFill>
                      <a:prstDash val="solid"/>
                      <a:round/>
                      <a:headEnd type="none" w="med" len="med"/>
                      <a:tailEnd type="none" w="med" len="med"/>
                    </a:lnR>
                    <a:lnT w="9525" cap="flat" cmpd="sng" algn="ctr">
                      <a:solidFill>
                        <a:srgbClr val="D5E2DF"/>
                      </a:solidFill>
                      <a:prstDash val="solid"/>
                      <a:round/>
                      <a:headEnd type="none" w="med" len="med"/>
                      <a:tailEnd type="none" w="med" len="med"/>
                    </a:lnT>
                    <a:lnB w="9525" cap="flat" cmpd="sng" algn="ctr">
                      <a:solidFill>
                        <a:srgbClr val="D5E2DF"/>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Diferido</a:t>
                      </a:r>
                      <a:endParaRPr lang="en-US" sz="1050" dirty="0"/>
                    </a:p>
                  </a:txBody>
                  <a:tcPr marL="91440" marR="91440" marT="45720" marB="45720" anchor="ctr">
                    <a:lnL w="9525" cap="flat" cmpd="sng" algn="ctr">
                      <a:solidFill>
                        <a:srgbClr val="D5E2DF"/>
                      </a:solidFill>
                      <a:prstDash val="solid"/>
                      <a:round/>
                      <a:headEnd type="none" w="med" len="med"/>
                      <a:tailEnd type="none" w="med" len="med"/>
                    </a:lnL>
                    <a:lnR w="9525" cap="flat" cmpd="sng" algn="ctr">
                      <a:solidFill>
                        <a:srgbClr val="D5E2DF"/>
                      </a:solidFill>
                      <a:prstDash val="solid"/>
                      <a:round/>
                      <a:headEnd type="none" w="med" len="med"/>
                      <a:tailEnd type="none" w="med" len="med"/>
                    </a:lnR>
                    <a:lnT w="9525" cap="flat" cmpd="sng" algn="ctr">
                      <a:solidFill>
                        <a:srgbClr val="D5E2DF"/>
                      </a:solidFill>
                      <a:prstDash val="solid"/>
                      <a:round/>
                      <a:headEnd type="none" w="med" len="med"/>
                      <a:tailEnd type="none" w="med" len="med"/>
                    </a:lnT>
                    <a:lnB w="9525" cap="flat" cmpd="sng" algn="ctr">
                      <a:solidFill>
                        <a:srgbClr val="D5E2DF"/>
                      </a:solidFill>
                      <a:prstDash val="solid"/>
                      <a:round/>
                      <a:headEnd type="none" w="med" len="med"/>
                      <a:tailEnd type="none" w="med" len="med"/>
                    </a:lnB>
                    <a:solidFill>
                      <a:schemeClr val="bg1"/>
                    </a:solidFill>
                  </a:tcPr>
                </a:tc>
              </a:tr>
              <a:tr h="411480">
                <a:tc>
                  <a:txBody>
                    <a:bodyPr/>
                    <a:lstStyle/>
                    <a:p>
                      <a:pPr indent="0" marL="0">
                        <a:buNone/>
                      </a:pPr>
                      <a:r>
                        <a:rPr lang="en-US" sz="1050" dirty="0">
                          <a:solidFill>
                            <a:schemeClr val="tx1"/>
                          </a:solidFill>
                        </a:rPr>
                        <a:t>SC-006</a:t>
                      </a:r>
                      <a:endParaRPr lang="en-US" sz="1050" dirty="0"/>
                    </a:p>
                  </a:txBody>
                  <a:tcPr marL="91440" marR="91440" marT="45720" marB="45720" anchor="ctr">
                    <a:lnL w="9525" cap="flat" cmpd="sng" algn="ctr">
                      <a:solidFill>
                        <a:srgbClr val="D5E2DF"/>
                      </a:solidFill>
                      <a:prstDash val="solid"/>
                      <a:round/>
                      <a:headEnd type="none" w="med" len="med"/>
                      <a:tailEnd type="none" w="med" len="med"/>
                    </a:lnL>
                    <a:lnR w="9525" cap="flat" cmpd="sng" algn="ctr">
                      <a:solidFill>
                        <a:srgbClr val="D5E2DF"/>
                      </a:solidFill>
                      <a:prstDash val="solid"/>
                      <a:round/>
                      <a:headEnd type="none" w="med" len="med"/>
                      <a:tailEnd type="none" w="med" len="med"/>
                    </a:lnR>
                    <a:lnT w="9525" cap="flat" cmpd="sng" algn="ctr">
                      <a:solidFill>
                        <a:srgbClr val="D5E2DF"/>
                      </a:solidFill>
                      <a:prstDash val="solid"/>
                      <a:round/>
                      <a:headEnd type="none" w="med" len="med"/>
                      <a:tailEnd type="none" w="med" len="med"/>
                    </a:lnT>
                    <a:lnB w="9525" cap="flat" cmpd="sng" algn="ctr">
                      <a:solidFill>
                        <a:srgbClr val="D5E2DF"/>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Perfectivo</a:t>
                      </a:r>
                      <a:endParaRPr lang="en-US" sz="1050" dirty="0"/>
                    </a:p>
                  </a:txBody>
                  <a:tcPr marL="91440" marR="91440" marT="45720" marB="45720" anchor="ctr">
                    <a:lnL w="9525" cap="flat" cmpd="sng" algn="ctr">
                      <a:solidFill>
                        <a:srgbClr val="D5E2DF"/>
                      </a:solidFill>
                      <a:prstDash val="solid"/>
                      <a:round/>
                      <a:headEnd type="none" w="med" len="med"/>
                      <a:tailEnd type="none" w="med" len="med"/>
                    </a:lnL>
                    <a:lnR w="9525" cap="flat" cmpd="sng" algn="ctr">
                      <a:solidFill>
                        <a:srgbClr val="D5E2DF"/>
                      </a:solidFill>
                      <a:prstDash val="solid"/>
                      <a:round/>
                      <a:headEnd type="none" w="med" len="med"/>
                      <a:tailEnd type="none" w="med" len="med"/>
                    </a:lnR>
                    <a:lnT w="9525" cap="flat" cmpd="sng" algn="ctr">
                      <a:solidFill>
                        <a:srgbClr val="D5E2DF"/>
                      </a:solidFill>
                      <a:prstDash val="solid"/>
                      <a:round/>
                      <a:headEnd type="none" w="med" len="med"/>
                      <a:tailEnd type="none" w="med" len="med"/>
                    </a:lnT>
                    <a:lnB w="9525" cap="flat" cmpd="sng" algn="ctr">
                      <a:solidFill>
                        <a:srgbClr val="D5E2DF"/>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Arquitectura por capas</a:t>
                      </a:r>
                      <a:endParaRPr lang="en-US" sz="1050" dirty="0"/>
                    </a:p>
                  </a:txBody>
                  <a:tcPr marL="91440" marR="91440" marT="45720" marB="45720" anchor="ctr">
                    <a:lnL w="9525" cap="flat" cmpd="sng" algn="ctr">
                      <a:solidFill>
                        <a:srgbClr val="D5E2DF"/>
                      </a:solidFill>
                      <a:prstDash val="solid"/>
                      <a:round/>
                      <a:headEnd type="none" w="med" len="med"/>
                      <a:tailEnd type="none" w="med" len="med"/>
                    </a:lnL>
                    <a:lnR w="9525" cap="flat" cmpd="sng" algn="ctr">
                      <a:solidFill>
                        <a:srgbClr val="D5E2DF"/>
                      </a:solidFill>
                      <a:prstDash val="solid"/>
                      <a:round/>
                      <a:headEnd type="none" w="med" len="med"/>
                      <a:tailEnd type="none" w="med" len="med"/>
                    </a:lnR>
                    <a:lnT w="9525" cap="flat" cmpd="sng" algn="ctr">
                      <a:solidFill>
                        <a:srgbClr val="D5E2DF"/>
                      </a:solidFill>
                      <a:prstDash val="solid"/>
                      <a:round/>
                      <a:headEnd type="none" w="med" len="med"/>
                      <a:tailEnd type="none" w="med" len="med"/>
                    </a:lnT>
                    <a:lnB w="9525" cap="flat" cmpd="sng" algn="ctr">
                      <a:solidFill>
                        <a:srgbClr val="D5E2DF"/>
                      </a:solidFill>
                      <a:prstDash val="solid"/>
                      <a:round/>
                      <a:headEnd type="none" w="med" len="med"/>
                      <a:tailEnd type="none" w="med" len="med"/>
                    </a:lnB>
                    <a:solidFill>
                      <a:schemeClr val="bg1"/>
                    </a:solidFill>
                  </a:tcPr>
                </a:tc>
                <a:tc>
                  <a:txBody>
                    <a:bodyPr/>
                    <a:lstStyle/>
                    <a:p>
                      <a:pPr indent="0" marL="0">
                        <a:buNone/>
                      </a:pPr>
                      <a:r>
                        <a:rPr lang="en-US" sz="1050" b="1" dirty="0">
                          <a:solidFill>
                            <a:schemeClr val="accent1"/>
                          </a:solidFill>
                        </a:rPr>
                        <a:t>Implementado</a:t>
                      </a:r>
                      <a:endParaRPr lang="en-US" sz="1050" dirty="0"/>
                    </a:p>
                  </a:txBody>
                  <a:tcPr marL="91440" marR="91440" marT="45720" marB="45720" anchor="ctr">
                    <a:lnL w="9525" cap="flat" cmpd="sng" algn="ctr">
                      <a:solidFill>
                        <a:srgbClr val="D5E2DF"/>
                      </a:solidFill>
                      <a:prstDash val="solid"/>
                      <a:round/>
                      <a:headEnd type="none" w="med" len="med"/>
                      <a:tailEnd type="none" w="med" len="med"/>
                    </a:lnL>
                    <a:lnR w="9525" cap="flat" cmpd="sng" algn="ctr">
                      <a:solidFill>
                        <a:srgbClr val="D5E2DF"/>
                      </a:solidFill>
                      <a:prstDash val="solid"/>
                      <a:round/>
                      <a:headEnd type="none" w="med" len="med"/>
                      <a:tailEnd type="none" w="med" len="med"/>
                    </a:lnR>
                    <a:lnT w="9525" cap="flat" cmpd="sng" algn="ctr">
                      <a:solidFill>
                        <a:srgbClr val="D5E2DF"/>
                      </a:solidFill>
                      <a:prstDash val="solid"/>
                      <a:round/>
                      <a:headEnd type="none" w="med" len="med"/>
                      <a:tailEnd type="none" w="med" len="med"/>
                    </a:lnT>
                    <a:lnB w="9525" cap="flat" cmpd="sng" algn="ctr">
                      <a:solidFill>
                        <a:srgbClr val="D5E2DF"/>
                      </a:solidFill>
                      <a:prstDash val="solid"/>
                      <a:round/>
                      <a:headEnd type="none" w="med" len="med"/>
                      <a:tailEnd type="none" w="med" len="med"/>
                    </a:lnB>
                    <a:solidFill>
                      <a:schemeClr val="bg1"/>
                    </a:solidFill>
                  </a:tcPr>
                </a:tc>
              </a:tr>
              <a:tr h="411480">
                <a:tc>
                  <a:txBody>
                    <a:bodyPr/>
                    <a:lstStyle/>
                    <a:p>
                      <a:pPr indent="0" marL="0">
                        <a:buNone/>
                      </a:pPr>
                      <a:r>
                        <a:rPr lang="en-US" sz="1050" dirty="0">
                          <a:solidFill>
                            <a:schemeClr val="tx1"/>
                          </a:solidFill>
                        </a:rPr>
                        <a:t>SC-007</a:t>
                      </a:r>
                      <a:endParaRPr lang="en-US" sz="1050" dirty="0"/>
                    </a:p>
                  </a:txBody>
                  <a:tcPr marL="91440" marR="91440" marT="45720" marB="45720" anchor="ctr">
                    <a:lnL w="9525" cap="flat" cmpd="sng" algn="ctr">
                      <a:solidFill>
                        <a:srgbClr val="D5E2DF"/>
                      </a:solidFill>
                      <a:prstDash val="solid"/>
                      <a:round/>
                      <a:headEnd type="none" w="med" len="med"/>
                      <a:tailEnd type="none" w="med" len="med"/>
                    </a:lnL>
                    <a:lnR w="9525" cap="flat" cmpd="sng" algn="ctr">
                      <a:solidFill>
                        <a:srgbClr val="D5E2DF"/>
                      </a:solidFill>
                      <a:prstDash val="solid"/>
                      <a:round/>
                      <a:headEnd type="none" w="med" len="med"/>
                      <a:tailEnd type="none" w="med" len="med"/>
                    </a:lnR>
                    <a:lnT w="9525" cap="flat" cmpd="sng" algn="ctr">
                      <a:solidFill>
                        <a:srgbClr val="D5E2DF"/>
                      </a:solidFill>
                      <a:prstDash val="solid"/>
                      <a:round/>
                      <a:headEnd type="none" w="med" len="med"/>
                      <a:tailEnd type="none" w="med" len="med"/>
                    </a:lnT>
                    <a:lnB w="9525" cap="flat" cmpd="sng" algn="ctr">
                      <a:solidFill>
                        <a:srgbClr val="D5E2DF"/>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Perfectivo</a:t>
                      </a:r>
                      <a:endParaRPr lang="en-US" sz="1050" dirty="0"/>
                    </a:p>
                  </a:txBody>
                  <a:tcPr marL="91440" marR="91440" marT="45720" marB="45720" anchor="ctr">
                    <a:lnL w="9525" cap="flat" cmpd="sng" algn="ctr">
                      <a:solidFill>
                        <a:srgbClr val="D5E2DF"/>
                      </a:solidFill>
                      <a:prstDash val="solid"/>
                      <a:round/>
                      <a:headEnd type="none" w="med" len="med"/>
                      <a:tailEnd type="none" w="med" len="med"/>
                    </a:lnL>
                    <a:lnR w="9525" cap="flat" cmpd="sng" algn="ctr">
                      <a:solidFill>
                        <a:srgbClr val="D5E2DF"/>
                      </a:solidFill>
                      <a:prstDash val="solid"/>
                      <a:round/>
                      <a:headEnd type="none" w="med" len="med"/>
                      <a:tailEnd type="none" w="med" len="med"/>
                    </a:lnR>
                    <a:lnT w="9525" cap="flat" cmpd="sng" algn="ctr">
                      <a:solidFill>
                        <a:srgbClr val="D5E2DF"/>
                      </a:solidFill>
                      <a:prstDash val="solid"/>
                      <a:round/>
                      <a:headEnd type="none" w="med" len="med"/>
                      <a:tailEnd type="none" w="med" len="med"/>
                    </a:lnT>
                    <a:lnB w="9525" cap="flat" cmpd="sng" algn="ctr">
                      <a:solidFill>
                        <a:srgbClr val="D5E2DF"/>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Interfaz con Tailwind</a:t>
                      </a:r>
                      <a:endParaRPr lang="en-US" sz="1050" dirty="0"/>
                    </a:p>
                  </a:txBody>
                  <a:tcPr marL="91440" marR="91440" marT="45720" marB="45720" anchor="ctr">
                    <a:lnL w="9525" cap="flat" cmpd="sng" algn="ctr">
                      <a:solidFill>
                        <a:srgbClr val="D5E2DF"/>
                      </a:solidFill>
                      <a:prstDash val="solid"/>
                      <a:round/>
                      <a:headEnd type="none" w="med" len="med"/>
                      <a:tailEnd type="none" w="med" len="med"/>
                    </a:lnL>
                    <a:lnR w="9525" cap="flat" cmpd="sng" algn="ctr">
                      <a:solidFill>
                        <a:srgbClr val="D5E2DF"/>
                      </a:solidFill>
                      <a:prstDash val="solid"/>
                      <a:round/>
                      <a:headEnd type="none" w="med" len="med"/>
                      <a:tailEnd type="none" w="med" len="med"/>
                    </a:lnR>
                    <a:lnT w="9525" cap="flat" cmpd="sng" algn="ctr">
                      <a:solidFill>
                        <a:srgbClr val="D5E2DF"/>
                      </a:solidFill>
                      <a:prstDash val="solid"/>
                      <a:round/>
                      <a:headEnd type="none" w="med" len="med"/>
                      <a:tailEnd type="none" w="med" len="med"/>
                    </a:lnT>
                    <a:lnB w="9525" cap="flat" cmpd="sng" algn="ctr">
                      <a:solidFill>
                        <a:srgbClr val="D5E2DF"/>
                      </a:solidFill>
                      <a:prstDash val="solid"/>
                      <a:round/>
                      <a:headEnd type="none" w="med" len="med"/>
                      <a:tailEnd type="none" w="med" len="med"/>
                    </a:lnB>
                    <a:solidFill>
                      <a:schemeClr val="bg1"/>
                    </a:solidFill>
                  </a:tcPr>
                </a:tc>
                <a:tc>
                  <a:txBody>
                    <a:bodyPr/>
                    <a:lstStyle/>
                    <a:p>
                      <a:pPr indent="0" marL="0">
                        <a:buNone/>
                      </a:pPr>
                      <a:r>
                        <a:rPr lang="en-US" sz="1050" b="1" dirty="0">
                          <a:solidFill>
                            <a:schemeClr val="accent1"/>
                          </a:solidFill>
                        </a:rPr>
                        <a:t>Implementado</a:t>
                      </a:r>
                      <a:endParaRPr lang="en-US" sz="1050" dirty="0"/>
                    </a:p>
                  </a:txBody>
                  <a:tcPr marL="91440" marR="91440" marT="45720" marB="45720" anchor="ctr">
                    <a:lnL w="9525" cap="flat" cmpd="sng" algn="ctr">
                      <a:solidFill>
                        <a:srgbClr val="D5E2DF"/>
                      </a:solidFill>
                      <a:prstDash val="solid"/>
                      <a:round/>
                      <a:headEnd type="none" w="med" len="med"/>
                      <a:tailEnd type="none" w="med" len="med"/>
                    </a:lnL>
                    <a:lnR w="9525" cap="flat" cmpd="sng" algn="ctr">
                      <a:solidFill>
                        <a:srgbClr val="D5E2DF"/>
                      </a:solidFill>
                      <a:prstDash val="solid"/>
                      <a:round/>
                      <a:headEnd type="none" w="med" len="med"/>
                      <a:tailEnd type="none" w="med" len="med"/>
                    </a:lnR>
                    <a:lnT w="9525" cap="flat" cmpd="sng" algn="ctr">
                      <a:solidFill>
                        <a:srgbClr val="D5E2DF"/>
                      </a:solidFill>
                      <a:prstDash val="solid"/>
                      <a:round/>
                      <a:headEnd type="none" w="med" len="med"/>
                      <a:tailEnd type="none" w="med" len="med"/>
                    </a:lnT>
                    <a:lnB w="9525" cap="flat" cmpd="sng" algn="ctr">
                      <a:solidFill>
                        <a:srgbClr val="D5E2DF"/>
                      </a:solidFill>
                      <a:prstDash val="solid"/>
                      <a:round/>
                      <a:headEnd type="none" w="med" len="med"/>
                      <a:tailEnd type="none" w="med" len="med"/>
                    </a:lnB>
                    <a:solidFill>
                      <a:schemeClr val="bg1"/>
                    </a:solidFill>
                  </a:tcPr>
                </a:tc>
              </a:tr>
            </a:tbl>
          </a:graphicData>
        </a:graphic>
      </p:graphicFrame>
      <p:sp>
        <p:nvSpPr>
          <p:cNvPr id="24" name="Text 20"/>
          <p:cNvSpPr txBox="1"/>
          <p:nvPr/>
        </p:nvSpPr>
        <p:spPr>
          <a:xfrm>
            <a:off x="457200" y="4343400"/>
            <a:ext cx="8229600" cy="320040"/>
          </a:xfrm>
          <a:prstGeom prst="rect">
            <a:avLst/>
          </a:prstGeom>
          <a:noFill/>
          <a:ln/>
        </p:spPr>
        <p:txBody>
          <a:bodyPr wrap="square" lIns="0" tIns="0" rIns="0" bIns="0" rtlCol="0" anchor="ctr"/>
          <a:lstStyle/>
          <a:p>
            <a:pPr indent="0" marL="0">
              <a:buNone/>
            </a:pPr>
            <a:r>
              <a:rPr lang="en-US" sz="1100" b="1" dirty="0">
                <a:solidFill>
                  <a:schemeClr val="accent1"/>
                </a:solidFill>
                <a:latin typeface="Calibri" pitchFamily="34" charset="0"/>
                <a:ea typeface="Calibri" pitchFamily="34" charset="-122"/>
                <a:cs typeface="Calibri" pitchFamily="34" charset="-120"/>
              </a:rPr>
              <a:t>Dónde: </a:t>
            </a:r>
            <a:pPr indent="0" marL="0">
              <a:buNone/>
            </a:pPr>
            <a:r>
              <a:rPr lang="en-US" sz="1100" dirty="0">
                <a:solidFill>
                  <a:schemeClr val="tx1"/>
                </a:solidFill>
                <a:latin typeface="Courier New" pitchFamily="34" charset="0"/>
                <a:ea typeface="Courier New" pitchFamily="34" charset="-122"/>
                <a:cs typeface="Courier New" pitchFamily="34" charset="-120"/>
              </a:rPr>
              <a:t>docs/GESTION-DEL-CAMBIO.md · .github/ISSUE_TEMPLATE/ · pull_request_template.md</a:t>
            </a:r>
            <a:endParaRPr lang="en-US" sz="11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Resumen: cada semana, su evidencia</a:t>
            </a:r>
            <a:endParaRPr lang="en-US" sz="28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960120"/>
          <a:ext cx="8229600" cy="914400"/>
        </p:xfrm>
        <a:graphic>
          <a:graphicData uri="http://schemas.openxmlformats.org/drawingml/2006/table">
            <a:tbl>
              <a:tblPr/>
              <a:tblGrid>
                <a:gridCol w="548640"/>
                <a:gridCol w="2194560"/>
                <a:gridCol w="5486400"/>
              </a:tblGrid>
              <a:tr h="352044">
                <a:tc>
                  <a:txBody>
                    <a:bodyPr/>
                    <a:lstStyle/>
                    <a:p>
                      <a:pPr indent="0" marL="0">
                        <a:buNone/>
                      </a:pPr>
                      <a:r>
                        <a:rPr lang="en-US" sz="1100" b="1" dirty="0">
                          <a:solidFill>
                            <a:schemeClr val="bg1"/>
                          </a:solidFill>
                        </a:rPr>
                        <a:t>Sem.</a:t>
                      </a:r>
                      <a:endParaRPr lang="en-US" sz="1100" dirty="0"/>
                    </a:p>
                  </a:txBody>
                  <a:tcPr marL="91440" marR="91440" marT="45720" marB="45720" anchor="ctr">
                    <a:lnL w="9525" cap="flat" cmpd="sng" algn="ctr">
                      <a:solidFill>
                        <a:srgbClr val="D5E2DF"/>
                      </a:solidFill>
                      <a:prstDash val="solid"/>
                      <a:round/>
                      <a:headEnd type="none" w="med" len="med"/>
                      <a:tailEnd type="none" w="med" len="med"/>
                    </a:lnL>
                    <a:lnR w="9525" cap="flat" cmpd="sng" algn="ctr">
                      <a:solidFill>
                        <a:srgbClr val="D5E2DF"/>
                      </a:solidFill>
                      <a:prstDash val="solid"/>
                      <a:round/>
                      <a:headEnd type="none" w="med" len="med"/>
                      <a:tailEnd type="none" w="med" len="med"/>
                    </a:lnR>
                    <a:lnT w="9525" cap="flat" cmpd="sng" algn="ctr">
                      <a:solidFill>
                        <a:srgbClr val="D5E2DF"/>
                      </a:solidFill>
                      <a:prstDash val="solid"/>
                      <a:round/>
                      <a:headEnd type="none" w="med" len="med"/>
                      <a:tailEnd type="none" w="med" len="med"/>
                    </a:lnT>
                    <a:lnB w="9525" cap="flat" cmpd="sng" algn="ctr">
                      <a:solidFill>
                        <a:srgbClr val="D5E2DF"/>
                      </a:solidFill>
                      <a:prstDash val="solid"/>
                      <a:round/>
                      <a:headEnd type="none" w="med" len="med"/>
                      <a:tailEnd type="none" w="med" len="med"/>
                    </a:lnB>
                    <a:solidFill>
                      <a:schemeClr val="tx2"/>
                    </a:solidFill>
                  </a:tcPr>
                </a:tc>
                <a:tc>
                  <a:txBody>
                    <a:bodyPr/>
                    <a:lstStyle/>
                    <a:p>
                      <a:pPr indent="0" marL="0">
                        <a:buNone/>
                      </a:pPr>
                      <a:r>
                        <a:rPr lang="en-US" sz="1100" b="1" dirty="0">
                          <a:solidFill>
                            <a:schemeClr val="bg1"/>
                          </a:solidFill>
                        </a:rPr>
                        <a:t>Tema</a:t>
                      </a:r>
                      <a:endParaRPr lang="en-US" sz="1100" dirty="0"/>
                    </a:p>
                  </a:txBody>
                  <a:tcPr marL="91440" marR="91440" marT="45720" marB="45720" anchor="ctr">
                    <a:lnL w="9525" cap="flat" cmpd="sng" algn="ctr">
                      <a:solidFill>
                        <a:srgbClr val="D5E2DF"/>
                      </a:solidFill>
                      <a:prstDash val="solid"/>
                      <a:round/>
                      <a:headEnd type="none" w="med" len="med"/>
                      <a:tailEnd type="none" w="med" len="med"/>
                    </a:lnL>
                    <a:lnR w="9525" cap="flat" cmpd="sng" algn="ctr">
                      <a:solidFill>
                        <a:srgbClr val="D5E2DF"/>
                      </a:solidFill>
                      <a:prstDash val="solid"/>
                      <a:round/>
                      <a:headEnd type="none" w="med" len="med"/>
                      <a:tailEnd type="none" w="med" len="med"/>
                    </a:lnR>
                    <a:lnT w="9525" cap="flat" cmpd="sng" algn="ctr">
                      <a:solidFill>
                        <a:srgbClr val="D5E2DF"/>
                      </a:solidFill>
                      <a:prstDash val="solid"/>
                      <a:round/>
                      <a:headEnd type="none" w="med" len="med"/>
                      <a:tailEnd type="none" w="med" len="med"/>
                    </a:lnT>
                    <a:lnB w="9525" cap="flat" cmpd="sng" algn="ctr">
                      <a:solidFill>
                        <a:srgbClr val="D5E2DF"/>
                      </a:solidFill>
                      <a:prstDash val="solid"/>
                      <a:round/>
                      <a:headEnd type="none" w="med" len="med"/>
                      <a:tailEnd type="none" w="med" len="med"/>
                    </a:lnB>
                    <a:solidFill>
                      <a:schemeClr val="tx2"/>
                    </a:solidFill>
                  </a:tcPr>
                </a:tc>
                <a:tc>
                  <a:txBody>
                    <a:bodyPr/>
                    <a:lstStyle/>
                    <a:p>
                      <a:pPr indent="0" marL="0">
                        <a:buNone/>
                      </a:pPr>
                      <a:r>
                        <a:rPr lang="en-US" sz="1100" b="1" dirty="0">
                          <a:solidFill>
                            <a:schemeClr val="bg1"/>
                          </a:solidFill>
                        </a:rPr>
                        <a:t>Evidencia en el proyecto</a:t>
                      </a:r>
                      <a:endParaRPr lang="en-US" sz="1100" dirty="0"/>
                    </a:p>
                  </a:txBody>
                  <a:tcPr marL="91440" marR="91440" marT="45720" marB="45720" anchor="ctr">
                    <a:lnL w="9525" cap="flat" cmpd="sng" algn="ctr">
                      <a:solidFill>
                        <a:srgbClr val="D5E2DF"/>
                      </a:solidFill>
                      <a:prstDash val="solid"/>
                      <a:round/>
                      <a:headEnd type="none" w="med" len="med"/>
                      <a:tailEnd type="none" w="med" len="med"/>
                    </a:lnL>
                    <a:lnR w="9525" cap="flat" cmpd="sng" algn="ctr">
                      <a:solidFill>
                        <a:srgbClr val="D5E2DF"/>
                      </a:solidFill>
                      <a:prstDash val="solid"/>
                      <a:round/>
                      <a:headEnd type="none" w="med" len="med"/>
                      <a:tailEnd type="none" w="med" len="med"/>
                    </a:lnR>
                    <a:lnT w="9525" cap="flat" cmpd="sng" algn="ctr">
                      <a:solidFill>
                        <a:srgbClr val="D5E2DF"/>
                      </a:solidFill>
                      <a:prstDash val="solid"/>
                      <a:round/>
                      <a:headEnd type="none" w="med" len="med"/>
                      <a:tailEnd type="none" w="med" len="med"/>
                    </a:lnT>
                    <a:lnB w="9525" cap="flat" cmpd="sng" algn="ctr">
                      <a:solidFill>
                        <a:srgbClr val="D5E2DF"/>
                      </a:solidFill>
                      <a:prstDash val="solid"/>
                      <a:round/>
                      <a:headEnd type="none" w="med" len="med"/>
                      <a:tailEnd type="none" w="med" len="med"/>
                    </a:lnB>
                    <a:solidFill>
                      <a:schemeClr val="tx2"/>
                    </a:solidFill>
                  </a:tcPr>
                </a:tc>
              </a:tr>
              <a:tr h="352044">
                <a:tc>
                  <a:txBody>
                    <a:bodyPr/>
                    <a:lstStyle/>
                    <a:p>
                      <a:pPr algn="ctr" indent="0" marL="0">
                        <a:buNone/>
                      </a:pPr>
                      <a:r>
                        <a:rPr lang="en-US" sz="1100" b="1" dirty="0">
                          <a:solidFill>
                            <a:schemeClr val="tx2"/>
                          </a:solidFill>
                        </a:rPr>
                        <a:t>1</a:t>
                      </a:r>
                      <a:endParaRPr lang="en-US" sz="1100" dirty="0"/>
                    </a:p>
                  </a:txBody>
                  <a:tcPr marL="91440" marR="91440" marT="45720" marB="45720" anchor="ctr">
                    <a:lnL w="9525" cap="flat" cmpd="sng" algn="ctr">
                      <a:solidFill>
                        <a:srgbClr val="D5E2DF"/>
                      </a:solidFill>
                      <a:prstDash val="solid"/>
                      <a:round/>
                      <a:headEnd type="none" w="med" len="med"/>
                      <a:tailEnd type="none" w="med" len="med"/>
                    </a:lnL>
                    <a:lnR w="9525" cap="flat" cmpd="sng" algn="ctr">
                      <a:solidFill>
                        <a:srgbClr val="D5E2DF"/>
                      </a:solidFill>
                      <a:prstDash val="solid"/>
                      <a:round/>
                      <a:headEnd type="none" w="med" len="med"/>
                      <a:tailEnd type="none" w="med" len="med"/>
                    </a:lnR>
                    <a:lnT w="9525" cap="flat" cmpd="sng" algn="ctr">
                      <a:solidFill>
                        <a:srgbClr val="D5E2DF"/>
                      </a:solidFill>
                      <a:prstDash val="solid"/>
                      <a:round/>
                      <a:headEnd type="none" w="med" len="med"/>
                      <a:tailEnd type="none" w="med" len="med"/>
                    </a:lnT>
                    <a:lnB w="9525" cap="flat" cmpd="sng" algn="ctr">
                      <a:solidFill>
                        <a:srgbClr val="D5E2DF"/>
                      </a:solidFill>
                      <a:prstDash val="solid"/>
                      <a:round/>
                      <a:headEnd type="none" w="med" len="med"/>
                      <a:tailEnd type="none" w="med" len="med"/>
                    </a:lnB>
                    <a:solidFill>
                      <a:schemeClr val="accent6"/>
                    </a:solidFill>
                  </a:tcPr>
                </a:tc>
                <a:tc>
                  <a:txBody>
                    <a:bodyPr/>
                    <a:lstStyle/>
                    <a:p>
                      <a:pPr indent="0" marL="0">
                        <a:buNone/>
                      </a:pPr>
                      <a:r>
                        <a:rPr lang="en-US" sz="1100" dirty="0">
                          <a:solidFill>
                            <a:schemeClr val="tx1"/>
                          </a:solidFill>
                        </a:rPr>
                        <a:t>Evolución del software</a:t>
                      </a:r>
                      <a:endParaRPr lang="en-US" sz="1100" dirty="0"/>
                    </a:p>
                  </a:txBody>
                  <a:tcPr marL="91440" marR="91440" marT="45720" marB="45720" anchor="ctr">
                    <a:lnL w="9525" cap="flat" cmpd="sng" algn="ctr">
                      <a:solidFill>
                        <a:srgbClr val="D5E2DF"/>
                      </a:solidFill>
                      <a:prstDash val="solid"/>
                      <a:round/>
                      <a:headEnd type="none" w="med" len="med"/>
                      <a:tailEnd type="none" w="med" len="med"/>
                    </a:lnL>
                    <a:lnR w="9525" cap="flat" cmpd="sng" algn="ctr">
                      <a:solidFill>
                        <a:srgbClr val="D5E2DF"/>
                      </a:solidFill>
                      <a:prstDash val="solid"/>
                      <a:round/>
                      <a:headEnd type="none" w="med" len="med"/>
                      <a:tailEnd type="none" w="med" len="med"/>
                    </a:lnR>
                    <a:lnT w="9525" cap="flat" cmpd="sng" algn="ctr">
                      <a:solidFill>
                        <a:srgbClr val="D5E2DF"/>
                      </a:solidFill>
                      <a:prstDash val="solid"/>
                      <a:round/>
                      <a:headEnd type="none" w="med" len="med"/>
                      <a:tailEnd type="none" w="med" len="med"/>
                    </a:lnT>
                    <a:lnB w="9525" cap="flat" cmpd="sng" algn="ctr">
                      <a:solidFill>
                        <a:srgbClr val="D5E2DF"/>
                      </a:solidFill>
                      <a:prstDash val="solid"/>
                      <a:round/>
                      <a:headEnd type="none" w="med" len="med"/>
                      <a:tailEnd type="none" w="med" len="med"/>
                    </a:lnB>
                    <a:solidFill>
                      <a:schemeClr val="bg1"/>
                    </a:solidFill>
                  </a:tcPr>
                </a:tc>
                <a:tc>
                  <a:txBody>
                    <a:bodyPr/>
                    <a:lstStyle/>
                    <a:p>
                      <a:pPr indent="0" marL="0">
                        <a:buNone/>
                      </a:pPr>
                      <a:r>
                        <a:rPr lang="en-US" sz="950" dirty="0">
                          <a:solidFill>
                            <a:schemeClr val="tx1"/>
                          </a:solidFill>
                          <a:latin typeface="Courier New" pitchFamily="34" charset="0"/>
                          <a:ea typeface="Courier New" pitchFamily="34" charset="-122"/>
                          <a:cs typeface="Courier New" pitchFamily="34" charset="-120"/>
                        </a:rPr>
                        <a:t>Migración WinForms → ASP.NET Core MVC (.NET 10)</a:t>
                      </a:r>
                      <a:endParaRPr lang="en-US" sz="950" dirty="0">
                        <a:latin typeface="Courier New" charset="0"/>
                        <a:ea typeface="Courier New" charset="0"/>
                        <a:cs typeface="Courier New" charset="0"/>
                      </a:endParaRPr>
                    </a:p>
                  </a:txBody>
                  <a:tcPr marL="91440" marR="91440" marT="45720" marB="45720" anchor="ctr">
                    <a:lnL w="9525" cap="flat" cmpd="sng" algn="ctr">
                      <a:solidFill>
                        <a:srgbClr val="D5E2DF"/>
                      </a:solidFill>
                      <a:prstDash val="solid"/>
                      <a:round/>
                      <a:headEnd type="none" w="med" len="med"/>
                      <a:tailEnd type="none" w="med" len="med"/>
                    </a:lnL>
                    <a:lnR w="9525" cap="flat" cmpd="sng" algn="ctr">
                      <a:solidFill>
                        <a:srgbClr val="D5E2DF"/>
                      </a:solidFill>
                      <a:prstDash val="solid"/>
                      <a:round/>
                      <a:headEnd type="none" w="med" len="med"/>
                      <a:tailEnd type="none" w="med" len="med"/>
                    </a:lnR>
                    <a:lnT w="9525" cap="flat" cmpd="sng" algn="ctr">
                      <a:solidFill>
                        <a:srgbClr val="D5E2DF"/>
                      </a:solidFill>
                      <a:prstDash val="solid"/>
                      <a:round/>
                      <a:headEnd type="none" w="med" len="med"/>
                      <a:tailEnd type="none" w="med" len="med"/>
                    </a:lnT>
                    <a:lnB w="9525" cap="flat" cmpd="sng" algn="ctr">
                      <a:solidFill>
                        <a:srgbClr val="D5E2DF"/>
                      </a:solidFill>
                      <a:prstDash val="solid"/>
                      <a:round/>
                      <a:headEnd type="none" w="med" len="med"/>
                      <a:tailEnd type="none" w="med" len="med"/>
                    </a:lnB>
                    <a:solidFill>
                      <a:schemeClr val="bg1"/>
                    </a:solidFill>
                  </a:tcPr>
                </a:tc>
              </a:tr>
              <a:tr h="352044">
                <a:tc>
                  <a:txBody>
                    <a:bodyPr/>
                    <a:lstStyle/>
                    <a:p>
                      <a:pPr algn="ctr" indent="0" marL="0">
                        <a:buNone/>
                      </a:pPr>
                      <a:r>
                        <a:rPr lang="en-US" sz="1100" b="1" dirty="0">
                          <a:solidFill>
                            <a:schemeClr val="tx2"/>
                          </a:solidFill>
                        </a:rPr>
                        <a:t>2</a:t>
                      </a:r>
                      <a:endParaRPr lang="en-US" sz="1100" dirty="0"/>
                    </a:p>
                  </a:txBody>
                  <a:tcPr marL="91440" marR="91440" marT="45720" marB="45720" anchor="ctr">
                    <a:lnL w="9525" cap="flat" cmpd="sng" algn="ctr">
                      <a:solidFill>
                        <a:srgbClr val="D5E2DF"/>
                      </a:solidFill>
                      <a:prstDash val="solid"/>
                      <a:round/>
                      <a:headEnd type="none" w="med" len="med"/>
                      <a:tailEnd type="none" w="med" len="med"/>
                    </a:lnL>
                    <a:lnR w="9525" cap="flat" cmpd="sng" algn="ctr">
                      <a:solidFill>
                        <a:srgbClr val="D5E2DF"/>
                      </a:solidFill>
                      <a:prstDash val="solid"/>
                      <a:round/>
                      <a:headEnd type="none" w="med" len="med"/>
                      <a:tailEnd type="none" w="med" len="med"/>
                    </a:lnR>
                    <a:lnT w="9525" cap="flat" cmpd="sng" algn="ctr">
                      <a:solidFill>
                        <a:srgbClr val="D5E2DF"/>
                      </a:solidFill>
                      <a:prstDash val="solid"/>
                      <a:round/>
                      <a:headEnd type="none" w="med" len="med"/>
                      <a:tailEnd type="none" w="med" len="med"/>
                    </a:lnT>
                    <a:lnB w="9525" cap="flat" cmpd="sng" algn="ctr">
                      <a:solidFill>
                        <a:srgbClr val="D5E2DF"/>
                      </a:solidFill>
                      <a:prstDash val="solid"/>
                      <a:round/>
                      <a:headEnd type="none" w="med" len="med"/>
                      <a:tailEnd type="none" w="med" len="med"/>
                    </a:lnB>
                    <a:solidFill>
                      <a:schemeClr val="accent6"/>
                    </a:solidFill>
                  </a:tcPr>
                </a:tc>
                <a:tc>
                  <a:txBody>
                    <a:bodyPr/>
                    <a:lstStyle/>
                    <a:p>
                      <a:pPr indent="0" marL="0">
                        <a:buNone/>
                      </a:pPr>
                      <a:r>
                        <a:rPr lang="en-US" sz="1100" dirty="0">
                          <a:solidFill>
                            <a:schemeClr val="tx1"/>
                          </a:solidFill>
                        </a:rPr>
                        <a:t>Mantenimiento</a:t>
                      </a:r>
                      <a:endParaRPr lang="en-US" sz="1100" dirty="0"/>
                    </a:p>
                  </a:txBody>
                  <a:tcPr marL="91440" marR="91440" marT="45720" marB="45720" anchor="ctr">
                    <a:lnL w="9525" cap="flat" cmpd="sng" algn="ctr">
                      <a:solidFill>
                        <a:srgbClr val="D5E2DF"/>
                      </a:solidFill>
                      <a:prstDash val="solid"/>
                      <a:round/>
                      <a:headEnd type="none" w="med" len="med"/>
                      <a:tailEnd type="none" w="med" len="med"/>
                    </a:lnL>
                    <a:lnR w="9525" cap="flat" cmpd="sng" algn="ctr">
                      <a:solidFill>
                        <a:srgbClr val="D5E2DF"/>
                      </a:solidFill>
                      <a:prstDash val="solid"/>
                      <a:round/>
                      <a:headEnd type="none" w="med" len="med"/>
                      <a:tailEnd type="none" w="med" len="med"/>
                    </a:lnR>
                    <a:lnT w="9525" cap="flat" cmpd="sng" algn="ctr">
                      <a:solidFill>
                        <a:srgbClr val="D5E2DF"/>
                      </a:solidFill>
                      <a:prstDash val="solid"/>
                      <a:round/>
                      <a:headEnd type="none" w="med" len="med"/>
                      <a:tailEnd type="none" w="med" len="med"/>
                    </a:lnT>
                    <a:lnB w="9525" cap="flat" cmpd="sng" algn="ctr">
                      <a:solidFill>
                        <a:srgbClr val="D5E2DF"/>
                      </a:solidFill>
                      <a:prstDash val="solid"/>
                      <a:round/>
                      <a:headEnd type="none" w="med" len="med"/>
                      <a:tailEnd type="none" w="med" len="med"/>
                    </a:lnB>
                    <a:solidFill>
                      <a:schemeClr val="bg1"/>
                    </a:solidFill>
                  </a:tcPr>
                </a:tc>
                <a:tc>
                  <a:txBody>
                    <a:bodyPr/>
                    <a:lstStyle/>
                    <a:p>
                      <a:pPr indent="0" marL="0">
                        <a:buNone/>
                      </a:pPr>
                      <a:r>
                        <a:rPr lang="en-US" sz="950" dirty="0">
                          <a:solidFill>
                            <a:schemeClr val="tx1"/>
                          </a:solidFill>
                          <a:latin typeface="Courier New" pitchFamily="34" charset="0"/>
                          <a:ea typeface="Courier New" pitchFamily="34" charset="-122"/>
                          <a:cs typeface="Courier New" pitchFamily="34" charset="-120"/>
                        </a:rPr>
                        <a:t>Correcciones, Seguridad__AdminClave, Bitacora, ArquitecturaTests</a:t>
                      </a:r>
                      <a:endParaRPr lang="en-US" sz="950" dirty="0">
                        <a:latin typeface="Courier New" charset="0"/>
                        <a:ea typeface="Courier New" charset="0"/>
                        <a:cs typeface="Courier New" charset="0"/>
                      </a:endParaRPr>
                    </a:p>
                  </a:txBody>
                  <a:tcPr marL="91440" marR="91440" marT="45720" marB="45720" anchor="ctr">
                    <a:lnL w="9525" cap="flat" cmpd="sng" algn="ctr">
                      <a:solidFill>
                        <a:srgbClr val="D5E2DF"/>
                      </a:solidFill>
                      <a:prstDash val="solid"/>
                      <a:round/>
                      <a:headEnd type="none" w="med" len="med"/>
                      <a:tailEnd type="none" w="med" len="med"/>
                    </a:lnL>
                    <a:lnR w="9525" cap="flat" cmpd="sng" algn="ctr">
                      <a:solidFill>
                        <a:srgbClr val="D5E2DF"/>
                      </a:solidFill>
                      <a:prstDash val="solid"/>
                      <a:round/>
                      <a:headEnd type="none" w="med" len="med"/>
                      <a:tailEnd type="none" w="med" len="med"/>
                    </a:lnR>
                    <a:lnT w="9525" cap="flat" cmpd="sng" algn="ctr">
                      <a:solidFill>
                        <a:srgbClr val="D5E2DF"/>
                      </a:solidFill>
                      <a:prstDash val="solid"/>
                      <a:round/>
                      <a:headEnd type="none" w="med" len="med"/>
                      <a:tailEnd type="none" w="med" len="med"/>
                    </a:lnT>
                    <a:lnB w="9525" cap="flat" cmpd="sng" algn="ctr">
                      <a:solidFill>
                        <a:srgbClr val="D5E2DF"/>
                      </a:solidFill>
                      <a:prstDash val="solid"/>
                      <a:round/>
                      <a:headEnd type="none" w="med" len="med"/>
                      <a:tailEnd type="none" w="med" len="med"/>
                    </a:lnB>
                    <a:solidFill>
                      <a:schemeClr val="bg1"/>
                    </a:solidFill>
                  </a:tcPr>
                </a:tc>
              </a:tr>
              <a:tr h="352044">
                <a:tc>
                  <a:txBody>
                    <a:bodyPr/>
                    <a:lstStyle/>
                    <a:p>
                      <a:pPr algn="ctr" indent="0" marL="0">
                        <a:buNone/>
                      </a:pPr>
                      <a:r>
                        <a:rPr lang="en-US" sz="1100" b="1" dirty="0">
                          <a:solidFill>
                            <a:schemeClr val="tx2"/>
                          </a:solidFill>
                        </a:rPr>
                        <a:t>3</a:t>
                      </a:r>
                      <a:endParaRPr lang="en-US" sz="1100" dirty="0"/>
                    </a:p>
                  </a:txBody>
                  <a:tcPr marL="91440" marR="91440" marT="45720" marB="45720" anchor="ctr">
                    <a:lnL w="9525" cap="flat" cmpd="sng" algn="ctr">
                      <a:solidFill>
                        <a:srgbClr val="D5E2DF"/>
                      </a:solidFill>
                      <a:prstDash val="solid"/>
                      <a:round/>
                      <a:headEnd type="none" w="med" len="med"/>
                      <a:tailEnd type="none" w="med" len="med"/>
                    </a:lnL>
                    <a:lnR w="9525" cap="flat" cmpd="sng" algn="ctr">
                      <a:solidFill>
                        <a:srgbClr val="D5E2DF"/>
                      </a:solidFill>
                      <a:prstDash val="solid"/>
                      <a:round/>
                      <a:headEnd type="none" w="med" len="med"/>
                      <a:tailEnd type="none" w="med" len="med"/>
                    </a:lnR>
                    <a:lnT w="9525" cap="flat" cmpd="sng" algn="ctr">
                      <a:solidFill>
                        <a:srgbClr val="D5E2DF"/>
                      </a:solidFill>
                      <a:prstDash val="solid"/>
                      <a:round/>
                      <a:headEnd type="none" w="med" len="med"/>
                      <a:tailEnd type="none" w="med" len="med"/>
                    </a:lnT>
                    <a:lnB w="9525" cap="flat" cmpd="sng" algn="ctr">
                      <a:solidFill>
                        <a:srgbClr val="D5E2DF"/>
                      </a:solidFill>
                      <a:prstDash val="solid"/>
                      <a:round/>
                      <a:headEnd type="none" w="med" len="med"/>
                      <a:tailEnd type="none" w="med" len="med"/>
                    </a:lnB>
                    <a:solidFill>
                      <a:schemeClr val="accent6"/>
                    </a:solidFill>
                  </a:tcPr>
                </a:tc>
                <a:tc>
                  <a:txBody>
                    <a:bodyPr/>
                    <a:lstStyle/>
                    <a:p>
                      <a:pPr indent="0" marL="0">
                        <a:buNone/>
                      </a:pPr>
                      <a:r>
                        <a:rPr lang="en-US" sz="1100" dirty="0">
                          <a:solidFill>
                            <a:schemeClr val="tx1"/>
                          </a:solidFill>
                        </a:rPr>
                        <a:t>Ingeniería inversa</a:t>
                      </a:r>
                      <a:endParaRPr lang="en-US" sz="1100" dirty="0"/>
                    </a:p>
                  </a:txBody>
                  <a:tcPr marL="91440" marR="91440" marT="45720" marB="45720" anchor="ctr">
                    <a:lnL w="9525" cap="flat" cmpd="sng" algn="ctr">
                      <a:solidFill>
                        <a:srgbClr val="D5E2DF"/>
                      </a:solidFill>
                      <a:prstDash val="solid"/>
                      <a:round/>
                      <a:headEnd type="none" w="med" len="med"/>
                      <a:tailEnd type="none" w="med" len="med"/>
                    </a:lnL>
                    <a:lnR w="9525" cap="flat" cmpd="sng" algn="ctr">
                      <a:solidFill>
                        <a:srgbClr val="D5E2DF"/>
                      </a:solidFill>
                      <a:prstDash val="solid"/>
                      <a:round/>
                      <a:headEnd type="none" w="med" len="med"/>
                      <a:tailEnd type="none" w="med" len="med"/>
                    </a:lnR>
                    <a:lnT w="9525" cap="flat" cmpd="sng" algn="ctr">
                      <a:solidFill>
                        <a:srgbClr val="D5E2DF"/>
                      </a:solidFill>
                      <a:prstDash val="solid"/>
                      <a:round/>
                      <a:headEnd type="none" w="med" len="med"/>
                      <a:tailEnd type="none" w="med" len="med"/>
                    </a:lnT>
                    <a:lnB w="9525" cap="flat" cmpd="sng" algn="ctr">
                      <a:solidFill>
                        <a:srgbClr val="D5E2DF"/>
                      </a:solidFill>
                      <a:prstDash val="solid"/>
                      <a:round/>
                      <a:headEnd type="none" w="med" len="med"/>
                      <a:tailEnd type="none" w="med" len="med"/>
                    </a:lnB>
                    <a:solidFill>
                      <a:schemeClr val="bg1"/>
                    </a:solidFill>
                  </a:tcPr>
                </a:tc>
                <a:tc>
                  <a:txBody>
                    <a:bodyPr/>
                    <a:lstStyle/>
                    <a:p>
                      <a:pPr indent="0" marL="0">
                        <a:buNone/>
                      </a:pPr>
                      <a:r>
                        <a:rPr lang="en-US" sz="950" dirty="0">
                          <a:solidFill>
                            <a:schemeClr val="tx1"/>
                          </a:solidFill>
                          <a:latin typeface="Courier New" pitchFamily="34" charset="0"/>
                          <a:ea typeface="Courier New" pitchFamily="34" charset="-122"/>
                          <a:cs typeface="Courier New" pitchFamily="34" charset="-120"/>
                        </a:rPr>
                        <a:t>Matriz módulos↔tablas · bd-Normalizada/NORMALIZACION.md</a:t>
                      </a:r>
                      <a:endParaRPr lang="en-US" sz="950" dirty="0">
                        <a:latin typeface="Courier New" charset="0"/>
                        <a:ea typeface="Courier New" charset="0"/>
                        <a:cs typeface="Courier New" charset="0"/>
                      </a:endParaRPr>
                    </a:p>
                  </a:txBody>
                  <a:tcPr marL="91440" marR="91440" marT="45720" marB="45720" anchor="ctr">
                    <a:lnL w="9525" cap="flat" cmpd="sng" algn="ctr">
                      <a:solidFill>
                        <a:srgbClr val="D5E2DF"/>
                      </a:solidFill>
                      <a:prstDash val="solid"/>
                      <a:round/>
                      <a:headEnd type="none" w="med" len="med"/>
                      <a:tailEnd type="none" w="med" len="med"/>
                    </a:lnL>
                    <a:lnR w="9525" cap="flat" cmpd="sng" algn="ctr">
                      <a:solidFill>
                        <a:srgbClr val="D5E2DF"/>
                      </a:solidFill>
                      <a:prstDash val="solid"/>
                      <a:round/>
                      <a:headEnd type="none" w="med" len="med"/>
                      <a:tailEnd type="none" w="med" len="med"/>
                    </a:lnR>
                    <a:lnT w="9525" cap="flat" cmpd="sng" algn="ctr">
                      <a:solidFill>
                        <a:srgbClr val="D5E2DF"/>
                      </a:solidFill>
                      <a:prstDash val="solid"/>
                      <a:round/>
                      <a:headEnd type="none" w="med" len="med"/>
                      <a:tailEnd type="none" w="med" len="med"/>
                    </a:lnT>
                    <a:lnB w="9525" cap="flat" cmpd="sng" algn="ctr">
                      <a:solidFill>
                        <a:srgbClr val="D5E2DF"/>
                      </a:solidFill>
                      <a:prstDash val="solid"/>
                      <a:round/>
                      <a:headEnd type="none" w="med" len="med"/>
                      <a:tailEnd type="none" w="med" len="med"/>
                    </a:lnB>
                    <a:solidFill>
                      <a:schemeClr val="bg1"/>
                    </a:solidFill>
                  </a:tcPr>
                </a:tc>
              </a:tr>
              <a:tr h="352044">
                <a:tc>
                  <a:txBody>
                    <a:bodyPr/>
                    <a:lstStyle/>
                    <a:p>
                      <a:pPr algn="ctr" indent="0" marL="0">
                        <a:buNone/>
                      </a:pPr>
                      <a:r>
                        <a:rPr lang="en-US" sz="1100" b="1" dirty="0">
                          <a:solidFill>
                            <a:schemeClr val="tx2"/>
                          </a:solidFill>
                        </a:rPr>
                        <a:t>4</a:t>
                      </a:r>
                      <a:endParaRPr lang="en-US" sz="1100" dirty="0"/>
                    </a:p>
                  </a:txBody>
                  <a:tcPr marL="91440" marR="91440" marT="45720" marB="45720" anchor="ctr">
                    <a:lnL w="9525" cap="flat" cmpd="sng" algn="ctr">
                      <a:solidFill>
                        <a:srgbClr val="D5E2DF"/>
                      </a:solidFill>
                      <a:prstDash val="solid"/>
                      <a:round/>
                      <a:headEnd type="none" w="med" len="med"/>
                      <a:tailEnd type="none" w="med" len="med"/>
                    </a:lnL>
                    <a:lnR w="9525" cap="flat" cmpd="sng" algn="ctr">
                      <a:solidFill>
                        <a:srgbClr val="D5E2DF"/>
                      </a:solidFill>
                      <a:prstDash val="solid"/>
                      <a:round/>
                      <a:headEnd type="none" w="med" len="med"/>
                      <a:tailEnd type="none" w="med" len="med"/>
                    </a:lnR>
                    <a:lnT w="9525" cap="flat" cmpd="sng" algn="ctr">
                      <a:solidFill>
                        <a:srgbClr val="D5E2DF"/>
                      </a:solidFill>
                      <a:prstDash val="solid"/>
                      <a:round/>
                      <a:headEnd type="none" w="med" len="med"/>
                      <a:tailEnd type="none" w="med" len="med"/>
                    </a:lnT>
                    <a:lnB w="9525" cap="flat" cmpd="sng" algn="ctr">
                      <a:solidFill>
                        <a:srgbClr val="D5E2DF"/>
                      </a:solidFill>
                      <a:prstDash val="solid"/>
                      <a:round/>
                      <a:headEnd type="none" w="med" len="med"/>
                      <a:tailEnd type="none" w="med" len="med"/>
                    </a:lnB>
                    <a:solidFill>
                      <a:schemeClr val="accent6"/>
                    </a:solidFill>
                  </a:tcPr>
                </a:tc>
                <a:tc>
                  <a:txBody>
                    <a:bodyPr/>
                    <a:lstStyle/>
                    <a:p>
                      <a:pPr indent="0" marL="0">
                        <a:buNone/>
                      </a:pPr>
                      <a:r>
                        <a:rPr lang="en-US" sz="1100" dirty="0">
                          <a:solidFill>
                            <a:schemeClr val="tx1"/>
                          </a:solidFill>
                        </a:rPr>
                        <a:t>SRP y DRY</a:t>
                      </a:r>
                      <a:endParaRPr lang="en-US" sz="1100" dirty="0"/>
                    </a:p>
                  </a:txBody>
                  <a:tcPr marL="91440" marR="91440" marT="45720" marB="45720" anchor="ctr">
                    <a:lnL w="9525" cap="flat" cmpd="sng" algn="ctr">
                      <a:solidFill>
                        <a:srgbClr val="D5E2DF"/>
                      </a:solidFill>
                      <a:prstDash val="solid"/>
                      <a:round/>
                      <a:headEnd type="none" w="med" len="med"/>
                      <a:tailEnd type="none" w="med" len="med"/>
                    </a:lnL>
                    <a:lnR w="9525" cap="flat" cmpd="sng" algn="ctr">
                      <a:solidFill>
                        <a:srgbClr val="D5E2DF"/>
                      </a:solidFill>
                      <a:prstDash val="solid"/>
                      <a:round/>
                      <a:headEnd type="none" w="med" len="med"/>
                      <a:tailEnd type="none" w="med" len="med"/>
                    </a:lnR>
                    <a:lnT w="9525" cap="flat" cmpd="sng" algn="ctr">
                      <a:solidFill>
                        <a:srgbClr val="D5E2DF"/>
                      </a:solidFill>
                      <a:prstDash val="solid"/>
                      <a:round/>
                      <a:headEnd type="none" w="med" len="med"/>
                      <a:tailEnd type="none" w="med" len="med"/>
                    </a:lnT>
                    <a:lnB w="9525" cap="flat" cmpd="sng" algn="ctr">
                      <a:solidFill>
                        <a:srgbClr val="D5E2DF"/>
                      </a:solidFill>
                      <a:prstDash val="solid"/>
                      <a:round/>
                      <a:headEnd type="none" w="med" len="med"/>
                      <a:tailEnd type="none" w="med" len="med"/>
                    </a:lnB>
                    <a:solidFill>
                      <a:schemeClr val="bg1"/>
                    </a:solidFill>
                  </a:tcPr>
                </a:tc>
                <a:tc>
                  <a:txBody>
                    <a:bodyPr/>
                    <a:lstStyle/>
                    <a:p>
                      <a:pPr indent="0" marL="0">
                        <a:buNone/>
                      </a:pPr>
                      <a:r>
                        <a:rPr lang="en-US" sz="950" dirty="0">
                          <a:solidFill>
                            <a:schemeClr val="tx1"/>
                          </a:solidFill>
                          <a:latin typeface="Courier New" pitchFamily="34" charset="0"/>
                          <a:ea typeface="Courier New" pitchFamily="34" charset="-122"/>
                          <a:cs typeface="Courier New" pitchFamily="34" charset="-120"/>
                        </a:rPr>
                        <a:t>RepositorioBase&lt;T&gt; · LogicaBase&lt;T&gt; · Numeracion · FichaSocialLogica</a:t>
                      </a:r>
                      <a:endParaRPr lang="en-US" sz="950" dirty="0">
                        <a:latin typeface="Courier New" charset="0"/>
                        <a:ea typeface="Courier New" charset="0"/>
                        <a:cs typeface="Courier New" charset="0"/>
                      </a:endParaRPr>
                    </a:p>
                  </a:txBody>
                  <a:tcPr marL="91440" marR="91440" marT="45720" marB="45720" anchor="ctr">
                    <a:lnL w="9525" cap="flat" cmpd="sng" algn="ctr">
                      <a:solidFill>
                        <a:srgbClr val="D5E2DF"/>
                      </a:solidFill>
                      <a:prstDash val="solid"/>
                      <a:round/>
                      <a:headEnd type="none" w="med" len="med"/>
                      <a:tailEnd type="none" w="med" len="med"/>
                    </a:lnL>
                    <a:lnR w="9525" cap="flat" cmpd="sng" algn="ctr">
                      <a:solidFill>
                        <a:srgbClr val="D5E2DF"/>
                      </a:solidFill>
                      <a:prstDash val="solid"/>
                      <a:round/>
                      <a:headEnd type="none" w="med" len="med"/>
                      <a:tailEnd type="none" w="med" len="med"/>
                    </a:lnR>
                    <a:lnT w="9525" cap="flat" cmpd="sng" algn="ctr">
                      <a:solidFill>
                        <a:srgbClr val="D5E2DF"/>
                      </a:solidFill>
                      <a:prstDash val="solid"/>
                      <a:round/>
                      <a:headEnd type="none" w="med" len="med"/>
                      <a:tailEnd type="none" w="med" len="med"/>
                    </a:lnT>
                    <a:lnB w="9525" cap="flat" cmpd="sng" algn="ctr">
                      <a:solidFill>
                        <a:srgbClr val="D5E2DF"/>
                      </a:solidFill>
                      <a:prstDash val="solid"/>
                      <a:round/>
                      <a:headEnd type="none" w="med" len="med"/>
                      <a:tailEnd type="none" w="med" len="med"/>
                    </a:lnB>
                    <a:solidFill>
                      <a:schemeClr val="bg1"/>
                    </a:solidFill>
                  </a:tcPr>
                </a:tc>
              </a:tr>
              <a:tr h="352044">
                <a:tc>
                  <a:txBody>
                    <a:bodyPr/>
                    <a:lstStyle/>
                    <a:p>
                      <a:pPr algn="ctr" indent="0" marL="0">
                        <a:buNone/>
                      </a:pPr>
                      <a:r>
                        <a:rPr lang="en-US" sz="1100" b="1" dirty="0">
                          <a:solidFill>
                            <a:schemeClr val="tx2"/>
                          </a:solidFill>
                        </a:rPr>
                        <a:t>5</a:t>
                      </a:r>
                      <a:endParaRPr lang="en-US" sz="1100" dirty="0"/>
                    </a:p>
                  </a:txBody>
                  <a:tcPr marL="91440" marR="91440" marT="45720" marB="45720" anchor="ctr">
                    <a:lnL w="9525" cap="flat" cmpd="sng" algn="ctr">
                      <a:solidFill>
                        <a:srgbClr val="D5E2DF"/>
                      </a:solidFill>
                      <a:prstDash val="solid"/>
                      <a:round/>
                      <a:headEnd type="none" w="med" len="med"/>
                      <a:tailEnd type="none" w="med" len="med"/>
                    </a:lnL>
                    <a:lnR w="9525" cap="flat" cmpd="sng" algn="ctr">
                      <a:solidFill>
                        <a:srgbClr val="D5E2DF"/>
                      </a:solidFill>
                      <a:prstDash val="solid"/>
                      <a:round/>
                      <a:headEnd type="none" w="med" len="med"/>
                      <a:tailEnd type="none" w="med" len="med"/>
                    </a:lnR>
                    <a:lnT w="9525" cap="flat" cmpd="sng" algn="ctr">
                      <a:solidFill>
                        <a:srgbClr val="D5E2DF"/>
                      </a:solidFill>
                      <a:prstDash val="solid"/>
                      <a:round/>
                      <a:headEnd type="none" w="med" len="med"/>
                      <a:tailEnd type="none" w="med" len="med"/>
                    </a:lnT>
                    <a:lnB w="9525" cap="flat" cmpd="sng" algn="ctr">
                      <a:solidFill>
                        <a:srgbClr val="D5E2DF"/>
                      </a:solidFill>
                      <a:prstDash val="solid"/>
                      <a:round/>
                      <a:headEnd type="none" w="med" len="med"/>
                      <a:tailEnd type="none" w="med" len="med"/>
                    </a:lnB>
                    <a:solidFill>
                      <a:schemeClr val="accent6"/>
                    </a:solidFill>
                  </a:tcPr>
                </a:tc>
                <a:tc>
                  <a:txBody>
                    <a:bodyPr/>
                    <a:lstStyle/>
                    <a:p>
                      <a:pPr indent="0" marL="0">
                        <a:buNone/>
                      </a:pPr>
                      <a:r>
                        <a:rPr lang="en-US" sz="1100" dirty="0">
                          <a:solidFill>
                            <a:schemeClr val="tx1"/>
                          </a:solidFill>
                        </a:rPr>
                        <a:t>Abierto-Cerrado</a:t>
                      </a:r>
                      <a:endParaRPr lang="en-US" sz="1100" dirty="0"/>
                    </a:p>
                  </a:txBody>
                  <a:tcPr marL="91440" marR="91440" marT="45720" marB="45720" anchor="ctr">
                    <a:lnL w="9525" cap="flat" cmpd="sng" algn="ctr">
                      <a:solidFill>
                        <a:srgbClr val="D5E2DF"/>
                      </a:solidFill>
                      <a:prstDash val="solid"/>
                      <a:round/>
                      <a:headEnd type="none" w="med" len="med"/>
                      <a:tailEnd type="none" w="med" len="med"/>
                    </a:lnL>
                    <a:lnR w="9525" cap="flat" cmpd="sng" algn="ctr">
                      <a:solidFill>
                        <a:srgbClr val="D5E2DF"/>
                      </a:solidFill>
                      <a:prstDash val="solid"/>
                      <a:round/>
                      <a:headEnd type="none" w="med" len="med"/>
                      <a:tailEnd type="none" w="med" len="med"/>
                    </a:lnR>
                    <a:lnT w="9525" cap="flat" cmpd="sng" algn="ctr">
                      <a:solidFill>
                        <a:srgbClr val="D5E2DF"/>
                      </a:solidFill>
                      <a:prstDash val="solid"/>
                      <a:round/>
                      <a:headEnd type="none" w="med" len="med"/>
                      <a:tailEnd type="none" w="med" len="med"/>
                    </a:lnT>
                    <a:lnB w="9525" cap="flat" cmpd="sng" algn="ctr">
                      <a:solidFill>
                        <a:srgbClr val="D5E2DF"/>
                      </a:solidFill>
                      <a:prstDash val="solid"/>
                      <a:round/>
                      <a:headEnd type="none" w="med" len="med"/>
                      <a:tailEnd type="none" w="med" len="med"/>
                    </a:lnB>
                    <a:solidFill>
                      <a:schemeClr val="bg1"/>
                    </a:solidFill>
                  </a:tcPr>
                </a:tc>
                <a:tc>
                  <a:txBody>
                    <a:bodyPr/>
                    <a:lstStyle/>
                    <a:p>
                      <a:pPr indent="0" marL="0">
                        <a:buNone/>
                      </a:pPr>
                      <a:r>
                        <a:rPr lang="en-US" sz="950" dirty="0">
                          <a:solidFill>
                            <a:schemeClr val="tx1"/>
                          </a:solidFill>
                          <a:latin typeface="Courier New" pitchFamily="34" charset="0"/>
                          <a:ea typeface="Courier New" pitchFamily="34" charset="-122"/>
                          <a:cs typeface="Courier New" pitchFamily="34" charset="-120"/>
                        </a:rPr>
                        <a:t>Exportacion/IExportadorTabla · RegistroCapas</a:t>
                      </a:r>
                      <a:endParaRPr lang="en-US" sz="950" dirty="0">
                        <a:latin typeface="Courier New" charset="0"/>
                        <a:ea typeface="Courier New" charset="0"/>
                        <a:cs typeface="Courier New" charset="0"/>
                      </a:endParaRPr>
                    </a:p>
                  </a:txBody>
                  <a:tcPr marL="91440" marR="91440" marT="45720" marB="45720" anchor="ctr">
                    <a:lnL w="9525" cap="flat" cmpd="sng" algn="ctr">
                      <a:solidFill>
                        <a:srgbClr val="D5E2DF"/>
                      </a:solidFill>
                      <a:prstDash val="solid"/>
                      <a:round/>
                      <a:headEnd type="none" w="med" len="med"/>
                      <a:tailEnd type="none" w="med" len="med"/>
                    </a:lnL>
                    <a:lnR w="9525" cap="flat" cmpd="sng" algn="ctr">
                      <a:solidFill>
                        <a:srgbClr val="D5E2DF"/>
                      </a:solidFill>
                      <a:prstDash val="solid"/>
                      <a:round/>
                      <a:headEnd type="none" w="med" len="med"/>
                      <a:tailEnd type="none" w="med" len="med"/>
                    </a:lnR>
                    <a:lnT w="9525" cap="flat" cmpd="sng" algn="ctr">
                      <a:solidFill>
                        <a:srgbClr val="D5E2DF"/>
                      </a:solidFill>
                      <a:prstDash val="solid"/>
                      <a:round/>
                      <a:headEnd type="none" w="med" len="med"/>
                      <a:tailEnd type="none" w="med" len="med"/>
                    </a:lnT>
                    <a:lnB w="9525" cap="flat" cmpd="sng" algn="ctr">
                      <a:solidFill>
                        <a:srgbClr val="D5E2DF"/>
                      </a:solidFill>
                      <a:prstDash val="solid"/>
                      <a:round/>
                      <a:headEnd type="none" w="med" len="med"/>
                      <a:tailEnd type="none" w="med" len="med"/>
                    </a:lnB>
                    <a:solidFill>
                      <a:schemeClr val="bg1"/>
                    </a:solidFill>
                  </a:tcPr>
                </a:tc>
              </a:tr>
              <a:tr h="352044">
                <a:tc>
                  <a:txBody>
                    <a:bodyPr/>
                    <a:lstStyle/>
                    <a:p>
                      <a:pPr algn="ctr" indent="0" marL="0">
                        <a:buNone/>
                      </a:pPr>
                      <a:r>
                        <a:rPr lang="en-US" sz="1100" b="1" dirty="0">
                          <a:solidFill>
                            <a:schemeClr val="tx2"/>
                          </a:solidFill>
                        </a:rPr>
                        <a:t>6</a:t>
                      </a:r>
                      <a:endParaRPr lang="en-US" sz="1100" dirty="0"/>
                    </a:p>
                  </a:txBody>
                  <a:tcPr marL="91440" marR="91440" marT="45720" marB="45720" anchor="ctr">
                    <a:lnL w="9525" cap="flat" cmpd="sng" algn="ctr">
                      <a:solidFill>
                        <a:srgbClr val="D5E2DF"/>
                      </a:solidFill>
                      <a:prstDash val="solid"/>
                      <a:round/>
                      <a:headEnd type="none" w="med" len="med"/>
                      <a:tailEnd type="none" w="med" len="med"/>
                    </a:lnL>
                    <a:lnR w="9525" cap="flat" cmpd="sng" algn="ctr">
                      <a:solidFill>
                        <a:srgbClr val="D5E2DF"/>
                      </a:solidFill>
                      <a:prstDash val="solid"/>
                      <a:round/>
                      <a:headEnd type="none" w="med" len="med"/>
                      <a:tailEnd type="none" w="med" len="med"/>
                    </a:lnR>
                    <a:lnT w="9525" cap="flat" cmpd="sng" algn="ctr">
                      <a:solidFill>
                        <a:srgbClr val="D5E2DF"/>
                      </a:solidFill>
                      <a:prstDash val="solid"/>
                      <a:round/>
                      <a:headEnd type="none" w="med" len="med"/>
                      <a:tailEnd type="none" w="med" len="med"/>
                    </a:lnT>
                    <a:lnB w="9525" cap="flat" cmpd="sng" algn="ctr">
                      <a:solidFill>
                        <a:srgbClr val="D5E2DF"/>
                      </a:solidFill>
                      <a:prstDash val="solid"/>
                      <a:round/>
                      <a:headEnd type="none" w="med" len="med"/>
                      <a:tailEnd type="none" w="med" len="med"/>
                    </a:lnB>
                    <a:solidFill>
                      <a:schemeClr val="accent6"/>
                    </a:solidFill>
                  </a:tcPr>
                </a:tc>
                <a:tc>
                  <a:txBody>
                    <a:bodyPr/>
                    <a:lstStyle/>
                    <a:p>
                      <a:pPr indent="0" marL="0">
                        <a:buNone/>
                      </a:pPr>
                      <a:r>
                        <a:rPr lang="en-US" sz="1100" dirty="0">
                          <a:solidFill>
                            <a:schemeClr val="tx1"/>
                          </a:solidFill>
                        </a:rPr>
                        <a:t>Clean Code</a:t>
                      </a:r>
                      <a:endParaRPr lang="en-US" sz="1100" dirty="0"/>
                    </a:p>
                  </a:txBody>
                  <a:tcPr marL="91440" marR="91440" marT="45720" marB="45720" anchor="ctr">
                    <a:lnL w="9525" cap="flat" cmpd="sng" algn="ctr">
                      <a:solidFill>
                        <a:srgbClr val="D5E2DF"/>
                      </a:solidFill>
                      <a:prstDash val="solid"/>
                      <a:round/>
                      <a:headEnd type="none" w="med" len="med"/>
                      <a:tailEnd type="none" w="med" len="med"/>
                    </a:lnL>
                    <a:lnR w="9525" cap="flat" cmpd="sng" algn="ctr">
                      <a:solidFill>
                        <a:srgbClr val="D5E2DF"/>
                      </a:solidFill>
                      <a:prstDash val="solid"/>
                      <a:round/>
                      <a:headEnd type="none" w="med" len="med"/>
                      <a:tailEnd type="none" w="med" len="med"/>
                    </a:lnR>
                    <a:lnT w="9525" cap="flat" cmpd="sng" algn="ctr">
                      <a:solidFill>
                        <a:srgbClr val="D5E2DF"/>
                      </a:solidFill>
                      <a:prstDash val="solid"/>
                      <a:round/>
                      <a:headEnd type="none" w="med" len="med"/>
                      <a:tailEnd type="none" w="med" len="med"/>
                    </a:lnT>
                    <a:lnB w="9525" cap="flat" cmpd="sng" algn="ctr">
                      <a:solidFill>
                        <a:srgbClr val="D5E2DF"/>
                      </a:solidFill>
                      <a:prstDash val="solid"/>
                      <a:round/>
                      <a:headEnd type="none" w="med" len="med"/>
                      <a:tailEnd type="none" w="med" len="med"/>
                    </a:lnB>
                    <a:solidFill>
                      <a:schemeClr val="bg1"/>
                    </a:solidFill>
                  </a:tcPr>
                </a:tc>
                <a:tc>
                  <a:txBody>
                    <a:bodyPr/>
                    <a:lstStyle/>
                    <a:p>
                      <a:pPr indent="0" marL="0">
                        <a:buNone/>
                      </a:pPr>
                      <a:r>
                        <a:rPr lang="en-US" sz="950" dirty="0">
                          <a:solidFill>
                            <a:schemeClr val="tx1"/>
                          </a:solidFill>
                          <a:latin typeface="Courier New" pitchFamily="34" charset="0"/>
                          <a:ea typeface="Courier New" pitchFamily="34" charset="-122"/>
                          <a:cs typeface="Courier New" pitchFamily="34" charset="-120"/>
                        </a:rPr>
                        <a:t>Constantes/ · Paginacion · nombres Listar/Obtener/Crear</a:t>
                      </a:r>
                      <a:endParaRPr lang="en-US" sz="950" dirty="0">
                        <a:latin typeface="Courier New" charset="0"/>
                        <a:ea typeface="Courier New" charset="0"/>
                        <a:cs typeface="Courier New" charset="0"/>
                      </a:endParaRPr>
                    </a:p>
                  </a:txBody>
                  <a:tcPr marL="91440" marR="91440" marT="45720" marB="45720" anchor="ctr">
                    <a:lnL w="9525" cap="flat" cmpd="sng" algn="ctr">
                      <a:solidFill>
                        <a:srgbClr val="D5E2DF"/>
                      </a:solidFill>
                      <a:prstDash val="solid"/>
                      <a:round/>
                      <a:headEnd type="none" w="med" len="med"/>
                      <a:tailEnd type="none" w="med" len="med"/>
                    </a:lnL>
                    <a:lnR w="9525" cap="flat" cmpd="sng" algn="ctr">
                      <a:solidFill>
                        <a:srgbClr val="D5E2DF"/>
                      </a:solidFill>
                      <a:prstDash val="solid"/>
                      <a:round/>
                      <a:headEnd type="none" w="med" len="med"/>
                      <a:tailEnd type="none" w="med" len="med"/>
                    </a:lnR>
                    <a:lnT w="9525" cap="flat" cmpd="sng" algn="ctr">
                      <a:solidFill>
                        <a:srgbClr val="D5E2DF"/>
                      </a:solidFill>
                      <a:prstDash val="solid"/>
                      <a:round/>
                      <a:headEnd type="none" w="med" len="med"/>
                      <a:tailEnd type="none" w="med" len="med"/>
                    </a:lnT>
                    <a:lnB w="9525" cap="flat" cmpd="sng" algn="ctr">
                      <a:solidFill>
                        <a:srgbClr val="D5E2DF"/>
                      </a:solidFill>
                      <a:prstDash val="solid"/>
                      <a:round/>
                      <a:headEnd type="none" w="med" len="med"/>
                      <a:tailEnd type="none" w="med" len="med"/>
                    </a:lnB>
                    <a:solidFill>
                      <a:schemeClr val="bg1"/>
                    </a:solidFill>
                  </a:tcPr>
                </a:tc>
              </a:tr>
              <a:tr h="352044">
                <a:tc>
                  <a:txBody>
                    <a:bodyPr/>
                    <a:lstStyle/>
                    <a:p>
                      <a:pPr algn="ctr" indent="0" marL="0">
                        <a:buNone/>
                      </a:pPr>
                      <a:r>
                        <a:rPr lang="en-US" sz="1100" b="1" dirty="0">
                          <a:solidFill>
                            <a:schemeClr val="tx2"/>
                          </a:solidFill>
                        </a:rPr>
                        <a:t>7</a:t>
                      </a:r>
                      <a:endParaRPr lang="en-US" sz="1100" dirty="0"/>
                    </a:p>
                  </a:txBody>
                  <a:tcPr marL="91440" marR="91440" marT="45720" marB="45720" anchor="ctr">
                    <a:lnL w="9525" cap="flat" cmpd="sng" algn="ctr">
                      <a:solidFill>
                        <a:srgbClr val="D5E2DF"/>
                      </a:solidFill>
                      <a:prstDash val="solid"/>
                      <a:round/>
                      <a:headEnd type="none" w="med" len="med"/>
                      <a:tailEnd type="none" w="med" len="med"/>
                    </a:lnL>
                    <a:lnR w="9525" cap="flat" cmpd="sng" algn="ctr">
                      <a:solidFill>
                        <a:srgbClr val="D5E2DF"/>
                      </a:solidFill>
                      <a:prstDash val="solid"/>
                      <a:round/>
                      <a:headEnd type="none" w="med" len="med"/>
                      <a:tailEnd type="none" w="med" len="med"/>
                    </a:lnR>
                    <a:lnT w="9525" cap="flat" cmpd="sng" algn="ctr">
                      <a:solidFill>
                        <a:srgbClr val="D5E2DF"/>
                      </a:solidFill>
                      <a:prstDash val="solid"/>
                      <a:round/>
                      <a:headEnd type="none" w="med" len="med"/>
                      <a:tailEnd type="none" w="med" len="med"/>
                    </a:lnT>
                    <a:lnB w="9525" cap="flat" cmpd="sng" algn="ctr">
                      <a:solidFill>
                        <a:srgbClr val="D5E2DF"/>
                      </a:solidFill>
                      <a:prstDash val="solid"/>
                      <a:round/>
                      <a:headEnd type="none" w="med" len="med"/>
                      <a:tailEnd type="none" w="med" len="med"/>
                    </a:lnB>
                    <a:solidFill>
                      <a:schemeClr val="accent6"/>
                    </a:solidFill>
                  </a:tcPr>
                </a:tc>
                <a:tc>
                  <a:txBody>
                    <a:bodyPr/>
                    <a:lstStyle/>
                    <a:p>
                      <a:pPr indent="0" marL="0">
                        <a:buNone/>
                      </a:pPr>
                      <a:r>
                        <a:rPr lang="en-US" sz="1100" dirty="0">
                          <a:solidFill>
                            <a:schemeClr val="tx1"/>
                          </a:solidFill>
                        </a:rPr>
                        <a:t>Inversión de Control</a:t>
                      </a:r>
                      <a:endParaRPr lang="en-US" sz="1100" dirty="0"/>
                    </a:p>
                  </a:txBody>
                  <a:tcPr marL="91440" marR="91440" marT="45720" marB="45720" anchor="ctr">
                    <a:lnL w="9525" cap="flat" cmpd="sng" algn="ctr">
                      <a:solidFill>
                        <a:srgbClr val="D5E2DF"/>
                      </a:solidFill>
                      <a:prstDash val="solid"/>
                      <a:round/>
                      <a:headEnd type="none" w="med" len="med"/>
                      <a:tailEnd type="none" w="med" len="med"/>
                    </a:lnL>
                    <a:lnR w="9525" cap="flat" cmpd="sng" algn="ctr">
                      <a:solidFill>
                        <a:srgbClr val="D5E2DF"/>
                      </a:solidFill>
                      <a:prstDash val="solid"/>
                      <a:round/>
                      <a:headEnd type="none" w="med" len="med"/>
                      <a:tailEnd type="none" w="med" len="med"/>
                    </a:lnR>
                    <a:lnT w="9525" cap="flat" cmpd="sng" algn="ctr">
                      <a:solidFill>
                        <a:srgbClr val="D5E2DF"/>
                      </a:solidFill>
                      <a:prstDash val="solid"/>
                      <a:round/>
                      <a:headEnd type="none" w="med" len="med"/>
                      <a:tailEnd type="none" w="med" len="med"/>
                    </a:lnT>
                    <a:lnB w="9525" cap="flat" cmpd="sng" algn="ctr">
                      <a:solidFill>
                        <a:srgbClr val="D5E2DF"/>
                      </a:solidFill>
                      <a:prstDash val="solid"/>
                      <a:round/>
                      <a:headEnd type="none" w="med" len="med"/>
                      <a:tailEnd type="none" w="med" len="med"/>
                    </a:lnB>
                    <a:solidFill>
                      <a:schemeClr val="bg1"/>
                    </a:solidFill>
                  </a:tcPr>
                </a:tc>
                <a:tc>
                  <a:txBody>
                    <a:bodyPr/>
                    <a:lstStyle/>
                    <a:p>
                      <a:pPr indent="0" marL="0">
                        <a:buNone/>
                      </a:pPr>
                      <a:r>
                        <a:rPr lang="en-US" sz="950" dirty="0">
                          <a:solidFill>
                            <a:schemeClr val="tx1"/>
                          </a:solidFill>
                          <a:latin typeface="Courier New" pitchFamily="34" charset="0"/>
                          <a:ea typeface="Courier New" pitchFamily="34" charset="-122"/>
                          <a:cs typeface="Courier New" pitchFamily="34" charset="-120"/>
                        </a:rPr>
                        <a:t>Contratos/ · Program.cs · EmpleadoServicioTests</a:t>
                      </a:r>
                      <a:endParaRPr lang="en-US" sz="950" dirty="0">
                        <a:latin typeface="Courier New" charset="0"/>
                        <a:ea typeface="Courier New" charset="0"/>
                        <a:cs typeface="Courier New" charset="0"/>
                      </a:endParaRPr>
                    </a:p>
                  </a:txBody>
                  <a:tcPr marL="91440" marR="91440" marT="45720" marB="45720" anchor="ctr">
                    <a:lnL w="9525" cap="flat" cmpd="sng" algn="ctr">
                      <a:solidFill>
                        <a:srgbClr val="D5E2DF"/>
                      </a:solidFill>
                      <a:prstDash val="solid"/>
                      <a:round/>
                      <a:headEnd type="none" w="med" len="med"/>
                      <a:tailEnd type="none" w="med" len="med"/>
                    </a:lnL>
                    <a:lnR w="9525" cap="flat" cmpd="sng" algn="ctr">
                      <a:solidFill>
                        <a:srgbClr val="D5E2DF"/>
                      </a:solidFill>
                      <a:prstDash val="solid"/>
                      <a:round/>
                      <a:headEnd type="none" w="med" len="med"/>
                      <a:tailEnd type="none" w="med" len="med"/>
                    </a:lnR>
                    <a:lnT w="9525" cap="flat" cmpd="sng" algn="ctr">
                      <a:solidFill>
                        <a:srgbClr val="D5E2DF"/>
                      </a:solidFill>
                      <a:prstDash val="solid"/>
                      <a:round/>
                      <a:headEnd type="none" w="med" len="med"/>
                      <a:tailEnd type="none" w="med" len="med"/>
                    </a:lnT>
                    <a:lnB w="9525" cap="flat" cmpd="sng" algn="ctr">
                      <a:solidFill>
                        <a:srgbClr val="D5E2DF"/>
                      </a:solidFill>
                      <a:prstDash val="solid"/>
                      <a:round/>
                      <a:headEnd type="none" w="med" len="med"/>
                      <a:tailEnd type="none" w="med" len="med"/>
                    </a:lnB>
                    <a:solidFill>
                      <a:schemeClr val="bg1"/>
                    </a:solidFill>
                  </a:tcPr>
                </a:tc>
              </a:tr>
              <a:tr h="352044">
                <a:tc>
                  <a:txBody>
                    <a:bodyPr/>
                    <a:lstStyle/>
                    <a:p>
                      <a:pPr algn="ctr" indent="0" marL="0">
                        <a:buNone/>
                      </a:pPr>
                      <a:r>
                        <a:rPr lang="en-US" sz="1100" b="1" dirty="0">
                          <a:solidFill>
                            <a:schemeClr val="tx2"/>
                          </a:solidFill>
                        </a:rPr>
                        <a:t>8</a:t>
                      </a:r>
                      <a:endParaRPr lang="en-US" sz="1100" dirty="0"/>
                    </a:p>
                  </a:txBody>
                  <a:tcPr marL="91440" marR="91440" marT="45720" marB="45720" anchor="ctr">
                    <a:lnL w="9525" cap="flat" cmpd="sng" algn="ctr">
                      <a:solidFill>
                        <a:srgbClr val="D5E2DF"/>
                      </a:solidFill>
                      <a:prstDash val="solid"/>
                      <a:round/>
                      <a:headEnd type="none" w="med" len="med"/>
                      <a:tailEnd type="none" w="med" len="med"/>
                    </a:lnL>
                    <a:lnR w="9525" cap="flat" cmpd="sng" algn="ctr">
                      <a:solidFill>
                        <a:srgbClr val="D5E2DF"/>
                      </a:solidFill>
                      <a:prstDash val="solid"/>
                      <a:round/>
                      <a:headEnd type="none" w="med" len="med"/>
                      <a:tailEnd type="none" w="med" len="med"/>
                    </a:lnR>
                    <a:lnT w="9525" cap="flat" cmpd="sng" algn="ctr">
                      <a:solidFill>
                        <a:srgbClr val="D5E2DF"/>
                      </a:solidFill>
                      <a:prstDash val="solid"/>
                      <a:round/>
                      <a:headEnd type="none" w="med" len="med"/>
                      <a:tailEnd type="none" w="med" len="med"/>
                    </a:lnT>
                    <a:lnB w="9525" cap="flat" cmpd="sng" algn="ctr">
                      <a:solidFill>
                        <a:srgbClr val="D5E2DF"/>
                      </a:solidFill>
                      <a:prstDash val="solid"/>
                      <a:round/>
                      <a:headEnd type="none" w="med" len="med"/>
                      <a:tailEnd type="none" w="med" len="med"/>
                    </a:lnB>
                    <a:solidFill>
                      <a:schemeClr val="accent6"/>
                    </a:solidFill>
                  </a:tcPr>
                </a:tc>
                <a:tc>
                  <a:txBody>
                    <a:bodyPr/>
                    <a:lstStyle/>
                    <a:p>
                      <a:pPr indent="0" marL="0">
                        <a:buNone/>
                      </a:pPr>
                      <a:r>
                        <a:rPr lang="en-US" sz="1100" dirty="0">
                          <a:solidFill>
                            <a:schemeClr val="tx1"/>
                          </a:solidFill>
                        </a:rPr>
                        <a:t>Gestión de la configuración</a:t>
                      </a:r>
                      <a:endParaRPr lang="en-US" sz="1100" dirty="0"/>
                    </a:p>
                  </a:txBody>
                  <a:tcPr marL="91440" marR="91440" marT="45720" marB="45720" anchor="ctr">
                    <a:lnL w="9525" cap="flat" cmpd="sng" algn="ctr">
                      <a:solidFill>
                        <a:srgbClr val="D5E2DF"/>
                      </a:solidFill>
                      <a:prstDash val="solid"/>
                      <a:round/>
                      <a:headEnd type="none" w="med" len="med"/>
                      <a:tailEnd type="none" w="med" len="med"/>
                    </a:lnL>
                    <a:lnR w="9525" cap="flat" cmpd="sng" algn="ctr">
                      <a:solidFill>
                        <a:srgbClr val="D5E2DF"/>
                      </a:solidFill>
                      <a:prstDash val="solid"/>
                      <a:round/>
                      <a:headEnd type="none" w="med" len="med"/>
                      <a:tailEnd type="none" w="med" len="med"/>
                    </a:lnR>
                    <a:lnT w="9525" cap="flat" cmpd="sng" algn="ctr">
                      <a:solidFill>
                        <a:srgbClr val="D5E2DF"/>
                      </a:solidFill>
                      <a:prstDash val="solid"/>
                      <a:round/>
                      <a:headEnd type="none" w="med" len="med"/>
                      <a:tailEnd type="none" w="med" len="med"/>
                    </a:lnT>
                    <a:lnB w="9525" cap="flat" cmpd="sng" algn="ctr">
                      <a:solidFill>
                        <a:srgbClr val="D5E2DF"/>
                      </a:solidFill>
                      <a:prstDash val="solid"/>
                      <a:round/>
                      <a:headEnd type="none" w="med" len="med"/>
                      <a:tailEnd type="none" w="med" len="med"/>
                    </a:lnB>
                    <a:solidFill>
                      <a:schemeClr val="bg1"/>
                    </a:solidFill>
                  </a:tcPr>
                </a:tc>
                <a:tc>
                  <a:txBody>
                    <a:bodyPr/>
                    <a:lstStyle/>
                    <a:p>
                      <a:pPr indent="0" marL="0">
                        <a:buNone/>
                      </a:pPr>
                      <a:r>
                        <a:rPr lang="en-US" sz="950" dirty="0">
                          <a:solidFill>
                            <a:schemeClr val="tx1"/>
                          </a:solidFill>
                          <a:latin typeface="Courier New" pitchFamily="34" charset="0"/>
                          <a:ea typeface="Courier New" pitchFamily="34" charset="-122"/>
                          <a:cs typeface="Courier New" pitchFamily="34" charset="-120"/>
                        </a:rPr>
                        <a:t>Git (main/dev_branch) · .gitignore · 41 pruebas</a:t>
                      </a:r>
                      <a:endParaRPr lang="en-US" sz="950" dirty="0">
                        <a:latin typeface="Courier New" charset="0"/>
                        <a:ea typeface="Courier New" charset="0"/>
                        <a:cs typeface="Courier New" charset="0"/>
                      </a:endParaRPr>
                    </a:p>
                  </a:txBody>
                  <a:tcPr marL="91440" marR="91440" marT="45720" marB="45720" anchor="ctr">
                    <a:lnL w="9525" cap="flat" cmpd="sng" algn="ctr">
                      <a:solidFill>
                        <a:srgbClr val="D5E2DF"/>
                      </a:solidFill>
                      <a:prstDash val="solid"/>
                      <a:round/>
                      <a:headEnd type="none" w="med" len="med"/>
                      <a:tailEnd type="none" w="med" len="med"/>
                    </a:lnL>
                    <a:lnR w="9525" cap="flat" cmpd="sng" algn="ctr">
                      <a:solidFill>
                        <a:srgbClr val="D5E2DF"/>
                      </a:solidFill>
                      <a:prstDash val="solid"/>
                      <a:round/>
                      <a:headEnd type="none" w="med" len="med"/>
                      <a:tailEnd type="none" w="med" len="med"/>
                    </a:lnR>
                    <a:lnT w="9525" cap="flat" cmpd="sng" algn="ctr">
                      <a:solidFill>
                        <a:srgbClr val="D5E2DF"/>
                      </a:solidFill>
                      <a:prstDash val="solid"/>
                      <a:round/>
                      <a:headEnd type="none" w="med" len="med"/>
                      <a:tailEnd type="none" w="med" len="med"/>
                    </a:lnT>
                    <a:lnB w="9525" cap="flat" cmpd="sng" algn="ctr">
                      <a:solidFill>
                        <a:srgbClr val="D5E2DF"/>
                      </a:solidFill>
                      <a:prstDash val="solid"/>
                      <a:round/>
                      <a:headEnd type="none" w="med" len="med"/>
                      <a:tailEnd type="none" w="med" len="med"/>
                    </a:lnB>
                    <a:solidFill>
                      <a:schemeClr val="bg1"/>
                    </a:solidFill>
                  </a:tcPr>
                </a:tc>
              </a:tr>
              <a:tr h="352044">
                <a:tc>
                  <a:txBody>
                    <a:bodyPr/>
                    <a:lstStyle/>
                    <a:p>
                      <a:pPr algn="ctr" indent="0" marL="0">
                        <a:buNone/>
                      </a:pPr>
                      <a:r>
                        <a:rPr lang="en-US" sz="1100" b="1" dirty="0">
                          <a:solidFill>
                            <a:schemeClr val="tx2"/>
                          </a:solidFill>
                        </a:rPr>
                        <a:t>9</a:t>
                      </a:r>
                      <a:endParaRPr lang="en-US" sz="1100" dirty="0"/>
                    </a:p>
                  </a:txBody>
                  <a:tcPr marL="91440" marR="91440" marT="45720" marB="45720" anchor="ctr">
                    <a:lnL w="9525" cap="flat" cmpd="sng" algn="ctr">
                      <a:solidFill>
                        <a:srgbClr val="D5E2DF"/>
                      </a:solidFill>
                      <a:prstDash val="solid"/>
                      <a:round/>
                      <a:headEnd type="none" w="med" len="med"/>
                      <a:tailEnd type="none" w="med" len="med"/>
                    </a:lnL>
                    <a:lnR w="9525" cap="flat" cmpd="sng" algn="ctr">
                      <a:solidFill>
                        <a:srgbClr val="D5E2DF"/>
                      </a:solidFill>
                      <a:prstDash val="solid"/>
                      <a:round/>
                      <a:headEnd type="none" w="med" len="med"/>
                      <a:tailEnd type="none" w="med" len="med"/>
                    </a:lnR>
                    <a:lnT w="9525" cap="flat" cmpd="sng" algn="ctr">
                      <a:solidFill>
                        <a:srgbClr val="D5E2DF"/>
                      </a:solidFill>
                      <a:prstDash val="solid"/>
                      <a:round/>
                      <a:headEnd type="none" w="med" len="med"/>
                      <a:tailEnd type="none" w="med" len="med"/>
                    </a:lnT>
                    <a:lnB w="9525" cap="flat" cmpd="sng" algn="ctr">
                      <a:solidFill>
                        <a:srgbClr val="D5E2DF"/>
                      </a:solidFill>
                      <a:prstDash val="solid"/>
                      <a:round/>
                      <a:headEnd type="none" w="med" len="med"/>
                      <a:tailEnd type="none" w="med" len="med"/>
                    </a:lnB>
                    <a:solidFill>
                      <a:schemeClr val="accent6"/>
                    </a:solidFill>
                  </a:tcPr>
                </a:tc>
                <a:tc>
                  <a:txBody>
                    <a:bodyPr/>
                    <a:lstStyle/>
                    <a:p>
                      <a:pPr indent="0" marL="0">
                        <a:buNone/>
                      </a:pPr>
                      <a:r>
                        <a:rPr lang="en-US" sz="1100" dirty="0">
                          <a:solidFill>
                            <a:schemeClr val="tx1"/>
                          </a:solidFill>
                        </a:rPr>
                        <a:t>Gestión del cambio</a:t>
                      </a:r>
                      <a:endParaRPr lang="en-US" sz="1100" dirty="0"/>
                    </a:p>
                  </a:txBody>
                  <a:tcPr marL="91440" marR="91440" marT="45720" marB="45720" anchor="ctr">
                    <a:lnL w="9525" cap="flat" cmpd="sng" algn="ctr">
                      <a:solidFill>
                        <a:srgbClr val="D5E2DF"/>
                      </a:solidFill>
                      <a:prstDash val="solid"/>
                      <a:round/>
                      <a:headEnd type="none" w="med" len="med"/>
                      <a:tailEnd type="none" w="med" len="med"/>
                    </a:lnL>
                    <a:lnR w="9525" cap="flat" cmpd="sng" algn="ctr">
                      <a:solidFill>
                        <a:srgbClr val="D5E2DF"/>
                      </a:solidFill>
                      <a:prstDash val="solid"/>
                      <a:round/>
                      <a:headEnd type="none" w="med" len="med"/>
                      <a:tailEnd type="none" w="med" len="med"/>
                    </a:lnR>
                    <a:lnT w="9525" cap="flat" cmpd="sng" algn="ctr">
                      <a:solidFill>
                        <a:srgbClr val="D5E2DF"/>
                      </a:solidFill>
                      <a:prstDash val="solid"/>
                      <a:round/>
                      <a:headEnd type="none" w="med" len="med"/>
                      <a:tailEnd type="none" w="med" len="med"/>
                    </a:lnT>
                    <a:lnB w="9525" cap="flat" cmpd="sng" algn="ctr">
                      <a:solidFill>
                        <a:srgbClr val="D5E2DF"/>
                      </a:solidFill>
                      <a:prstDash val="solid"/>
                      <a:round/>
                      <a:headEnd type="none" w="med" len="med"/>
                      <a:tailEnd type="none" w="med" len="med"/>
                    </a:lnB>
                    <a:solidFill>
                      <a:schemeClr val="bg1"/>
                    </a:solidFill>
                  </a:tcPr>
                </a:tc>
                <a:tc>
                  <a:txBody>
                    <a:bodyPr/>
                    <a:lstStyle/>
                    <a:p>
                      <a:pPr indent="0" marL="0">
                        <a:buNone/>
                      </a:pPr>
                      <a:r>
                        <a:rPr lang="en-US" sz="950" dirty="0">
                          <a:solidFill>
                            <a:schemeClr val="tx1"/>
                          </a:solidFill>
                          <a:latin typeface="Courier New" pitchFamily="34" charset="0"/>
                          <a:ea typeface="Courier New" pitchFamily="34" charset="-122"/>
                          <a:cs typeface="Courier New" pitchFamily="34" charset="-120"/>
                        </a:rPr>
                        <a:t>Matriz SC-001…007 · .github/ISSUE_TEMPLATE</a:t>
                      </a:r>
                      <a:endParaRPr lang="en-US" sz="950" dirty="0">
                        <a:latin typeface="Courier New" charset="0"/>
                        <a:ea typeface="Courier New" charset="0"/>
                        <a:cs typeface="Courier New" charset="0"/>
                      </a:endParaRPr>
                    </a:p>
                  </a:txBody>
                  <a:tcPr marL="91440" marR="91440" marT="45720" marB="45720" anchor="ctr">
                    <a:lnL w="9525" cap="flat" cmpd="sng" algn="ctr">
                      <a:solidFill>
                        <a:srgbClr val="D5E2DF"/>
                      </a:solidFill>
                      <a:prstDash val="solid"/>
                      <a:round/>
                      <a:headEnd type="none" w="med" len="med"/>
                      <a:tailEnd type="none" w="med" len="med"/>
                    </a:lnL>
                    <a:lnR w="9525" cap="flat" cmpd="sng" algn="ctr">
                      <a:solidFill>
                        <a:srgbClr val="D5E2DF"/>
                      </a:solidFill>
                      <a:prstDash val="solid"/>
                      <a:round/>
                      <a:headEnd type="none" w="med" len="med"/>
                      <a:tailEnd type="none" w="med" len="med"/>
                    </a:lnR>
                    <a:lnT w="9525" cap="flat" cmpd="sng" algn="ctr">
                      <a:solidFill>
                        <a:srgbClr val="D5E2DF"/>
                      </a:solidFill>
                      <a:prstDash val="solid"/>
                      <a:round/>
                      <a:headEnd type="none" w="med" len="med"/>
                      <a:tailEnd type="none" w="med" len="med"/>
                    </a:lnT>
                    <a:lnB w="9525" cap="flat" cmpd="sng" algn="ctr">
                      <a:solidFill>
                        <a:srgbClr val="D5E2DF"/>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ext 0"/>
          <p:cNvSpPr/>
          <p:nvPr>
            <p:ph idx="100" type="title" hasCustomPrompt="1"/>
          </p:nvPr>
        </p:nvSpPr>
        <p:spPr>
          <a:xfrm>
            <a:off x="548640" y="1417320"/>
            <a:ext cx="8046720" cy="1371600"/>
          </a:xfrm>
          <a:prstGeom prst="rect">
            <a:avLst/>
          </a:prstGeom>
          <a:noFill/>
          <a:ln/>
        </p:spPr>
        <p:txBody>
          <a:bodyPr wrap="square" lIns="0" tIns="0" rIns="0" bIns="0" rtlCol="0" anchor="b"/>
          <a:lstStyle/>
          <a:p>
            <a:pPr algn="l" indent="0" marL="0">
              <a:buNone/>
            </a:pPr>
            <a:r>
              <a:rPr lang="en-US" sz="3800" b="1" dirty="0">
                <a:solidFill>
                  <a:schemeClr val="bg1"/>
                </a:solidFill>
                <a:latin typeface="Cambria" pitchFamily="34" charset="0"/>
                <a:ea typeface="Cambria" pitchFamily="34" charset="-122"/>
                <a:cs typeface="Cambria" pitchFamily="34" charset="-120"/>
              </a:rPr>
              <a:t>Un sistema que puede seguir evolucionando</a:t>
            </a:r>
            <a:endParaRPr lang="en-US" sz="3800" dirty="0"/>
          </a:p>
        </p:txBody>
      </p:sp>
      <p:sp>
        <p:nvSpPr>
          <p:cNvPr id="4" name="Text 0"/>
          <p:cNvSpPr/>
          <p:nvPr>
            <p:ph idx="101" type="body" hasCustomPrompt="1"/>
          </p:nvPr>
        </p:nvSpPr>
        <p:spPr>
          <a:xfrm>
            <a:off x="548640" y="2971800"/>
            <a:ext cx="8046720" cy="1097280"/>
          </a:xfrm>
          <a:prstGeom prst="rect">
            <a:avLst/>
          </a:prstGeom>
          <a:noFill/>
          <a:ln/>
        </p:spPr>
        <p:txBody>
          <a:bodyPr wrap="square" lIns="0" tIns="0" rIns="0" bIns="0" rtlCol="0" anchor="t"/>
          <a:lstStyle/>
          <a:p>
            <a:pPr marL="342900" indent="-342900">
              <a:buSzPct val="100000"/>
              <a:buChar char="•"/>
            </a:pPr>
            <a:r>
              <a:rPr lang="en-US" sz="1600" dirty="0">
                <a:solidFill>
                  <a:schemeClr val="accent6"/>
                </a:solidFill>
              </a:rPr>
              <a:t>Evolucionamos sin perder el dominio ni los datos</a:t>
            </a:r>
            <a:endParaRPr lang="en-US" sz="1600" dirty="0"/>
          </a:p>
          <a:p>
            <a:pPr marL="342900" indent="-342900">
              <a:buSzPct val="100000"/>
              <a:buChar char="•"/>
            </a:pPr>
            <a:r>
              <a:rPr lang="en-US" sz="1600" dirty="0">
                <a:solidFill>
                  <a:schemeClr val="accent6"/>
                </a:solidFill>
              </a:rPr>
              <a:t>Cada principio resolvió un problema real del legado</a:t>
            </a:r>
            <a:endParaRPr lang="en-US" sz="1600" dirty="0"/>
          </a:p>
          <a:p>
            <a:pPr marL="342900" indent="-342900">
              <a:buSzPct val="100000"/>
              <a:buChar char="•"/>
            </a:pPr>
            <a:r>
              <a:rPr lang="en-US" sz="1600" dirty="0">
                <a:solidFill>
                  <a:schemeClr val="accent6"/>
                </a:solidFill>
              </a:rPr>
              <a:t>Pruebas, versiones y gestión del cambio lo sostienen</a:t>
            </a:r>
            <a:endParaRPr lang="en-US" sz="1600" dirty="0"/>
          </a:p>
        </p:txBody>
      </p:sp>
      <p:sp>
        <p:nvSpPr>
          <p:cNvPr id="5" name="Text 2"/>
          <p:cNvSpPr txBox="1"/>
          <p:nvPr/>
        </p:nvSpPr>
        <p:spPr>
          <a:xfrm>
            <a:off x="548640" y="4343400"/>
            <a:ext cx="8046720" cy="365760"/>
          </a:xfrm>
          <a:prstGeom prst="rect">
            <a:avLst/>
          </a:prstGeom>
          <a:noFill/>
          <a:ln/>
        </p:spPr>
        <p:txBody>
          <a:bodyPr wrap="square" lIns="0" tIns="0" rIns="0" bIns="0" rtlCol="0" anchor="ctr"/>
          <a:lstStyle/>
          <a:p>
            <a:pPr indent="0" marL="0">
              <a:buNone/>
            </a:pPr>
            <a:r>
              <a:rPr lang="en-US" sz="1400" b="1" dirty="0">
                <a:solidFill>
                  <a:schemeClr val="accent2"/>
                </a:solidFill>
              </a:rPr>
              <a:t>¡Gracias! · Preguntas</a:t>
            </a:r>
            <a:endParaRPr lang="en-US" sz="1400" dirty="0"/>
          </a:p>
        </p:txBody>
      </p:sp>
    </p:spTree>
  </p:cSld>
  <p:clrMapOvr>
    <a:masterClrMapping/>
  </p:clrMapOvr>
</p:sld>
</file>

<file path=ppt/theme/theme1.xml><?xml version="1.0" encoding="utf-8"?>
<a:theme xmlns:a="http://schemas.openxmlformats.org/drawingml/2006/main" name="EVO-RRHH">
  <a:themeElements>
    <a:clrScheme name="EVO-RRHH">
      <a:dk1>
        <a:srgbClr val="1E2A2A"/>
      </a:dk1>
      <a:lt1>
        <a:srgbClr val="FFFFFF"/>
      </a:lt1>
      <a:dk2>
        <a:srgbClr val="0F3D3E"/>
      </a:dk2>
      <a:lt2>
        <a:srgbClr val="EEF5F3"/>
      </a:lt2>
      <a:accent1>
        <a:srgbClr val="1F7A70"/>
      </a:accent1>
      <a:accent2>
        <a:srgbClr val="E9A23B"/>
      </a:accent2>
      <a:accent3>
        <a:srgbClr val="B5523B"/>
      </a:accent3>
      <a:accent4>
        <a:srgbClr val="2A9D8F"/>
      </a:accent4>
      <a:accent5>
        <a:srgbClr val="5E6B6B"/>
      </a:accent5>
      <a:accent6>
        <a:srgbClr val="F4D9A6"/>
      </a:accent6>
      <a:hlink>
        <a:srgbClr val="1F7A70"/>
      </a:hlink>
      <a:folHlink>
        <a:srgbClr val="5E6B6B"/>
      </a:folHlink>
    </a:clrScheme>
    <a:fontScheme name="EVO-RRHH">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EVO-RRHH: conceptos de las semanas 1 a 9</dc:title>
  <dc:subject>PptxGenJS Presentation</dc:subject>
  <dc:creator>Grupo 5</dc:creator>
  <cp:lastModifiedBy>Grupo 5</cp:lastModifiedBy>
  <cp:revision>1</cp:revision>
  <dcterms:created xsi:type="dcterms:W3CDTF">2026-10-23T15:03:26Z</dcterms:created>
  <dcterms:modified xsi:type="dcterms:W3CDTF">2026-10-23T15:03:26Z</dcterms:modified>
</cp:coreProperties>
</file>