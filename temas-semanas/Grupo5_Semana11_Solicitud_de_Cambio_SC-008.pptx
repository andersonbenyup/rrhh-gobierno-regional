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990b2d6-e343-0a19-2a1a-3ce969a0529a}">
          <p14:sldIdLst>
            <p14:sldId id="256"/>
          </p14:sldIdLst>
        </p14:section>
        <p14:section name="Contexto" id="{1d3ced0a-b6ff-a981-4fa7-05e965b8767c}">
          <p14:sldIdLst>
            <p14:sldId id="257"/>
            <p14:sldId id="258"/>
          </p14:sldIdLst>
        </p14:section>
        <p14:section name="Registro" id="{60cedb35-d36e-09bf-896a-01d10d32c676}">
          <p14:sldIdLst>
            <p14:sldId id="259"/>
            <p14:sldId id="260"/>
          </p14:sldIdLst>
        </p14:section>
        <p14:section name="SC-008" id="{3b16c365-b8b8-207d-7f7e-754302381112}">
          <p14:sldIdLst>
            <p14:sldId id="261"/>
            <p14:sldId id="262"/>
            <p14:sldId id="263"/>
            <p14:sldId id="264"/>
          </p14:sldIdLst>
        </p14:section>
        <p14:section name="Plan y control" id="{31688bf6-55aa-8cb4-fff5-100d90f6f87e}">
          <p14:sldIdLst>
            <p14:sldId id="265"/>
            <p14:sldId id="266"/>
            <p14:sldId id="267"/>
          </p14:sldIdLst>
        </p14:section>
        <p14:section name="Cierre" id="{ca6da8d1-0953-74c7-a8bc-fc43d695e46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cómo el Grupo 5 gestionaría una solicitud de cambio real después de la T2. Tomamos como solicitud principal SC-008, validaciones en frontend y backend, y la recorremos desde su registro hasta su control en GitHub. A la derecha se ve el ciclo de estados por el que pasa la solicitud; hoy está aprobada con condiciones.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la T2 hicimos una revisión del sistema en extensibilidad, escalabilidad, validaciones, seguridad y tests. De 30 puntos, 12 todavía faltan. Ese diagnóstico se convirtió en un plan de 4 semanas, y cada semana tiene su solicitud de cambio. La primera semana corresponde a SC-008, validaciones, que es la que desarrollamos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proponer nuevas solicitudes revisamos las 7 que ya teníamos, comparando lo que dice la matriz con lo que realmente hay en el código. SC-001, la validación de permisos, está aprobada pero no implementada, así que la integramos a SC-008. SC-002 está a medias. SC-006 figura como implementada pero no existen las interfaces. SC-004 en la práctica ya se resolvió con la configuración de Azure. Esto nos enseña que una solicitud se cierra con evidencia, no solo marcándola en la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Registramos tres solicitudes nuevas, continuando la numeración: SC-008 validaciones, correctiva y de prioridad alta; SC-009 seguridad, preventiva y alta; y SC-010 pruebas automatizadas, preventiva y media. Las tres salen directamente del diagnóstico. Elegimos SC-008 como solicitud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SC-008 por cuatro motivos. Primero, la brecha es la más grande: solo hay 2 atributos de validación en todo el modelo, apenas 15 de 89 acciones POST revisan el estado del modelo y la capa lógica no tiene reglas. Segundo, protege la integridad de los datos del personal. Tercero, es la base para SC-010, porque sin reglas no hay nada que probar. Y cuarto, retoma SC-001, que quedó aprobada pero sin implementar.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ficha de SC-008. El solicitante es el área de Recursos Humanos, que registra al personal. El problema es que el sistema guarda campos vacíos, DNI con letras, fechas de fin anteriores al inicio y registros duplicados. El beneficio es tener datos confiables desde el ingreso. Si no lo hacemos, los reportes y planillas salen con errores y hay que corregir a mano en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impacto es alto en funcionalidades y en código, porque toca los 16 módulos con formularios y las tres capas. En base de datos es bajo: no cambiamos el esquema, solo ejecutamos un script de lectura para encontrar datos antiguos inválidos. En pruebas y tiempo es medio, unas 40 horas-persona en una semana. La mantenibilidad mejora porque las reglas quedan en un solo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Identificamos cuatro riesgos técnicos. El más delicado son los datos históricos que no cumplen las nuevas reglas; lo mitigamos con un script de auditoría antes de desplegar. También cuidamos la regresión, probando los 16 módulos, la validación que solo vive en el navegador, repitiendo todo en el servidor, y el conflicto con SC-005, integrando SC-008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comité de control de cambios evaluó las cuatro opciones y decidió aprobar con condiciones. Se aprueba porque el valor es alto y el riesgo es controlable: no cambia la base de datos y se puede revertir por rama. Se condiciona porque toca todos los módulos: debe entregarse por partes, sin cambios de esquema, con una prueba unitaria por regla y con la auditoría de datos antes de desplegar en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tiene nueve actividades en una semana, unas 40 horas. El primer día se registra la solicitud, el comité la aprueba y se corre la auditoría de datos. Los días dos a cuatro los dos desarrolladores trabajan en paralelo: uno en atributos y reglas de negocio, otro en controllers y vistas. El quinto día QA prueba y el gestor de configuración integra, etiqueta la versión y actualiza la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están los componentes que se tocan, las pruebas que demuestran el cambio y las evidencias que dejamos. La prueba con JavaScript desactivado es clave: demuestra que el servidor valida aunque el navegador no lo haga. La evidencia final es el reporte de pruebas en verde, el Pull Request aprobado y la versión desplegada en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control usamos GitHub de punta a punta. La solicitud se registra como issue con el código SC-008 y pasa por las columnas del tablero. La aprobación queda como acta en un comentario del issue. El trabajo va en la rama feature/SC-008-validaciones, cada commit lleva el código de la solicitud y el Pull Request cierra el issue. Al integrar se etiqueta la versión v1.1.0 y el pipeline la despliega en Azure. Así el cambio queda trazable desde la solicitud hasta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SC-008 se aprueba con condiciones porque aporta mucho y su riesgo es controlable. Revisar nuestras siete solicitudes anteriores nos enseñó que una solicitud solo se cierra con evidencia. Con GitHub cada cambio queda trazable de la solicitud a la versión. El siguiente paso es SC-009, seguridad, en la segunda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E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7CBD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Grupo 5 · Gestión del Cambio · Semana 11 · Evo-RRLL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29260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TRABAJO GRUPAL · SEMANA 11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Gestión de solicitudes de cambio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490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SC-008: Validaciones en frontend y backend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CBD3"/>
                </a:solidFill>
              </a:rPr>
              <a:t>Sistema de RR.HH. Evo-RRLL · Grupo 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CBD3"/>
                </a:solidFill>
              </a:rPr>
              <a:t>Evolución y Configuración de Software · Docente: Ing. Edgard Vilchez Valdez</a:t>
            </a:r>
            <a:endParaRPr lang="en-US" sz="1800" dirty="0"/>
          </a:p>
        </p:txBody>
      </p:sp>
      <p:sp>
        <p:nvSpPr>
          <p:cNvPr id="5" name="estado-0"/>
          <p:cNvSpPr/>
          <p:nvPr/>
        </p:nvSpPr>
        <p:spPr>
          <a:xfrm>
            <a:off x="8503920" y="1554480"/>
            <a:ext cx="30175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D3"/>
                </a:solidFill>
              </a:rPr>
              <a:t>Registrada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12680" y="2103120"/>
            <a:ext cx="0" cy="22860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8" name="estado-1"/>
          <p:cNvSpPr/>
          <p:nvPr/>
        </p:nvSpPr>
        <p:spPr>
          <a:xfrm>
            <a:off x="8503920" y="2331720"/>
            <a:ext cx="30175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D3"/>
                </a:solidFill>
              </a:rPr>
              <a:t>Analizada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12680" y="2880360"/>
            <a:ext cx="0" cy="22860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1" name="estado-2"/>
          <p:cNvSpPr/>
          <p:nvPr/>
        </p:nvSpPr>
        <p:spPr>
          <a:xfrm>
            <a:off x="8503920" y="3108960"/>
            <a:ext cx="30175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Aprobada con condiciones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12680" y="3657600"/>
            <a:ext cx="0" cy="22860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4" name="estado-3"/>
          <p:cNvSpPr/>
          <p:nvPr/>
        </p:nvSpPr>
        <p:spPr>
          <a:xfrm>
            <a:off x="8503920" y="3886200"/>
            <a:ext cx="30175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D3"/>
                </a:solidFill>
              </a:rPr>
              <a:t>En implementación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12680" y="4434840"/>
            <a:ext cx="0" cy="22860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7" name="estado-4"/>
          <p:cNvSpPr/>
          <p:nvPr/>
        </p:nvSpPr>
        <p:spPr>
          <a:xfrm>
            <a:off x="8503920" y="4663440"/>
            <a:ext cx="30175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0" y="4663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D3"/>
                </a:solidFill>
              </a:rPr>
              <a:t>Cerrada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 dónde partimos después de la T2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Revisamos el sistema en cinco ejes y repartimos lo pendiente en las 4 semanas que quedan.</a:t>
            </a:r>
            <a:endParaRPr lang="en-US" sz="1600" dirty="0"/>
          </a:p>
        </p:txBody>
      </p:sp>
      <p:sp>
        <p:nvSpPr>
          <p:cNvPr id="4" name="stat-0"/>
          <p:cNvSpPr/>
          <p:nvPr/>
        </p:nvSpPr>
        <p:spPr>
          <a:xfrm>
            <a:off x="548640" y="178308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30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7830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puntos revisados en la tier list</a:t>
            </a:r>
            <a:endParaRPr lang="en-US" sz="1500" dirty="0"/>
          </a:p>
        </p:txBody>
      </p:sp>
      <p:sp>
        <p:nvSpPr>
          <p:cNvPr id="7" name="stat-1"/>
          <p:cNvSpPr/>
          <p:nvPr/>
        </p:nvSpPr>
        <p:spPr>
          <a:xfrm>
            <a:off x="548640" y="324612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12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246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puntos que todavía faltan</a:t>
            </a:r>
            <a:endParaRPr lang="en-US" sz="1500" dirty="0"/>
          </a:p>
        </p:txBody>
      </p:sp>
      <p:sp>
        <p:nvSpPr>
          <p:cNvPr id="10" name="stat-2"/>
          <p:cNvSpPr/>
          <p:nvPr/>
        </p:nvSpPr>
        <p:spPr>
          <a:xfrm>
            <a:off x="548640" y="470916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7091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7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47091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solicitudes de cambio previas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Plan de 4 semanas</a:t>
            </a:r>
            <a:endParaRPr lang="en-US" sz="2000" dirty="0"/>
          </a:p>
        </p:txBody>
      </p:sp>
      <p:sp>
        <p:nvSpPr>
          <p:cNvPr id="14" name="semana-0"/>
          <p:cNvSpPr/>
          <p:nvPr/>
        </p:nvSpPr>
        <p:spPr>
          <a:xfrm>
            <a:off x="4937760" y="23317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DF3D6"/>
          </a:solidFill>
          <a:ln w="12700">
            <a:solidFill>
              <a:srgbClr val="FDF3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um-S1"/>
          <p:cNvSpPr txBox="1"/>
          <p:nvPr/>
        </p:nvSpPr>
        <p:spPr>
          <a:xfrm>
            <a:off x="5120640" y="2487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4231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Validaciones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743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SC-008 · solicitud principal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2551176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Hoy</a:t>
            </a:r>
            <a:endParaRPr lang="en-US" sz="1200" dirty="0"/>
          </a:p>
        </p:txBody>
      </p:sp>
      <p:sp>
        <p:nvSpPr>
          <p:cNvPr id="19" name="semana-1"/>
          <p:cNvSpPr/>
          <p:nvPr/>
        </p:nvSpPr>
        <p:spPr>
          <a:xfrm>
            <a:off x="4937760" y="3291840"/>
            <a:ext cx="66751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um-S2"/>
          <p:cNvSpPr txBox="1"/>
          <p:nvPr/>
        </p:nvSpPr>
        <p:spPr>
          <a:xfrm>
            <a:off x="5120640" y="3447288"/>
            <a:ext cx="475488" cy="475488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3832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Seguridad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SC-009 · completa SC-002</a:t>
            </a:r>
            <a:endParaRPr lang="en-US" sz="1300" dirty="0"/>
          </a:p>
        </p:txBody>
      </p:sp>
      <p:sp>
        <p:nvSpPr>
          <p:cNvPr id="23" name="semana-2"/>
          <p:cNvSpPr/>
          <p:nvPr/>
        </p:nvSpPr>
        <p:spPr>
          <a:xfrm>
            <a:off x="4937760" y="4251960"/>
            <a:ext cx="66751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-S3"/>
          <p:cNvSpPr txBox="1"/>
          <p:nvPr/>
        </p:nvSpPr>
        <p:spPr>
          <a:xfrm>
            <a:off x="5120640" y="4407408"/>
            <a:ext cx="475488" cy="475488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3434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Extensibilidad y escalabilidad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4663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Reabre SC-006 y atiende SC-005</a:t>
            </a:r>
            <a:endParaRPr lang="en-US" sz="1300" dirty="0"/>
          </a:p>
        </p:txBody>
      </p:sp>
      <p:sp>
        <p:nvSpPr>
          <p:cNvPr id="27" name="semana-3"/>
          <p:cNvSpPr/>
          <p:nvPr/>
        </p:nvSpPr>
        <p:spPr>
          <a:xfrm>
            <a:off x="4937760" y="5212080"/>
            <a:ext cx="66751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num-S4"/>
          <p:cNvSpPr txBox="1"/>
          <p:nvPr/>
        </p:nvSpPr>
        <p:spPr>
          <a:xfrm>
            <a:off x="5120640" y="5367528"/>
            <a:ext cx="475488" cy="475488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53035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Tests y cierre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5623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SC-010 · dotnet test en el pipeline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Revisión de las 7 solicitudes anteriores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  <a:gridCol w="2743200"/>
                <a:gridCol w="1417320"/>
                <a:gridCol w="30175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Solicitud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registrado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verificado en el código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Validar fechas y solapamiento en Permisos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implementado: Permiso no valida fechas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integra a SC-008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Bloqueo por intentos fallidos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Parcial: límite 5/min, sin bloqueo de cuenta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completa en SC-009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Exportar asistencia a 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Pendiente: CSV solo en Empleado y Catálogo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Sigue en cola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Cadena de conexión por entorno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Resuelto: App Settings de Azure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Cerrar formalmente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Paginar permisos en la BD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evaluación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Pendiente: filtra en memoria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Capas con contratos (interfaces)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Parcial: hay capas, faltan interfaces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Reabrir en Semana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Rediseño de interfaz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Hecho, pero con Bootstrap, no Tailwind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Corregir el registro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allazgo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DF3D6"/>
          </a:solidFill>
          <a:ln w="12700">
            <a:solidFill>
              <a:srgbClr val="FDF3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um-!"/>
          <p:cNvSpPr txBox="1"/>
          <p:nvPr/>
        </p:nvSpPr>
        <p:spPr>
          <a:xfrm>
            <a:off x="777240" y="5413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51663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Hallazgo: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solicitudes figuran como aprobadas o implementadas sin evidencia completa en el código. Lección: una SC solo se cierra con evidencia (PR, commit y prueba), no con el registro.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1. Registro de solicitudes de cambio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566160"/>
                <a:gridCol w="1508760"/>
                <a:gridCol w="109728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Solicitud de cambio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cambio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Validar todos los formularios en frontend y backend: DataAnnotations, ModelState y reglas de negocio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2 campos tienen validación y 15 de 89 POST revisan ModelState: entran datos vacíos o inválidos. Retoma SC-001.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SC-009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Endurecer la seguridad: sacar la clave del repositorio, cabeceras HTTP, política de contraseñas y bloqueo de cuenta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clave de administrador está en git y en el README. Completa SC-002.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SC-010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 automatizadas con xUnit y paso dotnet test en el pipeline de Azure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 ningún test: cada despliegue a Azure sale sin verificación automática.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SC-008 seleccionada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154680" y="5715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Las tres continúan la numeración del proyecto (SC-001 a SC-007) y salen del diagnóstico posterior a la T2.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¿Por qué elegimos SC-008?</a:t>
            </a:r>
            <a:endParaRPr lang="en-US" sz="3200" dirty="0"/>
          </a:p>
        </p:txBody>
      </p:sp>
      <p:sp>
        <p:nvSpPr>
          <p:cNvPr id="3" name="dato-0"/>
          <p:cNvSpPr/>
          <p:nvPr/>
        </p:nvSpPr>
        <p:spPr>
          <a:xfrm>
            <a:off x="548640" y="1325880"/>
            <a:ext cx="44805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atributos de validación en 82 entidades y 16 ViewModels</a:t>
            </a:r>
            <a:endParaRPr lang="en-US" sz="1400" dirty="0"/>
          </a:p>
        </p:txBody>
      </p:sp>
      <p:sp>
        <p:nvSpPr>
          <p:cNvPr id="6" name="dato-1"/>
          <p:cNvSpPr/>
          <p:nvPr/>
        </p:nvSpPr>
        <p:spPr>
          <a:xfrm>
            <a:off x="548640" y="2926080"/>
            <a:ext cx="44805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15/89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acciones POST revisan ModelState.IsValid</a:t>
            </a:r>
            <a:endParaRPr lang="en-US" sz="1400" dirty="0"/>
          </a:p>
        </p:txBody>
      </p:sp>
      <p:sp>
        <p:nvSpPr>
          <p:cNvPr id="9" name="dato-2"/>
          <p:cNvSpPr/>
          <p:nvPr/>
        </p:nvSpPr>
        <p:spPr>
          <a:xfrm>
            <a:off x="548640" y="4526280"/>
            <a:ext cx="44805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349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reglas de negocio en la Capa Lógica</a:t>
            </a:r>
            <a:endParaRPr lang="en-US" sz="1400" dirty="0"/>
          </a:p>
        </p:txBody>
      </p:sp>
      <p:sp>
        <p:nvSpPr>
          <p:cNvPr id="12" name="num-1"/>
          <p:cNvSpPr txBox="1"/>
          <p:nvPr/>
        </p:nvSpPr>
        <p:spPr>
          <a:xfrm>
            <a:off x="55778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Integridad de los datos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37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Protege DNI, fechas y permisos del personal, que alimentan reportes y planillas.</a:t>
            </a:r>
            <a:endParaRPr lang="en-US" sz="1400" dirty="0"/>
          </a:p>
        </p:txBody>
      </p:sp>
      <p:sp>
        <p:nvSpPr>
          <p:cNvPr id="15" name="num-2"/>
          <p:cNvSpPr txBox="1"/>
          <p:nvPr/>
        </p:nvSpPr>
        <p:spPr>
          <a:xfrm>
            <a:off x="557784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514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 ve el usuario final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926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 lo primero que reporta el área de RR.HH. al registrar información.</a:t>
            </a:r>
            <a:endParaRPr lang="en-US" sz="1400" dirty="0"/>
          </a:p>
        </p:txBody>
      </p:sp>
      <p:sp>
        <p:nvSpPr>
          <p:cNvPr id="18" name="num-3"/>
          <p:cNvSpPr txBox="1"/>
          <p:nvPr/>
        </p:nvSpPr>
        <p:spPr>
          <a:xfrm>
            <a:off x="557784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703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Habilita SC-010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reglas definidas no hay nada que probar de forma automática.</a:t>
            </a:r>
            <a:endParaRPr lang="en-US" sz="1400" dirty="0"/>
          </a:p>
        </p:txBody>
      </p:sp>
      <p:sp>
        <p:nvSpPr>
          <p:cNvPr id="21" name="num-4"/>
          <p:cNvSpPr txBox="1"/>
          <p:nvPr/>
        </p:nvSpPr>
        <p:spPr>
          <a:xfrm>
            <a:off x="5577840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Retoma SC-001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5303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Estaba aprobada y nunca se implementó: cerramos una deuda del proceso.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 Solicitud seleccionada: SC-008</a:t>
            </a:r>
            <a:endParaRPr lang="en-US" sz="3200" dirty="0"/>
          </a:p>
        </p:txBody>
      </p:sp>
      <p:sp>
        <p:nvSpPr>
          <p:cNvPr id="3" name="ficha-0"/>
          <p:cNvSpPr/>
          <p:nvPr/>
        </p:nvSpPr>
        <p:spPr>
          <a:xfrm>
            <a:off x="548640" y="132588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-1"/>
          <p:cNvSpPr txBox="1"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SC-008 · Correctivo · Prioridad alta. Registrada el 28/10/2026.</a:t>
            </a:r>
            <a:endParaRPr lang="en-US" sz="1400" dirty="0"/>
          </a:p>
        </p:txBody>
      </p:sp>
      <p:sp>
        <p:nvSpPr>
          <p:cNvPr id="7" name="ficha-1"/>
          <p:cNvSpPr/>
          <p:nvPr/>
        </p:nvSpPr>
        <p:spPr>
          <a:xfrm>
            <a:off x="4297680" y="132588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um-2"/>
          <p:cNvSpPr txBox="1"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Descripción del cambio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48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Validar cada formulario en el navegador y en el servidor, con reglas de negocio centralizadas en la Capa Lógica.</a:t>
            </a:r>
            <a:endParaRPr lang="en-US" sz="1400" dirty="0"/>
          </a:p>
        </p:txBody>
      </p:sp>
      <p:sp>
        <p:nvSpPr>
          <p:cNvPr id="11" name="ficha-2"/>
          <p:cNvSpPr/>
          <p:nvPr/>
        </p:nvSpPr>
        <p:spPr>
          <a:xfrm>
            <a:off x="8046720" y="132588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num-3"/>
          <p:cNvSpPr txBox="1"/>
          <p:nvPr/>
        </p:nvSpPr>
        <p:spPr>
          <a:xfrm>
            <a:off x="82753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Solicitante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48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Área de Recursos Humanos (registradores de personal), tras la revisión de la T2.</a:t>
            </a:r>
            <a:endParaRPr lang="en-US" sz="1400" dirty="0"/>
          </a:p>
        </p:txBody>
      </p:sp>
      <p:sp>
        <p:nvSpPr>
          <p:cNvPr id="15" name="ficha-3"/>
          <p:cNvSpPr/>
          <p:nvPr/>
        </p:nvSpPr>
        <p:spPr>
          <a:xfrm>
            <a:off x="548640" y="384048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num-4"/>
          <p:cNvSpPr txBox="1"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Problema que lo origina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guardan campos vacíos, DNI con letras, fecha fin anterior a inicio y registros duplicados.</a:t>
            </a:r>
            <a:endParaRPr lang="en-US" sz="1400" dirty="0"/>
          </a:p>
        </p:txBody>
      </p:sp>
      <p:sp>
        <p:nvSpPr>
          <p:cNvPr id="19" name="ficha-4"/>
          <p:cNvSpPr/>
          <p:nvPr/>
        </p:nvSpPr>
        <p:spPr>
          <a:xfrm>
            <a:off x="4297680" y="3840480"/>
            <a:ext cx="34747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um-5"/>
          <p:cNvSpPr txBox="1"/>
          <p:nvPr/>
        </p:nvSpPr>
        <p:spPr>
          <a:xfrm>
            <a:off x="4526280" y="4069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Beneficio esperado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Datos confiables desde el ingreso, mensajes claros al usuario y reglas en un solo lugar.</a:t>
            </a:r>
            <a:endParaRPr lang="en-US" sz="1400" dirty="0"/>
          </a:p>
        </p:txBody>
      </p:sp>
      <p:sp>
        <p:nvSpPr>
          <p:cNvPr id="23" name="ficha-5"/>
          <p:cNvSpPr/>
          <p:nvPr/>
        </p:nvSpPr>
        <p:spPr>
          <a:xfrm>
            <a:off x="8046720" y="384048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-6"/>
          <p:cNvSpPr txBox="1"/>
          <p:nvPr/>
        </p:nvSpPr>
        <p:spPr>
          <a:xfrm>
            <a:off x="8275320" y="40690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Riesgo de no hacerlo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Reportes y planillas con datos erróneos, correcciones manuales en la BD y pérdida de confianza.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3. Análisis de impacto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949440"/>
                <a:gridCol w="1371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lo afecta SC-008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Funcionalidades existentes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16 módulos con formularios cambian: rechazarán datos que hoy aceptan.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fuente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ViewModels y entidades (atributos), 7 controllers sin ModelState, Capa Lógica (métodos Validar) y vistas Create/Edit.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datos y estructura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cambios de esquema. Un script de solo lectura detecta los registros inválidos que ya existen.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 unitarias de reglas, funcionales por formulario y regresión de los 16 módulos.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de desarrollo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Unas 40 horas-persona: la Semana 1 del plan.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Mantenibilidad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Mejora: reglas en un solo lugar y atributos reutilizables, por ejemplo [Dni].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Riesgos técnicos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antiguos que no cumplen la regla, mensajes distintos en cliente y servidor, entidades usadas directo en vistas.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Riesgos técnicos y cómo los mitigamos</a:t>
            </a:r>
            <a:endParaRPr lang="en-US" sz="3200" dirty="0"/>
          </a:p>
        </p:txBody>
      </p:sp>
      <p:sp>
        <p:nvSpPr>
          <p:cNvPr id="3" name="riesgo-0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-1"/>
          <p:cNvSpPr txBox="1"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Datos históricos inválidos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Riesgo: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se pueden editar registros antiguos que no cumplen la nueva regla.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Mitigación: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Script de auditoría antes del despliegue y mensaje claro que indica qué corregir.</a:t>
            </a:r>
            <a:endParaRPr lang="en-US" sz="1400" dirty="0"/>
          </a:p>
        </p:txBody>
      </p:sp>
      <p:sp>
        <p:nvSpPr>
          <p:cNvPr id="8" name="riesgo-1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-2"/>
          <p:cNvSpPr txBox="1"/>
          <p:nvPr/>
        </p:nvSpPr>
        <p:spPr>
          <a:xfrm>
            <a:off x="6400800" y="15544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Regresión en formularios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Riesgo: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formulario que hoy funciona deja de guardar.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88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Mitigación: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Implementar por módulo y probar los 16 módulos antes de integrar a main.</a:t>
            </a:r>
            <a:endParaRPr lang="en-US" sz="1400" dirty="0"/>
          </a:p>
        </p:txBody>
      </p:sp>
      <p:sp>
        <p:nvSpPr>
          <p:cNvPr id="13" name="riesgo-2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-3"/>
          <p:cNvSpPr txBox="1"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Validación solo en el cliente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63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Riesgo: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 JavaScript desactivado se salta la validación.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303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Mitigación: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Toda regla se repite en el servidor y se prueba con JavaScript desactivado.</a:t>
            </a:r>
            <a:endParaRPr lang="en-US" sz="1400" dirty="0"/>
          </a:p>
        </p:txBody>
      </p:sp>
      <p:sp>
        <p:nvSpPr>
          <p:cNvPr id="18" name="riesgo-3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-4"/>
          <p:cNvSpPr txBox="1"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Conflicto con SC-005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663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Riesgo: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Ambas modifican PermisoController.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303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Mitigación: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Rama corta: SC-008 se integra primero y SC-005 parte de esa versión.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4. Evaluación y decisión del comité (CCB)</a:t>
            </a:r>
            <a:endParaRPr lang="en-US" sz="3200" dirty="0"/>
          </a:p>
        </p:txBody>
      </p:sp>
      <p:sp>
        <p:nvSpPr>
          <p:cNvPr id="3" name="opcion-0"/>
          <p:cNvSpPr txBox="1"/>
          <p:nvPr/>
        </p:nvSpPr>
        <p:spPr>
          <a:xfrm>
            <a:off x="548640" y="1280160"/>
            <a:ext cx="2606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Aprobado</a:t>
            </a:r>
            <a:endParaRPr lang="en-US" sz="1500" dirty="0"/>
          </a:p>
        </p:txBody>
      </p:sp>
      <p:sp>
        <p:nvSpPr>
          <p:cNvPr id="4" name="opcion-1"/>
          <p:cNvSpPr txBox="1"/>
          <p:nvPr/>
        </p:nvSpPr>
        <p:spPr>
          <a:xfrm>
            <a:off x="3360420" y="1280160"/>
            <a:ext cx="2606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Rechazado</a:t>
            </a:r>
            <a:endParaRPr lang="en-US" sz="1500" dirty="0"/>
          </a:p>
        </p:txBody>
      </p:sp>
      <p:sp>
        <p:nvSpPr>
          <p:cNvPr id="5" name="opcion-2"/>
          <p:cNvSpPr txBox="1"/>
          <p:nvPr/>
        </p:nvSpPr>
        <p:spPr>
          <a:xfrm>
            <a:off x="6172200" y="1280160"/>
            <a:ext cx="2606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Postergado</a:t>
            </a:r>
            <a:endParaRPr lang="en-US" sz="1500" dirty="0"/>
          </a:p>
        </p:txBody>
      </p:sp>
      <p:sp>
        <p:nvSpPr>
          <p:cNvPr id="6" name="opcion-3"/>
          <p:cNvSpPr txBox="1"/>
          <p:nvPr/>
        </p:nvSpPr>
        <p:spPr>
          <a:xfrm>
            <a:off x="8983980" y="1280160"/>
            <a:ext cx="26060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✓  Aprobado con condiciones</a:t>
            </a:r>
            <a:endParaRPr lang="en-US" sz="1600" dirty="0"/>
          </a:p>
        </p:txBody>
      </p:sp>
      <p:sp>
        <p:nvSpPr>
          <p:cNvPr id="7" name="justificacion"/>
          <p:cNvSpPr/>
          <p:nvPr/>
        </p:nvSpPr>
        <p:spPr>
          <a:xfrm>
            <a:off x="548640" y="2331720"/>
            <a:ext cx="4937760" cy="3749040"/>
          </a:xfrm>
          <a:prstGeom prst="roundRect">
            <a:avLst>
              <a:gd name="adj" fmla="val 1951"/>
            </a:avLst>
          </a:prstGeom>
          <a:solidFill>
            <a:srgbClr val="FDF3D6"/>
          </a:solidFill>
          <a:ln w="12700">
            <a:solidFill>
              <a:srgbClr val="FDF3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560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Justificación técnica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Alto valor y riesgo controlable: no cambia el esquema de la base de datos y se puede revertir por rama.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 condiciona porque toca los 16 módulos: hay que entregarlo por partes y con pruebas.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 se rechaza ni se posterga: seguirían entrando datos inválidos y SC-010 no tendría reglas que probar.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377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Condiciones de aprobación</a:t>
            </a:r>
            <a:endParaRPr lang="en-US" sz="1800" dirty="0"/>
          </a:p>
        </p:txBody>
      </p:sp>
      <p:sp>
        <p:nvSpPr>
          <p:cNvPr id="11" name="num-1"/>
          <p:cNvSpPr txBox="1"/>
          <p:nvPr/>
        </p:nvSpPr>
        <p:spPr>
          <a:xfrm>
            <a:off x="5943600" y="3035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260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Implementar por módulos: Empleado, Permiso y Asistencia primero.</a:t>
            </a:r>
            <a:endParaRPr lang="en-US" sz="1500" dirty="0"/>
          </a:p>
        </p:txBody>
      </p:sp>
      <p:sp>
        <p:nvSpPr>
          <p:cNvPr id="13" name="num-2"/>
          <p:cNvSpPr txBox="1"/>
          <p:nvPr/>
        </p:nvSpPr>
        <p:spPr>
          <a:xfrm>
            <a:off x="5943600" y="38130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703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 cambios de esquema de BD dentro de esta SC.</a:t>
            </a:r>
            <a:endParaRPr lang="en-US" sz="1500" dirty="0"/>
          </a:p>
        </p:txBody>
      </p:sp>
      <p:sp>
        <p:nvSpPr>
          <p:cNvPr id="15" name="num-3"/>
          <p:cNvSpPr txBox="1"/>
          <p:nvPr/>
        </p:nvSpPr>
        <p:spPr>
          <a:xfrm>
            <a:off x="5943600" y="45902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4805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regla se entrega con su prueba unitaria.</a:t>
            </a:r>
            <a:endParaRPr lang="en-US" sz="1500" dirty="0"/>
          </a:p>
        </p:txBody>
      </p:sp>
      <p:sp>
        <p:nvSpPr>
          <p:cNvPr id="17" name="num-4"/>
          <p:cNvSpPr txBox="1"/>
          <p:nvPr/>
        </p:nvSpPr>
        <p:spPr>
          <a:xfrm>
            <a:off x="5943600" y="53675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2578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Ejecutar el script de auditoría de datos antes de desplegar en Azure.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5. Plan inicial de implementación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943600"/>
                <a:gridCol w="2468880"/>
                <a:gridCol w="1005840"/>
                <a:gridCol w="11887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Registrar SC-008 en GitHub y analizar el impacto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Gestor de cambios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Sesión del CCB y acta de aprobación con condiciones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Comité (CCB)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 de auditoría de datos existentes (solo lectura)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Líder técnico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DataAnnotations y atributo [Dni] en ViewModels y entidades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Desarrollador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Días 2-3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 en Capa Lógica: fechas, solapamiento de permisos, duplicados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Desarrollador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Días 3-4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ModelState.IsValid en los 7 controllers que no lo revisan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Desarrollador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Días 2-3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Vistas: asp-validation-for, required y maxlength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Desarrollador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Días 3-4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 unitarias, funcionales y de regresión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/ Tester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Revisión del PR, merge, etiqueta y actualización de la matriz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Gestor de configuración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estimado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semana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Componentes afectados, pruebas y evidencias</a:t>
            </a:r>
            <a:endParaRPr lang="en-US" sz="3200" dirty="0"/>
          </a:p>
        </p:txBody>
      </p:sp>
      <p:sp>
        <p:nvSpPr>
          <p:cNvPr id="3" name="col-0"/>
          <p:cNvSpPr/>
          <p:nvPr/>
        </p:nvSpPr>
        <p:spPr>
          <a:xfrm>
            <a:off x="548640" y="128016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-1"/>
          <p:cNvSpPr txBox="1"/>
          <p:nvPr/>
        </p:nvSpPr>
        <p:spPr>
          <a:xfrm>
            <a:off x="777240" y="14813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Archivos y módulos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ViewModels de formularios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Capa Entidades: Empleado, Permiso, Asistencia…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Capa Logica: EmpleadoLogica, PermisoLogica, AsistenciaLogica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Controllers: Capacitacion, Catalogo, FamiliaSalud, Feriado, HistorialLaboral, Permiso, Vivienda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Views/*/Create y Edit</a:t>
            </a:r>
            <a:endParaRPr lang="en-US" sz="1400" dirty="0"/>
          </a:p>
        </p:txBody>
      </p:sp>
      <p:sp>
        <p:nvSpPr>
          <p:cNvPr id="7" name="col-1"/>
          <p:cNvSpPr/>
          <p:nvPr/>
        </p:nvSpPr>
        <p:spPr>
          <a:xfrm>
            <a:off x="4297680" y="128016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um-2"/>
          <p:cNvSpPr txBox="1"/>
          <p:nvPr/>
        </p:nvSpPr>
        <p:spPr>
          <a:xfrm>
            <a:off x="4526280" y="14813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Pruebas necesarias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Unitarias: DNI de 8 dígitos, fecha fin ≥ inicio, permisos sin solapamiento, documento duplicado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Funcionales: campos vacíos y límites por formulario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 JavaScript desactivado (valida el servidor)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Regresión de los 16 módulos</a:t>
            </a:r>
            <a:endParaRPr lang="en-US" sz="1400" dirty="0"/>
          </a:p>
        </p:txBody>
      </p:sp>
      <p:sp>
        <p:nvSpPr>
          <p:cNvPr id="11" name="col-2"/>
          <p:cNvSpPr/>
          <p:nvPr/>
        </p:nvSpPr>
        <p:spPr>
          <a:xfrm>
            <a:off x="8046720" y="128016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num-3"/>
          <p:cNvSpPr txBox="1"/>
          <p:nvPr/>
        </p:nvSpPr>
        <p:spPr>
          <a:xfrm>
            <a:off x="8275320" y="14813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Evidencias esperadas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0312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Capturas de los mensajes de validación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Reporte de dotnet test en verde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Pull Request revisado y aprobado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Resultado del script de auditoría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Versión v1.1.0 desplegada en Azure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6. Control del cambio en GitHub</a:t>
            </a:r>
            <a:endParaRPr lang="en-US" sz="3200" dirty="0"/>
          </a:p>
        </p:txBody>
      </p:sp>
      <p:sp>
        <p:nvSpPr>
          <p:cNvPr id="3" name="num-1"/>
          <p:cNvSpPr txBox="1"/>
          <p:nvPr/>
        </p:nvSpPr>
        <p:spPr>
          <a:xfrm>
            <a:off x="109728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37360" y="1554480"/>
            <a:ext cx="11430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Issue SC-008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Plantilla de solicitud</a:t>
            </a:r>
            <a:endParaRPr lang="en-US" sz="1200" dirty="0"/>
          </a:p>
        </p:txBody>
      </p:sp>
      <p:sp>
        <p:nvSpPr>
          <p:cNvPr id="7" name="num-2"/>
          <p:cNvSpPr txBox="1"/>
          <p:nvPr/>
        </p:nvSpPr>
        <p:spPr>
          <a:xfrm>
            <a:off x="29718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1554480"/>
            <a:ext cx="11430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4231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Tablero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GitHub Projects</a:t>
            </a:r>
            <a:endParaRPr lang="en-US" sz="1200" dirty="0"/>
          </a:p>
        </p:txBody>
      </p:sp>
      <p:sp>
        <p:nvSpPr>
          <p:cNvPr id="11" name="num-3"/>
          <p:cNvSpPr txBox="1"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1554480"/>
            <a:ext cx="11430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2976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Acta CCB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Comentario en el issue</a:t>
            </a:r>
            <a:endParaRPr lang="en-US" sz="1200" dirty="0"/>
          </a:p>
        </p:txBody>
      </p:sp>
      <p:sp>
        <p:nvSpPr>
          <p:cNvPr id="15" name="num-4"/>
          <p:cNvSpPr txBox="1"/>
          <p:nvPr/>
        </p:nvSpPr>
        <p:spPr>
          <a:xfrm>
            <a:off x="672084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920" y="1554480"/>
            <a:ext cx="11430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1722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Rama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feature/SC-008-…</a:t>
            </a:r>
            <a:endParaRPr lang="en-US" sz="1200" dirty="0"/>
          </a:p>
        </p:txBody>
      </p:sp>
      <p:sp>
        <p:nvSpPr>
          <p:cNvPr id="19" name="num-5"/>
          <p:cNvSpPr txBox="1"/>
          <p:nvPr/>
        </p:nvSpPr>
        <p:spPr>
          <a:xfrm>
            <a:off x="859536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1554480"/>
            <a:ext cx="11430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0467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Pull Request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Closes #N + CI</a:t>
            </a:r>
            <a:endParaRPr lang="en-US" sz="1200" dirty="0"/>
          </a:p>
        </p:txBody>
      </p:sp>
      <p:sp>
        <p:nvSpPr>
          <p:cNvPr id="23" name="num-6"/>
          <p:cNvSpPr txBox="1"/>
          <p:nvPr/>
        </p:nvSpPr>
        <p:spPr>
          <a:xfrm>
            <a:off x="1046988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921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Versión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Tag v1.1.0</a:t>
            </a:r>
            <a:endParaRPr lang="en-US" sz="1200" dirty="0"/>
          </a:p>
        </p:txBody>
      </p:sp>
      <p:sp>
        <p:nvSpPr>
          <p:cNvPr id="26" name="consola"/>
          <p:cNvSpPr/>
          <p:nvPr/>
        </p:nvSpPr>
        <p:spPr>
          <a:xfrm>
            <a:off x="548640" y="2926080"/>
            <a:ext cx="5669280" cy="3200400"/>
          </a:xfrm>
          <a:prstGeom prst="roundRect">
            <a:avLst>
              <a:gd name="adj" fmla="val 2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15468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feature/SC-008-validaciones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"SC-008: DataAnnotations en Empleado"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"SC-008: ModelState en Permiso"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"SC-008: reglas en PermisoLogica"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feature/SC-008-validaciones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PR: Closes #N  -&gt;  build + dotnet 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v1.1.0 -m "SC-008 Validaciones"</a:t>
            </a:r>
            <a:endParaRPr lang="en-US" sz="1300" dirty="0"/>
          </a:p>
        </p:txBody>
      </p:sp>
      <p:sp>
        <p:nvSpPr>
          <p:cNvPr id="28" name="control-0"/>
          <p:cNvSpPr/>
          <p:nvPr/>
        </p:nvSpPr>
        <p:spPr>
          <a:xfrm>
            <a:off x="6492240" y="2926080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675120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Identificador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2926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SC-008 en issue, rama, commits y tag</a:t>
            </a:r>
            <a:endParaRPr lang="en-US" sz="1300" dirty="0"/>
          </a:p>
        </p:txBody>
      </p:sp>
      <p:sp>
        <p:nvSpPr>
          <p:cNvPr id="31" name="control-1"/>
          <p:cNvSpPr/>
          <p:nvPr/>
        </p:nvSpPr>
        <p:spPr>
          <a:xfrm>
            <a:off x="6492240" y="3575304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675120" y="3575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Registro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5753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Issue + matriz en docs/GESTION-DEL-CAMBIO.md</a:t>
            </a:r>
            <a:endParaRPr lang="en-US" sz="1300" dirty="0"/>
          </a:p>
        </p:txBody>
      </p:sp>
      <p:sp>
        <p:nvSpPr>
          <p:cNvPr id="34" name="control-2"/>
          <p:cNvSpPr/>
          <p:nvPr/>
        </p:nvSpPr>
        <p:spPr>
          <a:xfrm>
            <a:off x="6492240" y="4224528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675120" y="42245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Aprobación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42245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Acta del CCB como comentario del issue</a:t>
            </a:r>
            <a:endParaRPr lang="en-US" sz="1300" dirty="0"/>
          </a:p>
        </p:txBody>
      </p:sp>
      <p:sp>
        <p:nvSpPr>
          <p:cNvPr id="37" name="control-3"/>
          <p:cNvSpPr/>
          <p:nvPr/>
        </p:nvSpPr>
        <p:spPr>
          <a:xfrm>
            <a:off x="6492240" y="4873752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675120" y="48737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Implementación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48737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Commits con el código y PR revisado</a:t>
            </a:r>
            <a:endParaRPr lang="en-US" sz="1300" dirty="0"/>
          </a:p>
        </p:txBody>
      </p:sp>
      <p:sp>
        <p:nvSpPr>
          <p:cNvPr id="40" name="control-4"/>
          <p:cNvSpPr/>
          <p:nvPr/>
        </p:nvSpPr>
        <p:spPr>
          <a:xfrm>
            <a:off x="6492240" y="5522976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675120" y="55229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Versión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55229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Tag v1.1.0 y despliegue automático en Azure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Conclusiones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SC-008 se aprueba con condiciones: alto valor y riesgo controlable.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Revisar las 7 SC previas mostró que una solicitud solo se cierra con evidencia.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Cada cambio queda trazable: issue, acta, rama, commits, PR y versión.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Siguiente paso: SC-009 (seguridad) en la Semana 2.</a:t>
            </a:r>
            <a:endParaRPr lang="en-US" sz="1800" dirty="0"/>
          </a:p>
        </p:txBody>
      </p:sp>
      <p:sp>
        <p:nvSpPr>
          <p:cNvPr id="4" name="check"/>
          <p:cNvSpPr txBox="1"/>
          <p:nvPr/>
        </p:nvSpPr>
        <p:spPr>
          <a:xfrm>
            <a:off x="8778240" y="201168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tx1"/>
                </a:solidFill>
              </a:rPr>
              <a:t>✓</a:t>
            </a:r>
            <a:endParaRPr lang="en-US" sz="9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7490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o RRLL">
  <a:themeElements>
    <a:clrScheme name="Evo RRLL">
      <a:dk1>
        <a:srgbClr val="1E2433"/>
      </a:dk1>
      <a:lt1>
        <a:srgbClr val="FFFFFF"/>
      </a:lt1>
      <a:dk2>
        <a:srgbClr val="4B5563"/>
      </a:dk2>
      <a:lt2>
        <a:srgbClr val="F3F4F6"/>
      </a:lt2>
      <a:accent1>
        <a:srgbClr val="F2A900"/>
      </a:accent1>
      <a:accent2>
        <a:srgbClr val="1F2937"/>
      </a:accent2>
      <a:accent3>
        <a:srgbClr val="15803D"/>
      </a:accent3>
      <a:accent4>
        <a:srgbClr val="B91C1C"/>
      </a:accent4>
      <a:accent5>
        <a:srgbClr val="6B7280"/>
      </a:accent5>
      <a:accent6>
        <a:srgbClr val="1D4ED8"/>
      </a:accent6>
      <a:hlink>
        <a:srgbClr val="1D4ED8"/>
      </a:hlink>
      <a:folHlink>
        <a:srgbClr val="6B7280"/>
      </a:folHlink>
    </a:clrScheme>
    <a:fontScheme name="Evo RRL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solicitudes de cambio - SC-008 Validaciones</dc:title>
  <dc:subject>PptxGenJS Presentation</dc:subject>
  <dc:creator>Grupo 5</dc:creator>
  <cp:lastModifiedBy>Grupo 5</cp:lastModifiedBy>
  <cp:revision>1</cp:revision>
  <dcterms:created xsi:type="dcterms:W3CDTF">2026-10-28T16:56:36Z</dcterms:created>
  <dcterms:modified xsi:type="dcterms:W3CDTF">2026-10-28T16:56:36Z</dcterms:modified>
</cp:coreProperties>
</file>